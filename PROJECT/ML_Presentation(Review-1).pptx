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1" d="100"/>
          <a:sy n="81" d="100"/>
        </p:scale>
        <p:origin x="81"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0618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9.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647"/>
        </a:solidFill>
        <a:effectLst/>
      </p:bgPr>
    </p:bg>
    <p:spTree>
      <p:nvGrpSpPr>
        <p:cNvPr id="1" name=""/>
        <p:cNvGrpSpPr/>
        <p:nvPr/>
      </p:nvGrpSpPr>
      <p:grpSpPr>
        <a:xfrm>
          <a:off x="0" y="0"/>
          <a:ext cx="0" cy="0"/>
          <a:chOff x="0" y="0"/>
          <a:chExt cx="0" cy="0"/>
        </a:xfrm>
      </p:grpSpPr>
      <p:sp>
        <p:nvSpPr>
          <p:cNvPr id="2" name="Shape 0"/>
          <p:cNvSpPr/>
          <p:nvPr/>
        </p:nvSpPr>
        <p:spPr>
          <a:xfrm>
            <a:off x="9265615" y="-2377440"/>
            <a:ext cx="5669280" cy="5669280"/>
          </a:xfrm>
          <a:prstGeom prst="ellipse">
            <a:avLst/>
          </a:prstGeom>
          <a:solidFill>
            <a:srgbClr val="144272"/>
          </a:solidFill>
          <a:ln/>
        </p:spPr>
      </p:sp>
      <p:sp>
        <p:nvSpPr>
          <p:cNvPr id="3" name="Shape 1"/>
          <p:cNvSpPr/>
          <p:nvPr/>
        </p:nvSpPr>
        <p:spPr>
          <a:xfrm>
            <a:off x="-2011680" y="4663440"/>
            <a:ext cx="4206240" cy="4206240"/>
          </a:xfrm>
          <a:prstGeom prst="ellipse">
            <a:avLst/>
          </a:prstGeom>
          <a:solidFill>
            <a:srgbClr val="144272"/>
          </a:solidFill>
          <a:ln/>
        </p:spPr>
      </p:sp>
      <p:pic>
        <p:nvPicPr>
          <p:cNvPr id="4" name="Image 0" descr="/home/claude/ppt/icons/futbol_white.png"/>
          <p:cNvPicPr>
            <a:picLocks noChangeAspect="1"/>
          </p:cNvPicPr>
          <p:nvPr/>
        </p:nvPicPr>
        <p:blipFill>
          <a:blip r:embed="rId3">
            <a:alphaModFix amt="22000"/>
          </a:blip>
          <a:stretch>
            <a:fillRect/>
          </a:stretch>
        </p:blipFill>
        <p:spPr>
          <a:xfrm>
            <a:off x="9539935" y="-548640"/>
            <a:ext cx="2194560" cy="2194560"/>
          </a:xfrm>
          <a:prstGeom prst="rect">
            <a:avLst/>
          </a:prstGeom>
        </p:spPr>
      </p:pic>
      <p:pic>
        <p:nvPicPr>
          <p:cNvPr id="5" name="Image 1" descr="/home/claude/ppt/icons/network_white.png"/>
          <p:cNvPicPr>
            <a:picLocks noChangeAspect="1"/>
          </p:cNvPicPr>
          <p:nvPr/>
        </p:nvPicPr>
        <p:blipFill>
          <a:blip r:embed="rId4">
            <a:alphaModFix amt="30000"/>
          </a:blip>
          <a:stretch>
            <a:fillRect/>
          </a:stretch>
        </p:blipFill>
        <p:spPr>
          <a:xfrm>
            <a:off x="502920" y="5029200"/>
            <a:ext cx="1005840" cy="1005840"/>
          </a:xfrm>
          <a:prstGeom prst="rect">
            <a:avLst/>
          </a:prstGeom>
        </p:spPr>
      </p:pic>
      <p:sp>
        <p:nvSpPr>
          <p:cNvPr id="7" name="Text 3"/>
          <p:cNvSpPr txBox="1"/>
          <p:nvPr/>
        </p:nvSpPr>
        <p:spPr>
          <a:xfrm>
            <a:off x="1005840" y="1965960"/>
            <a:ext cx="10149840" cy="1737360"/>
          </a:xfrm>
          <a:prstGeom prst="rect">
            <a:avLst/>
          </a:prstGeom>
          <a:noFill/>
          <a:ln/>
        </p:spPr>
        <p:txBody>
          <a:bodyPr wrap="square" lIns="0" tIns="0" rIns="0" bIns="0" rtlCol="0" anchor="t"/>
          <a:lstStyle/>
          <a:p>
            <a:pPr marL="0" indent="0" algn="ctr">
              <a:lnSpc>
                <a:spcPct val="112000"/>
              </a:lnSpc>
              <a:buNone/>
            </a:pPr>
            <a:r>
              <a:rPr lang="en-US" sz="3800" b="1" dirty="0">
                <a:solidFill>
                  <a:srgbClr val="FFFFFF"/>
                </a:solidFill>
                <a:latin typeface="Cambria" pitchFamily="34" charset="0"/>
                <a:ea typeface="Cambria" pitchFamily="34" charset="-122"/>
                <a:cs typeface="Cambria" pitchFamily="34" charset="-120"/>
              </a:rPr>
              <a:t>Match Outcome Prediction Using</a:t>
            </a:r>
            <a:endParaRPr lang="en-US" sz="3800" dirty="0"/>
          </a:p>
          <a:p>
            <a:pPr marL="0" indent="0" algn="ctr">
              <a:lnSpc>
                <a:spcPct val="112000"/>
              </a:lnSpc>
              <a:buNone/>
            </a:pPr>
            <a:r>
              <a:rPr lang="en-US" sz="3800" b="1" dirty="0">
                <a:solidFill>
                  <a:srgbClr val="FFFFFF"/>
                </a:solidFill>
                <a:latin typeface="Cambria" pitchFamily="34" charset="0"/>
                <a:ea typeface="Cambria" pitchFamily="34" charset="-122"/>
                <a:cs typeface="Cambria" pitchFamily="34" charset="-120"/>
              </a:rPr>
              <a:t>Logistic Regression and Random Forest</a:t>
            </a:r>
            <a:endParaRPr lang="en-US" sz="3800" dirty="0"/>
          </a:p>
        </p:txBody>
      </p:sp>
      <p:sp>
        <p:nvSpPr>
          <p:cNvPr id="8" name="Shape 4"/>
          <p:cNvSpPr/>
          <p:nvPr/>
        </p:nvSpPr>
        <p:spPr>
          <a:xfrm>
            <a:off x="1920240" y="4343400"/>
            <a:ext cx="8348472" cy="1691640"/>
          </a:xfrm>
          <a:prstGeom prst="roundRect">
            <a:avLst>
              <a:gd name="adj" fmla="val 6486"/>
            </a:avLst>
          </a:prstGeom>
          <a:solidFill>
            <a:srgbClr val="144272"/>
          </a:solidFill>
          <a:ln/>
        </p:spPr>
      </p:sp>
      <p:sp>
        <p:nvSpPr>
          <p:cNvPr id="9" name="Text 5"/>
          <p:cNvSpPr txBox="1"/>
          <p:nvPr/>
        </p:nvSpPr>
        <p:spPr>
          <a:xfrm>
            <a:off x="2423160" y="4636008"/>
            <a:ext cx="2926080" cy="320040"/>
          </a:xfrm>
          <a:prstGeom prst="rect">
            <a:avLst/>
          </a:prstGeom>
          <a:noFill/>
          <a:ln/>
        </p:spPr>
        <p:txBody>
          <a:bodyPr wrap="square" lIns="0" tIns="0" rIns="0" bIns="0" rtlCol="0" anchor="ctr"/>
          <a:lstStyle/>
          <a:p>
            <a:pPr marL="0" indent="0">
              <a:buNone/>
            </a:pPr>
            <a:r>
              <a:rPr lang="en-US" sz="1100" b="1" kern="0" spc="150" dirty="0">
                <a:solidFill>
                  <a:srgbClr val="F2A93B"/>
                </a:solidFill>
                <a:latin typeface="Calibri" pitchFamily="34" charset="0"/>
                <a:ea typeface="Calibri" pitchFamily="34" charset="-122"/>
                <a:cs typeface="Calibri" pitchFamily="34" charset="-120"/>
              </a:rPr>
              <a:t>SECTION</a:t>
            </a:r>
            <a:endParaRPr lang="en-US" sz="1100" dirty="0"/>
          </a:p>
        </p:txBody>
      </p:sp>
      <p:sp>
        <p:nvSpPr>
          <p:cNvPr id="10" name="Text 6"/>
          <p:cNvSpPr txBox="1"/>
          <p:nvPr/>
        </p:nvSpPr>
        <p:spPr>
          <a:xfrm>
            <a:off x="2423160" y="4965192"/>
            <a:ext cx="2926080" cy="6400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rPr>
              <a:t>  09</a:t>
            </a:r>
          </a:p>
        </p:txBody>
      </p:sp>
      <p:sp>
        <p:nvSpPr>
          <p:cNvPr id="11" name="Text 7"/>
          <p:cNvSpPr txBox="1"/>
          <p:nvPr/>
        </p:nvSpPr>
        <p:spPr>
          <a:xfrm>
            <a:off x="5623560" y="4636008"/>
            <a:ext cx="4114800" cy="320040"/>
          </a:xfrm>
          <a:prstGeom prst="rect">
            <a:avLst/>
          </a:prstGeom>
          <a:noFill/>
          <a:ln/>
        </p:spPr>
        <p:txBody>
          <a:bodyPr wrap="square" lIns="0" tIns="0" rIns="0" bIns="0" rtlCol="0" anchor="ctr"/>
          <a:lstStyle/>
          <a:p>
            <a:pPr marL="0" indent="0">
              <a:buNone/>
            </a:pPr>
            <a:r>
              <a:rPr lang="en-US" sz="1100" b="1" kern="0" spc="150" dirty="0">
                <a:solidFill>
                  <a:srgbClr val="F2A93B"/>
                </a:solidFill>
                <a:latin typeface="Calibri" pitchFamily="34" charset="0"/>
                <a:ea typeface="Calibri" pitchFamily="34" charset="-122"/>
                <a:cs typeface="Calibri" pitchFamily="34" charset="-120"/>
              </a:rPr>
              <a:t>TEAM MEMBERS</a:t>
            </a:r>
            <a:endParaRPr lang="en-US" sz="1100" dirty="0"/>
          </a:p>
        </p:txBody>
      </p:sp>
      <p:sp>
        <p:nvSpPr>
          <p:cNvPr id="12" name="Text 8"/>
          <p:cNvSpPr txBox="1"/>
          <p:nvPr/>
        </p:nvSpPr>
        <p:spPr>
          <a:xfrm>
            <a:off x="5623560" y="4946904"/>
            <a:ext cx="4206240" cy="914400"/>
          </a:xfrm>
          <a:prstGeom prst="rect">
            <a:avLst/>
          </a:prstGeom>
          <a:noFill/>
          <a:ln/>
        </p:spPr>
        <p:txBody>
          <a:bodyPr wrap="square" lIns="0" tIns="0" rIns="0" bIns="0" rtlCol="0" anchor="ctr"/>
          <a:lstStyle/>
          <a:p>
            <a:pPr marL="0" indent="0">
              <a:lnSpc>
                <a:spcPct val="135000"/>
              </a:lnSpc>
              <a:buNone/>
            </a:pPr>
            <a:r>
              <a:rPr lang="en-US" sz="1550" b="1" dirty="0">
                <a:solidFill>
                  <a:srgbClr val="FFFFFF"/>
                </a:solidFill>
                <a:latin typeface="Calibri" pitchFamily="34" charset="0"/>
                <a:ea typeface="Calibri" pitchFamily="34" charset="-122"/>
                <a:cs typeface="Calibri" pitchFamily="34" charset="-120"/>
              </a:rPr>
              <a:t>Venkata Sai Krishna (2520030027)
Ajai Manikanta (2520030320)</a:t>
            </a:r>
          </a:p>
          <a:p>
            <a:pPr marL="0" indent="0">
              <a:lnSpc>
                <a:spcPct val="135000"/>
              </a:lnSpc>
              <a:buNone/>
            </a:pPr>
            <a:endParaRPr lang="en-US" sz="1550" dirty="0"/>
          </a:p>
        </p:txBody>
      </p:sp>
      <p:pic>
        <p:nvPicPr>
          <p:cNvPr id="15" name="Picture 14" descr="Best Private University in Telangana &amp; Andhra Pradesh | KLH Hyderabad">
            <a:extLst>
              <a:ext uri="{FF2B5EF4-FFF2-40B4-BE49-F238E27FC236}">
                <a16:creationId xmlns:a16="http://schemas.microsoft.com/office/drawing/2014/main" id="{952BEE19-3342-A0C1-9F6C-CAA509133766}"/>
              </a:ext>
            </a:extLst>
          </p:cNvPr>
          <p:cNvPicPr>
            <a:picLocks noChangeAspect="1"/>
          </p:cNvPicPr>
          <p:nvPr/>
        </p:nvPicPr>
        <p:blipFill>
          <a:blip r:embed="rId5"/>
          <a:stretch>
            <a:fillRect/>
          </a:stretch>
        </p:blipFill>
        <p:spPr>
          <a:xfrm>
            <a:off x="238524" y="-515197"/>
            <a:ext cx="3190476" cy="23714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76656" y="612648"/>
            <a:ext cx="566928" cy="566928"/>
          </a:xfrm>
          <a:prstGeom prst="ellipse">
            <a:avLst/>
          </a:prstGeom>
          <a:solidFill>
            <a:srgbClr val="2C74B3"/>
          </a:solidFill>
          <a:ln/>
        </p:spPr>
      </p:sp>
      <p:pic>
        <p:nvPicPr>
          <p:cNvPr id="3" name="Image 0" descr="/home/claude/ppt/icons/brain_white.png"/>
          <p:cNvPicPr>
            <a:picLocks noChangeAspect="1"/>
          </p:cNvPicPr>
          <p:nvPr/>
        </p:nvPicPr>
        <p:blipFill>
          <a:blip r:embed="rId3"/>
          <a:stretch>
            <a:fillRect/>
          </a:stretch>
        </p:blipFill>
        <p:spPr>
          <a:xfrm>
            <a:off x="804215" y="740207"/>
            <a:ext cx="311810" cy="311810"/>
          </a:xfrm>
          <a:prstGeom prst="rect">
            <a:avLst/>
          </a:prstGeom>
        </p:spPr>
      </p:pic>
      <p:sp>
        <p:nvSpPr>
          <p:cNvPr id="4" name="Text 1"/>
          <p:cNvSpPr txBox="1"/>
          <p:nvPr/>
        </p:nvSpPr>
        <p:spPr>
          <a:xfrm>
            <a:off x="1417320" y="475488"/>
            <a:ext cx="7315200" cy="320040"/>
          </a:xfrm>
          <a:prstGeom prst="rect">
            <a:avLst/>
          </a:prstGeom>
          <a:noFill/>
          <a:ln/>
        </p:spPr>
        <p:txBody>
          <a:bodyPr wrap="square" lIns="0" tIns="0" rIns="0" bIns="0" rtlCol="0" anchor="ctr"/>
          <a:lstStyle/>
          <a:p>
            <a:pPr marL="0" indent="0">
              <a:buNone/>
            </a:pPr>
            <a:r>
              <a:rPr lang="en-US" sz="1200" b="1" kern="0" spc="200" dirty="0">
                <a:solidFill>
                  <a:srgbClr val="2C74B3"/>
                </a:solidFill>
                <a:latin typeface="Calibri" pitchFamily="34" charset="0"/>
                <a:ea typeface="Calibri" pitchFamily="34" charset="-122"/>
                <a:cs typeface="Calibri" pitchFamily="34" charset="-120"/>
              </a:rPr>
              <a:t>PROJECT OVERVIEW</a:t>
            </a:r>
            <a:endParaRPr lang="en-US" sz="1200" dirty="0"/>
          </a:p>
        </p:txBody>
      </p:sp>
      <p:sp>
        <p:nvSpPr>
          <p:cNvPr id="5" name="Text 2"/>
          <p:cNvSpPr txBox="1"/>
          <p:nvPr/>
        </p:nvSpPr>
        <p:spPr>
          <a:xfrm>
            <a:off x="1417320" y="713232"/>
            <a:ext cx="7315200" cy="685800"/>
          </a:xfrm>
          <a:prstGeom prst="rect">
            <a:avLst/>
          </a:prstGeom>
          <a:noFill/>
          <a:ln/>
        </p:spPr>
        <p:txBody>
          <a:bodyPr wrap="square" lIns="0" tIns="0" rIns="0" bIns="0" rtlCol="0" anchor="ctr"/>
          <a:lstStyle/>
          <a:p>
            <a:pPr marL="0" indent="0">
              <a:buNone/>
            </a:pPr>
            <a:r>
              <a:rPr lang="en-US" sz="3400" b="1" dirty="0">
                <a:solidFill>
                  <a:srgbClr val="0A2647"/>
                </a:solidFill>
                <a:latin typeface="Cambria" pitchFamily="34" charset="0"/>
                <a:ea typeface="Cambria" pitchFamily="34" charset="-122"/>
                <a:cs typeface="Cambria" pitchFamily="34" charset="-120"/>
              </a:rPr>
              <a:t>Abstract</a:t>
            </a:r>
            <a:endParaRPr lang="en-US" sz="3400" dirty="0"/>
          </a:p>
        </p:txBody>
      </p:sp>
      <p:sp>
        <p:nvSpPr>
          <p:cNvPr id="6" name="Text 3"/>
          <p:cNvSpPr txBox="1"/>
          <p:nvPr/>
        </p:nvSpPr>
        <p:spPr>
          <a:xfrm>
            <a:off x="640080" y="1691640"/>
            <a:ext cx="10881360" cy="4690872"/>
          </a:xfrm>
          <a:prstGeom prst="rect">
            <a:avLst/>
          </a:prstGeom>
          <a:noFill/>
          <a:ln/>
        </p:spPr>
        <p:txBody>
          <a:bodyPr wrap="square" lIns="0" tIns="0" rIns="0" bIns="0" rtlCol="0" anchor="t"/>
          <a:lstStyle/>
          <a:p>
            <a:pPr algn="just">
              <a:lnSpc>
                <a:spcPct val="100000"/>
              </a:lnSpc>
              <a:spcAft>
                <a:spcPts val="1400"/>
              </a:spcAft>
              <a:buSzPct val="100000"/>
            </a:pPr>
            <a:r>
              <a:rPr lang="en-IN" sz="2200" dirty="0">
                <a:latin typeface="Times New Roman" panose="02020603050405020304" pitchFamily="18" charset="0"/>
                <a:cs typeface="Times New Roman" panose="02020603050405020304" pitchFamily="18" charset="0"/>
              </a:rPr>
              <a:t>Predicting the outcome of a sports match is an interesting application of machine learning because the result can depend on several factors such as team performance, recent form, venue, toss result, and previous match records. This project, “Match Outcome Prediction Using Logistic Regression and Random Forest,” uses historical match data to predict the possible outcome of a future match. The data is first cleaned and prepared by handling missing values, selecting useful features, and performing feature </a:t>
            </a:r>
            <a:r>
              <a:rPr lang="en-IN" sz="2200" dirty="0" err="1">
                <a:latin typeface="Times New Roman" panose="02020603050405020304" pitchFamily="18" charset="0"/>
                <a:cs typeface="Times New Roman" panose="02020603050405020304" pitchFamily="18" charset="0"/>
              </a:rPr>
              <a:t>engineering.Two</a:t>
            </a:r>
            <a:r>
              <a:rPr lang="en-IN" sz="2200" dirty="0">
                <a:latin typeface="Times New Roman" panose="02020603050405020304" pitchFamily="18" charset="0"/>
                <a:cs typeface="Times New Roman" panose="02020603050405020304" pitchFamily="18" charset="0"/>
              </a:rPr>
              <a:t> supervised machine learning algorithms, Logistic Regression and Random Forest, are trained and compared to determine which model provides better predictions. Their performance is evaluated using accuracy, precision, recall, F1-score, confusion matrix, and ROC-AUC. The project can also include hyperparameter tuning and model deployment through a simple application or API, where users can enter match details and receive a predicted outcome with its probability. Overall, the project demonstrates how machine learning can be applied to real-world sports data while following the complete process from data preparation and model training to prediction and deployment. </a:t>
            </a:r>
            <a:endParaRPr lang="en-US" sz="2200" dirty="0">
              <a:latin typeface="Times New Roman" panose="02020603050405020304" pitchFamily="18" charset="0"/>
              <a:cs typeface="Times New Roman" panose="02020603050405020304" pitchFamily="18" charset="0"/>
            </a:endParaRPr>
          </a:p>
        </p:txBody>
      </p:sp>
      <p:sp>
        <p:nvSpPr>
          <p:cNvPr id="24" name="Text 17"/>
          <p:cNvSpPr txBox="1"/>
          <p:nvPr/>
        </p:nvSpPr>
        <p:spPr>
          <a:xfrm>
            <a:off x="10911535" y="6400800"/>
            <a:ext cx="1005840" cy="274320"/>
          </a:xfrm>
          <a:prstGeom prst="rect">
            <a:avLst/>
          </a:prstGeom>
          <a:noFill/>
          <a:ln/>
        </p:spPr>
        <p:txBody>
          <a:bodyPr wrap="square" lIns="0" tIns="0" rIns="0" bIns="0" rtlCol="0" anchor="ctr"/>
          <a:lstStyle/>
          <a:p>
            <a:pPr marL="0" indent="0" algn="r">
              <a:buNone/>
            </a:pPr>
            <a:r>
              <a:rPr lang="en-US" sz="900" dirty="0">
                <a:solidFill>
                  <a:srgbClr val="5B7A9D"/>
                </a:solidFill>
                <a:latin typeface="Calibri" pitchFamily="34" charset="0"/>
                <a:ea typeface="Calibri" pitchFamily="34" charset="-122"/>
                <a:cs typeface="Calibri" pitchFamily="34" charset="-120"/>
              </a:rPr>
              <a:t>02 / 07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76656" y="612648"/>
            <a:ext cx="566928" cy="566928"/>
          </a:xfrm>
          <a:prstGeom prst="ellipse">
            <a:avLst/>
          </a:prstGeom>
          <a:solidFill>
            <a:srgbClr val="2C74B3"/>
          </a:solidFill>
          <a:ln/>
        </p:spPr>
      </p:sp>
      <p:pic>
        <p:nvPicPr>
          <p:cNvPr id="3" name="Image 0" descr="/home/claude/ppt/icons/sitemap_white.png"/>
          <p:cNvPicPr>
            <a:picLocks noChangeAspect="1"/>
          </p:cNvPicPr>
          <p:nvPr/>
        </p:nvPicPr>
        <p:blipFill>
          <a:blip r:embed="rId3"/>
          <a:stretch>
            <a:fillRect/>
          </a:stretch>
        </p:blipFill>
        <p:spPr>
          <a:xfrm>
            <a:off x="818388" y="754380"/>
            <a:ext cx="283464" cy="283464"/>
          </a:xfrm>
          <a:prstGeom prst="rect">
            <a:avLst/>
          </a:prstGeom>
        </p:spPr>
      </p:pic>
      <p:sp>
        <p:nvSpPr>
          <p:cNvPr id="4" name="Text 1"/>
          <p:cNvSpPr txBox="1"/>
          <p:nvPr/>
        </p:nvSpPr>
        <p:spPr>
          <a:xfrm>
            <a:off x="1417320" y="475488"/>
            <a:ext cx="7315200" cy="320040"/>
          </a:xfrm>
          <a:prstGeom prst="rect">
            <a:avLst/>
          </a:prstGeom>
          <a:noFill/>
          <a:ln/>
        </p:spPr>
        <p:txBody>
          <a:bodyPr wrap="square" lIns="0" tIns="0" rIns="0" bIns="0" rtlCol="0" anchor="ctr"/>
          <a:lstStyle/>
          <a:p>
            <a:pPr marL="0" indent="0">
              <a:buNone/>
            </a:pPr>
            <a:r>
              <a:rPr lang="en-US" sz="1200" b="1" kern="0" spc="200" dirty="0">
                <a:solidFill>
                  <a:srgbClr val="2C74B3"/>
                </a:solidFill>
                <a:latin typeface="Calibri" pitchFamily="34" charset="0"/>
                <a:ea typeface="Calibri" pitchFamily="34" charset="-122"/>
                <a:cs typeface="Calibri" pitchFamily="34" charset="-120"/>
              </a:rPr>
              <a:t>WHY THIS PROJECT</a:t>
            </a:r>
            <a:endParaRPr lang="en-US" sz="1200" dirty="0"/>
          </a:p>
        </p:txBody>
      </p:sp>
      <p:sp>
        <p:nvSpPr>
          <p:cNvPr id="5" name="Text 2"/>
          <p:cNvSpPr txBox="1"/>
          <p:nvPr/>
        </p:nvSpPr>
        <p:spPr>
          <a:xfrm>
            <a:off x="1417320" y="713232"/>
            <a:ext cx="8229600" cy="685800"/>
          </a:xfrm>
          <a:prstGeom prst="rect">
            <a:avLst/>
          </a:prstGeom>
          <a:noFill/>
          <a:ln/>
        </p:spPr>
        <p:txBody>
          <a:bodyPr wrap="square" lIns="0" tIns="0" rIns="0" bIns="0" rtlCol="0" anchor="ctr"/>
          <a:lstStyle/>
          <a:p>
            <a:pPr marL="0" indent="0">
              <a:buNone/>
            </a:pPr>
            <a:r>
              <a:rPr lang="en-US" sz="3400" b="1" dirty="0">
                <a:solidFill>
                  <a:srgbClr val="0A2647"/>
                </a:solidFill>
                <a:latin typeface="Cambria" pitchFamily="34" charset="0"/>
                <a:ea typeface="Cambria" pitchFamily="34" charset="-122"/>
                <a:cs typeface="Cambria" pitchFamily="34" charset="-120"/>
              </a:rPr>
              <a:t>Problem Statement</a:t>
            </a:r>
            <a:endParaRPr lang="en-US" sz="3400" dirty="0"/>
          </a:p>
        </p:txBody>
      </p:sp>
      <p:sp>
        <p:nvSpPr>
          <p:cNvPr id="6" name="Text 3"/>
          <p:cNvSpPr txBox="1"/>
          <p:nvPr/>
        </p:nvSpPr>
        <p:spPr>
          <a:xfrm>
            <a:off x="640080" y="1691640"/>
            <a:ext cx="10881360" cy="685800"/>
          </a:xfrm>
          <a:prstGeom prst="rect">
            <a:avLst/>
          </a:prstGeom>
          <a:noFill/>
          <a:ln/>
        </p:spPr>
        <p:txBody>
          <a:bodyPr wrap="square" lIns="0" tIns="0" rIns="0" bIns="0" rtlCol="0" anchor="ctr"/>
          <a:lstStyle/>
          <a:p>
            <a:pPr marL="0" indent="0">
              <a:lnSpc>
                <a:spcPct val="120000"/>
              </a:lnSpc>
              <a:buNone/>
            </a:pPr>
            <a:r>
              <a:rPr lang="en-US" sz="1450" dirty="0">
                <a:solidFill>
                  <a:srgbClr val="5B7A9D"/>
                </a:solidFill>
                <a:latin typeface="Calibri" pitchFamily="34" charset="0"/>
                <a:ea typeface="Calibri" pitchFamily="34" charset="-122"/>
                <a:cs typeface="Calibri" pitchFamily="34" charset="-120"/>
              </a:rPr>
              <a:t>Predicting sports match outcomes manually is difficult, since many factors influence the result and traditional methods struggle to analyze large volumes of historical data.</a:t>
            </a:r>
            <a:endParaRPr lang="en-US" sz="1450" dirty="0"/>
          </a:p>
        </p:txBody>
      </p:sp>
      <p:sp>
        <p:nvSpPr>
          <p:cNvPr id="7" name="Shape 4"/>
          <p:cNvSpPr/>
          <p:nvPr/>
        </p:nvSpPr>
        <p:spPr>
          <a:xfrm>
            <a:off x="640080" y="2606040"/>
            <a:ext cx="5074920" cy="3520440"/>
          </a:xfrm>
          <a:prstGeom prst="roundRect">
            <a:avLst>
              <a:gd name="adj" fmla="val 2597"/>
            </a:avLst>
          </a:prstGeom>
          <a:solidFill>
            <a:srgbClr val="0A2647"/>
          </a:solidFill>
          <a:ln/>
        </p:spPr>
      </p:sp>
      <p:sp>
        <p:nvSpPr>
          <p:cNvPr id="8" name="Shape 5"/>
          <p:cNvSpPr/>
          <p:nvPr/>
        </p:nvSpPr>
        <p:spPr>
          <a:xfrm>
            <a:off x="996696" y="2916936"/>
            <a:ext cx="658368" cy="658368"/>
          </a:xfrm>
          <a:prstGeom prst="ellipse">
            <a:avLst/>
          </a:prstGeom>
          <a:solidFill>
            <a:srgbClr val="144272"/>
          </a:solidFill>
          <a:ln/>
        </p:spPr>
      </p:sp>
      <p:pic>
        <p:nvPicPr>
          <p:cNvPr id="9" name="Image 1" descr="/home/claude/ppt/icons/warning_white.png"/>
          <p:cNvPicPr>
            <a:picLocks noChangeAspect="1"/>
          </p:cNvPicPr>
          <p:nvPr/>
        </p:nvPicPr>
        <p:blipFill>
          <a:blip r:embed="rId4"/>
          <a:stretch>
            <a:fillRect/>
          </a:stretch>
        </p:blipFill>
        <p:spPr>
          <a:xfrm>
            <a:off x="1161288" y="3081528"/>
            <a:ext cx="329184" cy="329184"/>
          </a:xfrm>
          <a:prstGeom prst="rect">
            <a:avLst/>
          </a:prstGeom>
        </p:spPr>
      </p:pic>
      <p:sp>
        <p:nvSpPr>
          <p:cNvPr id="10" name="Text 6"/>
          <p:cNvSpPr txBox="1"/>
          <p:nvPr/>
        </p:nvSpPr>
        <p:spPr>
          <a:xfrm>
            <a:off x="1783080" y="2990088"/>
            <a:ext cx="3474720" cy="50292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THE PROBLEM</a:t>
            </a:r>
            <a:endParaRPr lang="en-US" sz="1800" dirty="0"/>
          </a:p>
        </p:txBody>
      </p:sp>
      <p:sp>
        <p:nvSpPr>
          <p:cNvPr id="11" name="Text 7"/>
          <p:cNvSpPr txBox="1"/>
          <p:nvPr/>
        </p:nvSpPr>
        <p:spPr>
          <a:xfrm>
            <a:off x="1143000" y="3931920"/>
            <a:ext cx="4069080" cy="2057400"/>
          </a:xfrm>
          <a:prstGeom prst="rect">
            <a:avLst/>
          </a:prstGeom>
          <a:noFill/>
          <a:ln/>
        </p:spPr>
        <p:txBody>
          <a:bodyPr wrap="square" lIns="0" tIns="0" rIns="0" bIns="0" rtlCol="0" anchor="t"/>
          <a:lstStyle/>
          <a:p>
            <a:pPr marL="342900" indent="-342900">
              <a:lnSpc>
                <a:spcPct val="108000"/>
              </a:lnSpc>
              <a:spcAft>
                <a:spcPts val="1400"/>
              </a:spcAft>
              <a:buSzPct val="100000"/>
              <a:buChar char="•"/>
            </a:pPr>
            <a:r>
              <a:rPr lang="en-US" sz="1400" dirty="0">
                <a:solidFill>
                  <a:srgbClr val="EAF2FB"/>
                </a:solidFill>
                <a:latin typeface="Calibri" pitchFamily="34" charset="0"/>
                <a:ea typeface="Calibri" pitchFamily="34" charset="-122"/>
                <a:cs typeface="Calibri" pitchFamily="34" charset="-120"/>
              </a:rPr>
              <a:t>Many factors influence a match's final result</a:t>
            </a:r>
            <a:endParaRPr lang="en-US" sz="1400" dirty="0"/>
          </a:p>
          <a:p>
            <a:pPr marL="342900" indent="-342900">
              <a:lnSpc>
                <a:spcPct val="108000"/>
              </a:lnSpc>
              <a:spcAft>
                <a:spcPts val="1400"/>
              </a:spcAft>
              <a:buSzPct val="100000"/>
              <a:buChar char="•"/>
            </a:pPr>
            <a:r>
              <a:rPr lang="en-US" sz="1400" dirty="0">
                <a:solidFill>
                  <a:srgbClr val="EAF2FB"/>
                </a:solidFill>
                <a:latin typeface="Calibri" pitchFamily="34" charset="0"/>
                <a:ea typeface="Calibri" pitchFamily="34" charset="-122"/>
                <a:cs typeface="Calibri" pitchFamily="34" charset="-120"/>
              </a:rPr>
              <a:t>Manual methods can't process large historical datasets</a:t>
            </a:r>
            <a:endParaRPr lang="en-US" sz="1400" dirty="0"/>
          </a:p>
          <a:p>
            <a:pPr marL="342900" indent="-342900">
              <a:lnSpc>
                <a:spcPct val="108000"/>
              </a:lnSpc>
              <a:spcAft>
                <a:spcPts val="1400"/>
              </a:spcAft>
              <a:buSzPct val="100000"/>
              <a:buChar char="•"/>
            </a:pPr>
            <a:r>
              <a:rPr lang="en-US" sz="1400" dirty="0">
                <a:solidFill>
                  <a:srgbClr val="EAF2FB"/>
                </a:solidFill>
                <a:latin typeface="Calibri" pitchFamily="34" charset="0"/>
                <a:ea typeface="Calibri" pitchFamily="34" charset="-122"/>
                <a:cs typeface="Calibri" pitchFamily="34" charset="-120"/>
              </a:rPr>
              <a:t>Hidden patterns in past matches are hard to detect</a:t>
            </a:r>
            <a:endParaRPr lang="en-US" sz="1400" dirty="0"/>
          </a:p>
        </p:txBody>
      </p:sp>
      <p:pic>
        <p:nvPicPr>
          <p:cNvPr id="12" name="Image 2" descr="/home/claude/ppt/icons/arrow_blue.png"/>
          <p:cNvPicPr>
            <a:picLocks noChangeAspect="1"/>
          </p:cNvPicPr>
          <p:nvPr/>
        </p:nvPicPr>
        <p:blipFill>
          <a:blip r:embed="rId5"/>
          <a:stretch>
            <a:fillRect/>
          </a:stretch>
        </p:blipFill>
        <p:spPr>
          <a:xfrm>
            <a:off x="5943600" y="4046220"/>
            <a:ext cx="640080" cy="640080"/>
          </a:xfrm>
          <a:prstGeom prst="rect">
            <a:avLst/>
          </a:prstGeom>
        </p:spPr>
      </p:pic>
      <p:sp>
        <p:nvSpPr>
          <p:cNvPr id="13" name="Shape 8"/>
          <p:cNvSpPr/>
          <p:nvPr/>
        </p:nvSpPr>
        <p:spPr>
          <a:xfrm>
            <a:off x="6492240" y="2606040"/>
            <a:ext cx="5074920" cy="3520440"/>
          </a:xfrm>
          <a:prstGeom prst="roundRect">
            <a:avLst>
              <a:gd name="adj" fmla="val 2597"/>
            </a:avLst>
          </a:prstGeom>
          <a:solidFill>
            <a:srgbClr val="EAF2FB"/>
          </a:solidFill>
          <a:ln/>
        </p:spPr>
      </p:sp>
      <p:sp>
        <p:nvSpPr>
          <p:cNvPr id="14" name="Shape 9"/>
          <p:cNvSpPr/>
          <p:nvPr/>
        </p:nvSpPr>
        <p:spPr>
          <a:xfrm>
            <a:off x="6848856" y="2916936"/>
            <a:ext cx="658368" cy="658368"/>
          </a:xfrm>
          <a:prstGeom prst="ellipse">
            <a:avLst/>
          </a:prstGeom>
          <a:solidFill>
            <a:srgbClr val="2C74B3"/>
          </a:solidFill>
          <a:ln/>
        </p:spPr>
      </p:sp>
      <p:pic>
        <p:nvPicPr>
          <p:cNvPr id="15" name="Image 3" descr="/home/claude/ppt/icons/check_white.png"/>
          <p:cNvPicPr>
            <a:picLocks noChangeAspect="1"/>
          </p:cNvPicPr>
          <p:nvPr/>
        </p:nvPicPr>
        <p:blipFill>
          <a:blip r:embed="rId6"/>
          <a:stretch>
            <a:fillRect/>
          </a:stretch>
        </p:blipFill>
        <p:spPr>
          <a:xfrm>
            <a:off x="7013448" y="3081528"/>
            <a:ext cx="329184" cy="329184"/>
          </a:xfrm>
          <a:prstGeom prst="rect">
            <a:avLst/>
          </a:prstGeom>
        </p:spPr>
      </p:pic>
      <p:sp>
        <p:nvSpPr>
          <p:cNvPr id="16" name="Text 10"/>
          <p:cNvSpPr txBox="1"/>
          <p:nvPr/>
        </p:nvSpPr>
        <p:spPr>
          <a:xfrm>
            <a:off x="7635240" y="2990088"/>
            <a:ext cx="3474720" cy="502920"/>
          </a:xfrm>
          <a:prstGeom prst="rect">
            <a:avLst/>
          </a:prstGeom>
          <a:noFill/>
          <a:ln/>
        </p:spPr>
        <p:txBody>
          <a:bodyPr wrap="square" lIns="0" tIns="0" rIns="0" bIns="0" rtlCol="0" anchor="ctr"/>
          <a:lstStyle/>
          <a:p>
            <a:pPr marL="0" indent="0">
              <a:buNone/>
            </a:pPr>
            <a:r>
              <a:rPr lang="en-US" sz="1800" b="1" dirty="0">
                <a:solidFill>
                  <a:srgbClr val="0A2647"/>
                </a:solidFill>
                <a:latin typeface="Cambria" pitchFamily="34" charset="0"/>
                <a:ea typeface="Cambria" pitchFamily="34" charset="-122"/>
                <a:cs typeface="Cambria" pitchFamily="34" charset="-120"/>
              </a:rPr>
              <a:t>THE SOLUTION</a:t>
            </a:r>
            <a:endParaRPr lang="en-US" sz="1800" dirty="0"/>
          </a:p>
        </p:txBody>
      </p:sp>
      <p:sp>
        <p:nvSpPr>
          <p:cNvPr id="17" name="Text 11"/>
          <p:cNvSpPr txBox="1"/>
          <p:nvPr/>
        </p:nvSpPr>
        <p:spPr>
          <a:xfrm>
            <a:off x="6995160" y="3931920"/>
            <a:ext cx="4069080" cy="2057400"/>
          </a:xfrm>
          <a:prstGeom prst="rect">
            <a:avLst/>
          </a:prstGeom>
          <a:noFill/>
          <a:ln/>
        </p:spPr>
        <p:txBody>
          <a:bodyPr wrap="square" lIns="0" tIns="0" rIns="0" bIns="0" rtlCol="0" anchor="t"/>
          <a:lstStyle/>
          <a:p>
            <a:pPr marL="342900" indent="-342900">
              <a:lnSpc>
                <a:spcPct val="108000"/>
              </a:lnSpc>
              <a:spcAft>
                <a:spcPts val="1000"/>
              </a:spcAft>
              <a:buSzPct val="100000"/>
              <a:buChar char="•"/>
            </a:pPr>
            <a:r>
              <a:rPr lang="en-US" sz="1350" dirty="0">
                <a:solidFill>
                  <a:srgbClr val="0A2647"/>
                </a:solidFill>
                <a:latin typeface="Calibri" pitchFamily="34" charset="0"/>
                <a:ea typeface="Calibri" pitchFamily="34" charset="-122"/>
                <a:cs typeface="Calibri" pitchFamily="34" charset="-120"/>
              </a:rPr>
              <a:t>Uses historical match data for analysis</a:t>
            </a:r>
            <a:endParaRPr lang="en-US" sz="1350" dirty="0"/>
          </a:p>
          <a:p>
            <a:pPr marL="342900" indent="-342900">
              <a:lnSpc>
                <a:spcPct val="108000"/>
              </a:lnSpc>
              <a:spcAft>
                <a:spcPts val="1000"/>
              </a:spcAft>
              <a:buSzPct val="100000"/>
              <a:buChar char="•"/>
            </a:pPr>
            <a:r>
              <a:rPr lang="en-US" sz="1350" dirty="0">
                <a:solidFill>
                  <a:srgbClr val="0A2647"/>
                </a:solidFill>
                <a:latin typeface="Calibri" pitchFamily="34" charset="0"/>
                <a:ea typeface="Calibri" pitchFamily="34" charset="-122"/>
                <a:cs typeface="Calibri" pitchFamily="34" charset="-120"/>
              </a:rPr>
              <a:t>Identifies important match-related features</a:t>
            </a:r>
            <a:endParaRPr lang="en-US" sz="1350" dirty="0"/>
          </a:p>
          <a:p>
            <a:pPr marL="342900" indent="-342900">
              <a:lnSpc>
                <a:spcPct val="108000"/>
              </a:lnSpc>
              <a:spcAft>
                <a:spcPts val="1000"/>
              </a:spcAft>
              <a:buSzPct val="100000"/>
              <a:buChar char="•"/>
            </a:pPr>
            <a:r>
              <a:rPr lang="en-US" sz="1350" dirty="0">
                <a:solidFill>
                  <a:srgbClr val="0A2647"/>
                </a:solidFill>
                <a:latin typeface="Calibri" pitchFamily="34" charset="0"/>
                <a:ea typeface="Calibri" pitchFamily="34" charset="-122"/>
                <a:cs typeface="Calibri" pitchFamily="34" charset="-120"/>
              </a:rPr>
              <a:t>Predicts the outcome of a future match</a:t>
            </a:r>
            <a:endParaRPr lang="en-US" sz="1350" dirty="0"/>
          </a:p>
          <a:p>
            <a:pPr marL="342900" indent="-342900">
              <a:lnSpc>
                <a:spcPct val="108000"/>
              </a:lnSpc>
              <a:spcAft>
                <a:spcPts val="1000"/>
              </a:spcAft>
              <a:buSzPct val="100000"/>
              <a:buChar char="•"/>
            </a:pPr>
            <a:r>
              <a:rPr lang="en-US" sz="1350" dirty="0">
                <a:solidFill>
                  <a:srgbClr val="0A2647"/>
                </a:solidFill>
                <a:latin typeface="Calibri" pitchFamily="34" charset="0"/>
                <a:ea typeface="Calibri" pitchFamily="34" charset="-122"/>
                <a:cs typeface="Calibri" pitchFamily="34" charset="-120"/>
              </a:rPr>
              <a:t>Compares Logistic Regression &amp; Random Forest</a:t>
            </a:r>
            <a:endParaRPr lang="en-US" sz="1350" dirty="0"/>
          </a:p>
          <a:p>
            <a:pPr marL="342900" indent="-342900">
              <a:lnSpc>
                <a:spcPct val="108000"/>
              </a:lnSpc>
              <a:spcAft>
                <a:spcPts val="1000"/>
              </a:spcAft>
              <a:buSzPct val="100000"/>
              <a:buChar char="•"/>
            </a:pPr>
            <a:r>
              <a:rPr lang="en-US" sz="1350" dirty="0">
                <a:solidFill>
                  <a:srgbClr val="0A2647"/>
                </a:solidFill>
                <a:latin typeface="Calibri" pitchFamily="34" charset="0"/>
                <a:ea typeface="Calibri" pitchFamily="34" charset="-122"/>
                <a:cs typeface="Calibri" pitchFamily="34" charset="-120"/>
              </a:rPr>
              <a:t>Identifies the better-performing model</a:t>
            </a:r>
            <a:endParaRPr lang="en-US" sz="1350" dirty="0"/>
          </a:p>
        </p:txBody>
      </p:sp>
      <p:sp>
        <p:nvSpPr>
          <p:cNvPr id="18" name="Text 12"/>
          <p:cNvSpPr txBox="1"/>
          <p:nvPr/>
        </p:nvSpPr>
        <p:spPr>
          <a:xfrm>
            <a:off x="10911535" y="6400800"/>
            <a:ext cx="1005840" cy="274320"/>
          </a:xfrm>
          <a:prstGeom prst="rect">
            <a:avLst/>
          </a:prstGeom>
          <a:noFill/>
          <a:ln/>
        </p:spPr>
        <p:txBody>
          <a:bodyPr wrap="square" lIns="0" tIns="0" rIns="0" bIns="0" rtlCol="0" anchor="ctr"/>
          <a:lstStyle/>
          <a:p>
            <a:pPr marL="0" indent="0" algn="r">
              <a:buNone/>
            </a:pPr>
            <a:r>
              <a:rPr lang="en-US" sz="900" dirty="0">
                <a:solidFill>
                  <a:srgbClr val="5B7A9D"/>
                </a:solidFill>
                <a:latin typeface="Calibri" pitchFamily="34" charset="0"/>
                <a:ea typeface="Calibri" pitchFamily="34" charset="-122"/>
                <a:cs typeface="Calibri" pitchFamily="34" charset="-120"/>
              </a:rPr>
              <a:t>03 / 07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76656" y="612648"/>
            <a:ext cx="566928" cy="566928"/>
          </a:xfrm>
          <a:prstGeom prst="ellipse">
            <a:avLst/>
          </a:prstGeom>
          <a:solidFill>
            <a:srgbClr val="2C74B3"/>
          </a:solidFill>
          <a:ln/>
        </p:spPr>
      </p:sp>
      <p:pic>
        <p:nvPicPr>
          <p:cNvPr id="3" name="Image 0" descr="/home/claude/ppt/icons/target_white.png"/>
          <p:cNvPicPr>
            <a:picLocks noChangeAspect="1"/>
          </p:cNvPicPr>
          <p:nvPr/>
        </p:nvPicPr>
        <p:blipFill>
          <a:blip r:embed="rId3"/>
          <a:stretch>
            <a:fillRect/>
          </a:stretch>
        </p:blipFill>
        <p:spPr>
          <a:xfrm>
            <a:off x="818388" y="754380"/>
            <a:ext cx="283464" cy="283464"/>
          </a:xfrm>
          <a:prstGeom prst="rect">
            <a:avLst/>
          </a:prstGeom>
        </p:spPr>
      </p:pic>
      <p:sp>
        <p:nvSpPr>
          <p:cNvPr id="4" name="Text 1"/>
          <p:cNvSpPr txBox="1"/>
          <p:nvPr/>
        </p:nvSpPr>
        <p:spPr>
          <a:xfrm>
            <a:off x="1417320" y="475488"/>
            <a:ext cx="7315200" cy="320040"/>
          </a:xfrm>
          <a:prstGeom prst="rect">
            <a:avLst/>
          </a:prstGeom>
          <a:noFill/>
          <a:ln/>
        </p:spPr>
        <p:txBody>
          <a:bodyPr wrap="square" lIns="0" tIns="0" rIns="0" bIns="0" rtlCol="0" anchor="ctr"/>
          <a:lstStyle/>
          <a:p>
            <a:pPr marL="0" indent="0">
              <a:buNone/>
            </a:pPr>
            <a:r>
              <a:rPr lang="en-US" sz="1200" b="1" kern="0" spc="200" dirty="0">
                <a:solidFill>
                  <a:srgbClr val="2C74B3"/>
                </a:solidFill>
                <a:latin typeface="Calibri" pitchFamily="34" charset="0"/>
                <a:ea typeface="Calibri" pitchFamily="34" charset="-122"/>
                <a:cs typeface="Calibri" pitchFamily="34" charset="-120"/>
              </a:rPr>
              <a:t>WHAT WE AIM TO ACHIEVE</a:t>
            </a:r>
            <a:endParaRPr lang="en-US" sz="1200" dirty="0"/>
          </a:p>
        </p:txBody>
      </p:sp>
      <p:sp>
        <p:nvSpPr>
          <p:cNvPr id="5" name="Text 2"/>
          <p:cNvSpPr txBox="1"/>
          <p:nvPr/>
        </p:nvSpPr>
        <p:spPr>
          <a:xfrm>
            <a:off x="1417320" y="713232"/>
            <a:ext cx="7315200" cy="685800"/>
          </a:xfrm>
          <a:prstGeom prst="rect">
            <a:avLst/>
          </a:prstGeom>
          <a:noFill/>
          <a:ln/>
        </p:spPr>
        <p:txBody>
          <a:bodyPr wrap="square" lIns="0" tIns="0" rIns="0" bIns="0" rtlCol="0" anchor="ctr"/>
          <a:lstStyle/>
          <a:p>
            <a:pPr marL="0" indent="0">
              <a:buNone/>
            </a:pPr>
            <a:r>
              <a:rPr lang="en-US" sz="3400" b="1" dirty="0">
                <a:solidFill>
                  <a:srgbClr val="0A2647"/>
                </a:solidFill>
                <a:latin typeface="Cambria" pitchFamily="34" charset="0"/>
                <a:ea typeface="Cambria" pitchFamily="34" charset="-122"/>
                <a:cs typeface="Cambria" pitchFamily="34" charset="-120"/>
              </a:rPr>
              <a:t>Objectives</a:t>
            </a:r>
            <a:endParaRPr lang="en-US" sz="3400" dirty="0"/>
          </a:p>
        </p:txBody>
      </p:sp>
      <p:sp>
        <p:nvSpPr>
          <p:cNvPr id="6" name="Shape 3"/>
          <p:cNvSpPr/>
          <p:nvPr/>
        </p:nvSpPr>
        <p:spPr>
          <a:xfrm>
            <a:off x="868680" y="2011680"/>
            <a:ext cx="3179064" cy="1203960"/>
          </a:xfrm>
          <a:prstGeom prst="roundRect">
            <a:avLst>
              <a:gd name="adj" fmla="val 7595"/>
            </a:avLst>
          </a:prstGeom>
          <a:solidFill>
            <a:srgbClr val="EAF2FB"/>
          </a:solidFill>
          <a:ln/>
        </p:spPr>
      </p:sp>
      <p:sp>
        <p:nvSpPr>
          <p:cNvPr id="7" name="Shape 4"/>
          <p:cNvSpPr/>
          <p:nvPr/>
        </p:nvSpPr>
        <p:spPr>
          <a:xfrm>
            <a:off x="1106424" y="2284476"/>
            <a:ext cx="658368" cy="658368"/>
          </a:xfrm>
          <a:prstGeom prst="ellipse">
            <a:avLst/>
          </a:prstGeom>
          <a:solidFill>
            <a:srgbClr val="0A2647"/>
          </a:solidFill>
          <a:ln/>
        </p:spPr>
      </p:sp>
      <p:pic>
        <p:nvPicPr>
          <p:cNvPr id="8" name="Image 1" descr="/home/claude/ppt/icons/data_white.png"/>
          <p:cNvPicPr>
            <a:picLocks noChangeAspect="1"/>
          </p:cNvPicPr>
          <p:nvPr/>
        </p:nvPicPr>
        <p:blipFill>
          <a:blip r:embed="rId4"/>
          <a:stretch>
            <a:fillRect/>
          </a:stretch>
        </p:blipFill>
        <p:spPr>
          <a:xfrm>
            <a:off x="1271016" y="2449068"/>
            <a:ext cx="329184" cy="329184"/>
          </a:xfrm>
          <a:prstGeom prst="rect">
            <a:avLst/>
          </a:prstGeom>
        </p:spPr>
      </p:pic>
      <p:sp>
        <p:nvSpPr>
          <p:cNvPr id="9" name="Text 5"/>
          <p:cNvSpPr txBox="1"/>
          <p:nvPr/>
        </p:nvSpPr>
        <p:spPr>
          <a:xfrm>
            <a:off x="1828800" y="2121408"/>
            <a:ext cx="2036064" cy="984504"/>
          </a:xfrm>
          <a:prstGeom prst="rect">
            <a:avLst/>
          </a:prstGeom>
          <a:noFill/>
          <a:ln/>
        </p:spPr>
        <p:txBody>
          <a:bodyPr wrap="square" lIns="0" tIns="0" rIns="0" bIns="0" rtlCol="0" anchor="ctr"/>
          <a:lstStyle/>
          <a:p>
            <a:pPr marL="0" indent="0">
              <a:lnSpc>
                <a:spcPct val="110000"/>
              </a:lnSpc>
              <a:buNone/>
            </a:pPr>
            <a:r>
              <a:rPr lang="en-US" sz="1300" b="1" dirty="0">
                <a:solidFill>
                  <a:srgbClr val="0A2647"/>
                </a:solidFill>
                <a:latin typeface="Calibri" pitchFamily="34" charset="0"/>
                <a:ea typeface="Calibri" pitchFamily="34" charset="-122"/>
                <a:cs typeface="Calibri" pitchFamily="34" charset="-120"/>
              </a:rPr>
              <a:t>Collect and prepare historical match data</a:t>
            </a:r>
            <a:endParaRPr lang="en-US" sz="1300" dirty="0"/>
          </a:p>
        </p:txBody>
      </p:sp>
      <p:sp>
        <p:nvSpPr>
          <p:cNvPr id="10" name="Shape 6"/>
          <p:cNvSpPr/>
          <p:nvPr/>
        </p:nvSpPr>
        <p:spPr>
          <a:xfrm>
            <a:off x="4504944" y="2011680"/>
            <a:ext cx="3179064" cy="1203960"/>
          </a:xfrm>
          <a:prstGeom prst="roundRect">
            <a:avLst>
              <a:gd name="adj" fmla="val 7595"/>
            </a:avLst>
          </a:prstGeom>
          <a:solidFill>
            <a:srgbClr val="EAF2FB"/>
          </a:solidFill>
          <a:ln/>
        </p:spPr>
      </p:sp>
      <p:sp>
        <p:nvSpPr>
          <p:cNvPr id="11" name="Shape 7"/>
          <p:cNvSpPr/>
          <p:nvPr/>
        </p:nvSpPr>
        <p:spPr>
          <a:xfrm>
            <a:off x="4742688" y="2284476"/>
            <a:ext cx="658368" cy="658368"/>
          </a:xfrm>
          <a:prstGeom prst="ellipse">
            <a:avLst/>
          </a:prstGeom>
          <a:solidFill>
            <a:srgbClr val="2C74B3"/>
          </a:solidFill>
          <a:ln/>
        </p:spPr>
      </p:sp>
      <p:pic>
        <p:nvPicPr>
          <p:cNvPr id="12" name="Image 2" descr="/home/claude/ppt/icons/clipboard_white.png"/>
          <p:cNvPicPr>
            <a:picLocks noChangeAspect="1"/>
          </p:cNvPicPr>
          <p:nvPr/>
        </p:nvPicPr>
        <p:blipFill>
          <a:blip r:embed="rId5"/>
          <a:stretch>
            <a:fillRect/>
          </a:stretch>
        </p:blipFill>
        <p:spPr>
          <a:xfrm>
            <a:off x="4907280" y="2449068"/>
            <a:ext cx="329184" cy="329184"/>
          </a:xfrm>
          <a:prstGeom prst="rect">
            <a:avLst/>
          </a:prstGeom>
        </p:spPr>
      </p:pic>
      <p:sp>
        <p:nvSpPr>
          <p:cNvPr id="13" name="Text 8"/>
          <p:cNvSpPr txBox="1"/>
          <p:nvPr/>
        </p:nvSpPr>
        <p:spPr>
          <a:xfrm>
            <a:off x="5465064" y="2121408"/>
            <a:ext cx="2036064" cy="984504"/>
          </a:xfrm>
          <a:prstGeom prst="rect">
            <a:avLst/>
          </a:prstGeom>
          <a:noFill/>
          <a:ln/>
        </p:spPr>
        <p:txBody>
          <a:bodyPr wrap="square" lIns="0" tIns="0" rIns="0" bIns="0" rtlCol="0" anchor="ctr"/>
          <a:lstStyle/>
          <a:p>
            <a:pPr marL="0" indent="0">
              <a:lnSpc>
                <a:spcPct val="110000"/>
              </a:lnSpc>
              <a:buNone/>
            </a:pPr>
            <a:r>
              <a:rPr lang="en-US" sz="1300" b="1" dirty="0">
                <a:solidFill>
                  <a:srgbClr val="0A2647"/>
                </a:solidFill>
                <a:latin typeface="Calibri" pitchFamily="34" charset="0"/>
                <a:ea typeface="Calibri" pitchFamily="34" charset="-122"/>
                <a:cs typeface="Calibri" pitchFamily="34" charset="-120"/>
              </a:rPr>
              <a:t>Identify key features affecting outcomes</a:t>
            </a:r>
            <a:endParaRPr lang="en-US" sz="1300" dirty="0"/>
          </a:p>
        </p:txBody>
      </p:sp>
      <p:sp>
        <p:nvSpPr>
          <p:cNvPr id="14" name="Shape 9"/>
          <p:cNvSpPr/>
          <p:nvPr/>
        </p:nvSpPr>
        <p:spPr>
          <a:xfrm>
            <a:off x="8141208" y="2011680"/>
            <a:ext cx="3179064" cy="1203960"/>
          </a:xfrm>
          <a:prstGeom prst="roundRect">
            <a:avLst>
              <a:gd name="adj" fmla="val 7595"/>
            </a:avLst>
          </a:prstGeom>
          <a:solidFill>
            <a:srgbClr val="EAF2FB"/>
          </a:solidFill>
          <a:ln/>
        </p:spPr>
      </p:sp>
      <p:sp>
        <p:nvSpPr>
          <p:cNvPr id="15" name="Shape 10"/>
          <p:cNvSpPr/>
          <p:nvPr/>
        </p:nvSpPr>
        <p:spPr>
          <a:xfrm>
            <a:off x="8378952" y="2284476"/>
            <a:ext cx="658368" cy="658368"/>
          </a:xfrm>
          <a:prstGeom prst="ellipse">
            <a:avLst/>
          </a:prstGeom>
          <a:solidFill>
            <a:srgbClr val="0A2647"/>
          </a:solidFill>
          <a:ln/>
        </p:spPr>
      </p:sp>
      <p:pic>
        <p:nvPicPr>
          <p:cNvPr id="16" name="Image 3" descr="/home/claude/ppt/icons/chartline_white.png"/>
          <p:cNvPicPr>
            <a:picLocks noChangeAspect="1"/>
          </p:cNvPicPr>
          <p:nvPr/>
        </p:nvPicPr>
        <p:blipFill>
          <a:blip r:embed="rId6"/>
          <a:stretch>
            <a:fillRect/>
          </a:stretch>
        </p:blipFill>
        <p:spPr>
          <a:xfrm>
            <a:off x="8543544" y="2449068"/>
            <a:ext cx="329184" cy="329184"/>
          </a:xfrm>
          <a:prstGeom prst="rect">
            <a:avLst/>
          </a:prstGeom>
        </p:spPr>
      </p:pic>
      <p:sp>
        <p:nvSpPr>
          <p:cNvPr id="17" name="Text 11"/>
          <p:cNvSpPr txBox="1"/>
          <p:nvPr/>
        </p:nvSpPr>
        <p:spPr>
          <a:xfrm>
            <a:off x="9101328" y="2121408"/>
            <a:ext cx="2036064" cy="984504"/>
          </a:xfrm>
          <a:prstGeom prst="rect">
            <a:avLst/>
          </a:prstGeom>
          <a:noFill/>
          <a:ln/>
        </p:spPr>
        <p:txBody>
          <a:bodyPr wrap="square" lIns="0" tIns="0" rIns="0" bIns="0" rtlCol="0" anchor="ctr"/>
          <a:lstStyle/>
          <a:p>
            <a:pPr marL="0" indent="0">
              <a:lnSpc>
                <a:spcPct val="110000"/>
              </a:lnSpc>
              <a:buNone/>
            </a:pPr>
            <a:r>
              <a:rPr lang="en-US" sz="1300" b="1" dirty="0">
                <a:solidFill>
                  <a:srgbClr val="0A2647"/>
                </a:solidFill>
                <a:latin typeface="Calibri" pitchFamily="34" charset="0"/>
                <a:ea typeface="Calibri" pitchFamily="34" charset="-122"/>
                <a:cs typeface="Calibri" pitchFamily="34" charset="-120"/>
              </a:rPr>
              <a:t>Implement Logistic Regression for prediction</a:t>
            </a:r>
            <a:endParaRPr lang="en-US" sz="1300" dirty="0"/>
          </a:p>
        </p:txBody>
      </p:sp>
      <p:sp>
        <p:nvSpPr>
          <p:cNvPr id="18" name="Shape 12"/>
          <p:cNvSpPr/>
          <p:nvPr/>
        </p:nvSpPr>
        <p:spPr>
          <a:xfrm>
            <a:off x="868680" y="3489960"/>
            <a:ext cx="3179064" cy="1203960"/>
          </a:xfrm>
          <a:prstGeom prst="roundRect">
            <a:avLst>
              <a:gd name="adj" fmla="val 7595"/>
            </a:avLst>
          </a:prstGeom>
          <a:solidFill>
            <a:srgbClr val="EAF2FB"/>
          </a:solidFill>
          <a:ln/>
        </p:spPr>
      </p:sp>
      <p:sp>
        <p:nvSpPr>
          <p:cNvPr id="19" name="Shape 13"/>
          <p:cNvSpPr/>
          <p:nvPr/>
        </p:nvSpPr>
        <p:spPr>
          <a:xfrm>
            <a:off x="1106424" y="3762756"/>
            <a:ext cx="658368" cy="658368"/>
          </a:xfrm>
          <a:prstGeom prst="ellipse">
            <a:avLst/>
          </a:prstGeom>
          <a:solidFill>
            <a:srgbClr val="2C74B3"/>
          </a:solidFill>
          <a:ln/>
        </p:spPr>
      </p:sp>
      <p:pic>
        <p:nvPicPr>
          <p:cNvPr id="20" name="Image 4" descr="/home/claude/ppt/icons/tree_white.png"/>
          <p:cNvPicPr>
            <a:picLocks noChangeAspect="1"/>
          </p:cNvPicPr>
          <p:nvPr/>
        </p:nvPicPr>
        <p:blipFill>
          <a:blip r:embed="rId7"/>
          <a:stretch>
            <a:fillRect/>
          </a:stretch>
        </p:blipFill>
        <p:spPr>
          <a:xfrm>
            <a:off x="1271016" y="3927348"/>
            <a:ext cx="329184" cy="329184"/>
          </a:xfrm>
          <a:prstGeom prst="rect">
            <a:avLst/>
          </a:prstGeom>
        </p:spPr>
      </p:pic>
      <p:sp>
        <p:nvSpPr>
          <p:cNvPr id="21" name="Text 14"/>
          <p:cNvSpPr txBox="1"/>
          <p:nvPr/>
        </p:nvSpPr>
        <p:spPr>
          <a:xfrm>
            <a:off x="1828800" y="3599688"/>
            <a:ext cx="2036064" cy="984504"/>
          </a:xfrm>
          <a:prstGeom prst="rect">
            <a:avLst/>
          </a:prstGeom>
          <a:noFill/>
          <a:ln/>
        </p:spPr>
        <p:txBody>
          <a:bodyPr wrap="square" lIns="0" tIns="0" rIns="0" bIns="0" rtlCol="0" anchor="ctr"/>
          <a:lstStyle/>
          <a:p>
            <a:pPr marL="0" indent="0">
              <a:lnSpc>
                <a:spcPct val="110000"/>
              </a:lnSpc>
              <a:buNone/>
            </a:pPr>
            <a:r>
              <a:rPr lang="en-US" sz="1300" b="1" dirty="0">
                <a:solidFill>
                  <a:srgbClr val="0A2647"/>
                </a:solidFill>
                <a:latin typeface="Calibri" pitchFamily="34" charset="0"/>
                <a:ea typeface="Calibri" pitchFamily="34" charset="-122"/>
                <a:cs typeface="Calibri" pitchFamily="34" charset="-120"/>
              </a:rPr>
              <a:t>Implement Random Forest for prediction</a:t>
            </a:r>
            <a:endParaRPr lang="en-US" sz="1300" dirty="0"/>
          </a:p>
        </p:txBody>
      </p:sp>
      <p:sp>
        <p:nvSpPr>
          <p:cNvPr id="22" name="Shape 15"/>
          <p:cNvSpPr/>
          <p:nvPr/>
        </p:nvSpPr>
        <p:spPr>
          <a:xfrm>
            <a:off x="4504944" y="3489960"/>
            <a:ext cx="3179064" cy="1203960"/>
          </a:xfrm>
          <a:prstGeom prst="roundRect">
            <a:avLst>
              <a:gd name="adj" fmla="val 7595"/>
            </a:avLst>
          </a:prstGeom>
          <a:solidFill>
            <a:srgbClr val="EAF2FB"/>
          </a:solidFill>
          <a:ln/>
        </p:spPr>
      </p:sp>
      <p:sp>
        <p:nvSpPr>
          <p:cNvPr id="23" name="Shape 16"/>
          <p:cNvSpPr/>
          <p:nvPr/>
        </p:nvSpPr>
        <p:spPr>
          <a:xfrm>
            <a:off x="4742688" y="3762756"/>
            <a:ext cx="658368" cy="658368"/>
          </a:xfrm>
          <a:prstGeom prst="ellipse">
            <a:avLst/>
          </a:prstGeom>
          <a:solidFill>
            <a:srgbClr val="0A2647"/>
          </a:solidFill>
          <a:ln/>
        </p:spPr>
      </p:sp>
      <p:pic>
        <p:nvPicPr>
          <p:cNvPr id="24" name="Image 5" descr="/home/claude/ppt/icons/balance_white.png"/>
          <p:cNvPicPr>
            <a:picLocks noChangeAspect="1"/>
          </p:cNvPicPr>
          <p:nvPr/>
        </p:nvPicPr>
        <p:blipFill>
          <a:blip r:embed="rId8"/>
          <a:stretch>
            <a:fillRect/>
          </a:stretch>
        </p:blipFill>
        <p:spPr>
          <a:xfrm>
            <a:off x="4907280" y="3927348"/>
            <a:ext cx="329184" cy="329184"/>
          </a:xfrm>
          <a:prstGeom prst="rect">
            <a:avLst/>
          </a:prstGeom>
        </p:spPr>
      </p:pic>
      <p:sp>
        <p:nvSpPr>
          <p:cNvPr id="25" name="Text 17"/>
          <p:cNvSpPr txBox="1"/>
          <p:nvPr/>
        </p:nvSpPr>
        <p:spPr>
          <a:xfrm>
            <a:off x="5465064" y="3599688"/>
            <a:ext cx="2036064" cy="984504"/>
          </a:xfrm>
          <a:prstGeom prst="rect">
            <a:avLst/>
          </a:prstGeom>
          <a:noFill/>
          <a:ln/>
        </p:spPr>
        <p:txBody>
          <a:bodyPr wrap="square" lIns="0" tIns="0" rIns="0" bIns="0" rtlCol="0" anchor="ctr"/>
          <a:lstStyle/>
          <a:p>
            <a:pPr marL="0" indent="0">
              <a:lnSpc>
                <a:spcPct val="110000"/>
              </a:lnSpc>
              <a:buNone/>
            </a:pPr>
            <a:r>
              <a:rPr lang="en-US" sz="1300" b="1" dirty="0">
                <a:solidFill>
                  <a:srgbClr val="0A2647"/>
                </a:solidFill>
                <a:latin typeface="Calibri" pitchFamily="34" charset="0"/>
                <a:ea typeface="Calibri" pitchFamily="34" charset="-122"/>
                <a:cs typeface="Calibri" pitchFamily="34" charset="-120"/>
              </a:rPr>
              <a:t>Evaluate and compare both models</a:t>
            </a:r>
            <a:endParaRPr lang="en-US" sz="1300" dirty="0"/>
          </a:p>
        </p:txBody>
      </p:sp>
      <p:sp>
        <p:nvSpPr>
          <p:cNvPr id="26" name="Shape 18"/>
          <p:cNvSpPr/>
          <p:nvPr/>
        </p:nvSpPr>
        <p:spPr>
          <a:xfrm>
            <a:off x="8141208" y="3489960"/>
            <a:ext cx="3179064" cy="1203960"/>
          </a:xfrm>
          <a:prstGeom prst="roundRect">
            <a:avLst>
              <a:gd name="adj" fmla="val 7595"/>
            </a:avLst>
          </a:prstGeom>
          <a:solidFill>
            <a:srgbClr val="EAF2FB"/>
          </a:solidFill>
          <a:ln/>
        </p:spPr>
      </p:sp>
      <p:sp>
        <p:nvSpPr>
          <p:cNvPr id="27" name="Shape 19"/>
          <p:cNvSpPr/>
          <p:nvPr/>
        </p:nvSpPr>
        <p:spPr>
          <a:xfrm>
            <a:off x="8378952" y="3762756"/>
            <a:ext cx="658368" cy="658368"/>
          </a:xfrm>
          <a:prstGeom prst="ellipse">
            <a:avLst/>
          </a:prstGeom>
          <a:solidFill>
            <a:srgbClr val="2C74B3"/>
          </a:solidFill>
          <a:ln/>
        </p:spPr>
      </p:sp>
      <p:pic>
        <p:nvPicPr>
          <p:cNvPr id="28" name="Image 6" descr="/home/claude/ppt/icons/trophy_white.png"/>
          <p:cNvPicPr>
            <a:picLocks noChangeAspect="1"/>
          </p:cNvPicPr>
          <p:nvPr/>
        </p:nvPicPr>
        <p:blipFill>
          <a:blip r:embed="rId9"/>
          <a:stretch>
            <a:fillRect/>
          </a:stretch>
        </p:blipFill>
        <p:spPr>
          <a:xfrm>
            <a:off x="8543544" y="3927348"/>
            <a:ext cx="329184" cy="329184"/>
          </a:xfrm>
          <a:prstGeom prst="rect">
            <a:avLst/>
          </a:prstGeom>
        </p:spPr>
      </p:pic>
      <p:sp>
        <p:nvSpPr>
          <p:cNvPr id="29" name="Text 20"/>
          <p:cNvSpPr txBox="1"/>
          <p:nvPr/>
        </p:nvSpPr>
        <p:spPr>
          <a:xfrm>
            <a:off x="9101328" y="3599688"/>
            <a:ext cx="2036064" cy="984504"/>
          </a:xfrm>
          <a:prstGeom prst="rect">
            <a:avLst/>
          </a:prstGeom>
          <a:noFill/>
          <a:ln/>
        </p:spPr>
        <p:txBody>
          <a:bodyPr wrap="square" lIns="0" tIns="0" rIns="0" bIns="0" rtlCol="0" anchor="ctr"/>
          <a:lstStyle/>
          <a:p>
            <a:pPr marL="0" indent="0">
              <a:lnSpc>
                <a:spcPct val="110000"/>
              </a:lnSpc>
              <a:buNone/>
            </a:pPr>
            <a:r>
              <a:rPr lang="en-US" sz="1300" b="1" dirty="0">
                <a:solidFill>
                  <a:srgbClr val="0A2647"/>
                </a:solidFill>
                <a:latin typeface="Calibri" pitchFamily="34" charset="0"/>
                <a:ea typeface="Calibri" pitchFamily="34" charset="-122"/>
                <a:cs typeface="Calibri" pitchFamily="34" charset="-120"/>
              </a:rPr>
              <a:t>Predict outcomes with the best model</a:t>
            </a:r>
            <a:endParaRPr lang="en-US" sz="1300" dirty="0"/>
          </a:p>
        </p:txBody>
      </p:sp>
      <p:sp>
        <p:nvSpPr>
          <p:cNvPr id="30" name="Shape 21"/>
          <p:cNvSpPr/>
          <p:nvPr/>
        </p:nvSpPr>
        <p:spPr>
          <a:xfrm>
            <a:off x="4504944" y="4968240"/>
            <a:ext cx="3179064" cy="1203960"/>
          </a:xfrm>
          <a:prstGeom prst="roundRect">
            <a:avLst>
              <a:gd name="adj" fmla="val 7595"/>
            </a:avLst>
          </a:prstGeom>
          <a:solidFill>
            <a:srgbClr val="EAF2FB"/>
          </a:solidFill>
          <a:ln/>
        </p:spPr>
      </p:sp>
      <p:sp>
        <p:nvSpPr>
          <p:cNvPr id="31" name="Shape 22"/>
          <p:cNvSpPr/>
          <p:nvPr/>
        </p:nvSpPr>
        <p:spPr>
          <a:xfrm>
            <a:off x="4742688" y="5241036"/>
            <a:ext cx="658368" cy="658368"/>
          </a:xfrm>
          <a:prstGeom prst="ellipse">
            <a:avLst/>
          </a:prstGeom>
          <a:solidFill>
            <a:srgbClr val="0A2647"/>
          </a:solidFill>
          <a:ln/>
        </p:spPr>
      </p:sp>
      <p:pic>
        <p:nvPicPr>
          <p:cNvPr id="32" name="Image 7" descr="/home/claude/ppt/icons/bulb_white.png"/>
          <p:cNvPicPr>
            <a:picLocks noChangeAspect="1"/>
          </p:cNvPicPr>
          <p:nvPr/>
        </p:nvPicPr>
        <p:blipFill>
          <a:blip r:embed="rId10"/>
          <a:stretch>
            <a:fillRect/>
          </a:stretch>
        </p:blipFill>
        <p:spPr>
          <a:xfrm>
            <a:off x="4907280" y="5405628"/>
            <a:ext cx="329184" cy="329184"/>
          </a:xfrm>
          <a:prstGeom prst="rect">
            <a:avLst/>
          </a:prstGeom>
        </p:spPr>
      </p:pic>
      <p:sp>
        <p:nvSpPr>
          <p:cNvPr id="33" name="Text 23"/>
          <p:cNvSpPr txBox="1"/>
          <p:nvPr/>
        </p:nvSpPr>
        <p:spPr>
          <a:xfrm>
            <a:off x="5465064" y="5077968"/>
            <a:ext cx="2036064" cy="984504"/>
          </a:xfrm>
          <a:prstGeom prst="rect">
            <a:avLst/>
          </a:prstGeom>
          <a:noFill/>
          <a:ln/>
        </p:spPr>
        <p:txBody>
          <a:bodyPr wrap="square" lIns="0" tIns="0" rIns="0" bIns="0" rtlCol="0" anchor="ctr"/>
          <a:lstStyle/>
          <a:p>
            <a:pPr marL="0" indent="0">
              <a:lnSpc>
                <a:spcPct val="110000"/>
              </a:lnSpc>
              <a:buNone/>
            </a:pPr>
            <a:r>
              <a:rPr lang="en-US" sz="1300" b="1" dirty="0">
                <a:solidFill>
                  <a:srgbClr val="0A2647"/>
                </a:solidFill>
                <a:latin typeface="Calibri" pitchFamily="34" charset="0"/>
                <a:ea typeface="Calibri" pitchFamily="34" charset="-122"/>
                <a:cs typeface="Calibri" pitchFamily="34" charset="-120"/>
              </a:rPr>
              <a:t>Build a simple, understandable system</a:t>
            </a:r>
            <a:endParaRPr lang="en-US" sz="1300" dirty="0"/>
          </a:p>
        </p:txBody>
      </p:sp>
      <p:sp>
        <p:nvSpPr>
          <p:cNvPr id="34" name="Text 24"/>
          <p:cNvSpPr txBox="1"/>
          <p:nvPr/>
        </p:nvSpPr>
        <p:spPr>
          <a:xfrm>
            <a:off x="10911535" y="6400800"/>
            <a:ext cx="1005840" cy="274320"/>
          </a:xfrm>
          <a:prstGeom prst="rect">
            <a:avLst/>
          </a:prstGeom>
          <a:noFill/>
          <a:ln/>
        </p:spPr>
        <p:txBody>
          <a:bodyPr wrap="square" lIns="0" tIns="0" rIns="0" bIns="0" rtlCol="0" anchor="ctr"/>
          <a:lstStyle/>
          <a:p>
            <a:pPr marL="0" indent="0" algn="r">
              <a:buNone/>
            </a:pPr>
            <a:r>
              <a:rPr lang="en-US" sz="900" dirty="0">
                <a:solidFill>
                  <a:srgbClr val="5B7A9D"/>
                </a:solidFill>
                <a:latin typeface="Calibri" pitchFamily="34" charset="0"/>
                <a:ea typeface="Calibri" pitchFamily="34" charset="-122"/>
                <a:cs typeface="Calibri" pitchFamily="34" charset="-120"/>
              </a:rPr>
              <a:t>04 / 07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76656" y="612648"/>
            <a:ext cx="566928" cy="566928"/>
          </a:xfrm>
          <a:prstGeom prst="ellipse">
            <a:avLst/>
          </a:prstGeom>
          <a:solidFill>
            <a:srgbClr val="2C74B3"/>
          </a:solidFill>
          <a:ln/>
        </p:spPr>
      </p:sp>
      <p:pic>
        <p:nvPicPr>
          <p:cNvPr id="3" name="Image 0" descr="/home/claude/ppt/icons/laptop_white.png"/>
          <p:cNvPicPr>
            <a:picLocks noChangeAspect="1"/>
          </p:cNvPicPr>
          <p:nvPr/>
        </p:nvPicPr>
        <p:blipFill>
          <a:blip r:embed="rId3"/>
          <a:stretch>
            <a:fillRect/>
          </a:stretch>
        </p:blipFill>
        <p:spPr>
          <a:xfrm>
            <a:off x="818388" y="754380"/>
            <a:ext cx="283464" cy="283464"/>
          </a:xfrm>
          <a:prstGeom prst="rect">
            <a:avLst/>
          </a:prstGeom>
        </p:spPr>
      </p:pic>
      <p:sp>
        <p:nvSpPr>
          <p:cNvPr id="4" name="Text 1"/>
          <p:cNvSpPr txBox="1"/>
          <p:nvPr/>
        </p:nvSpPr>
        <p:spPr>
          <a:xfrm>
            <a:off x="1417320" y="475488"/>
            <a:ext cx="7315200" cy="320040"/>
          </a:xfrm>
          <a:prstGeom prst="rect">
            <a:avLst/>
          </a:prstGeom>
          <a:noFill/>
          <a:ln/>
        </p:spPr>
        <p:txBody>
          <a:bodyPr wrap="square" lIns="0" tIns="0" rIns="0" bIns="0" rtlCol="0" anchor="ctr"/>
          <a:lstStyle/>
          <a:p>
            <a:pPr marL="0" indent="0">
              <a:buNone/>
            </a:pPr>
            <a:r>
              <a:rPr lang="en-US" sz="1200" b="1" kern="0" spc="200" dirty="0">
                <a:solidFill>
                  <a:srgbClr val="2C74B3"/>
                </a:solidFill>
                <a:latin typeface="Calibri" pitchFamily="34" charset="0"/>
                <a:ea typeface="Calibri" pitchFamily="34" charset="-122"/>
                <a:cs typeface="Calibri" pitchFamily="34" charset="-120"/>
              </a:rPr>
              <a:t>WHAT WE NEED TO BUILD THIS</a:t>
            </a:r>
            <a:endParaRPr lang="en-US" sz="1200" dirty="0"/>
          </a:p>
        </p:txBody>
      </p:sp>
      <p:sp>
        <p:nvSpPr>
          <p:cNvPr id="5" name="Text 2"/>
          <p:cNvSpPr txBox="1"/>
          <p:nvPr/>
        </p:nvSpPr>
        <p:spPr>
          <a:xfrm>
            <a:off x="1417320" y="713232"/>
            <a:ext cx="9601200" cy="685800"/>
          </a:xfrm>
          <a:prstGeom prst="rect">
            <a:avLst/>
          </a:prstGeom>
          <a:noFill/>
          <a:ln/>
        </p:spPr>
        <p:txBody>
          <a:bodyPr wrap="square" lIns="0" tIns="0" rIns="0" bIns="0" rtlCol="0" anchor="ctr"/>
          <a:lstStyle/>
          <a:p>
            <a:pPr marL="0" indent="0">
              <a:buNone/>
            </a:pPr>
            <a:r>
              <a:rPr lang="en-US" sz="3400" b="1" dirty="0">
                <a:solidFill>
                  <a:srgbClr val="0A2647"/>
                </a:solidFill>
                <a:latin typeface="Cambria" pitchFamily="34" charset="0"/>
                <a:ea typeface="Cambria" pitchFamily="34" charset="-122"/>
                <a:cs typeface="Cambria" pitchFamily="34" charset="-120"/>
              </a:rPr>
              <a:t>Software Requirements</a:t>
            </a:r>
            <a:endParaRPr lang="en-US" sz="3400" dirty="0"/>
          </a:p>
        </p:txBody>
      </p:sp>
      <p:sp>
        <p:nvSpPr>
          <p:cNvPr id="6" name="Shape 3"/>
          <p:cNvSpPr/>
          <p:nvPr/>
        </p:nvSpPr>
        <p:spPr>
          <a:xfrm>
            <a:off x="3558540" y="1833224"/>
            <a:ext cx="5074920" cy="4434840"/>
          </a:xfrm>
          <a:prstGeom prst="roundRect">
            <a:avLst>
              <a:gd name="adj" fmla="val 2062"/>
            </a:avLst>
          </a:prstGeom>
          <a:solidFill>
            <a:srgbClr val="0A2647"/>
          </a:solidFill>
          <a:ln/>
        </p:spPr>
      </p:sp>
      <p:sp>
        <p:nvSpPr>
          <p:cNvPr id="7" name="Shape 4"/>
          <p:cNvSpPr/>
          <p:nvPr/>
        </p:nvSpPr>
        <p:spPr>
          <a:xfrm>
            <a:off x="3915156" y="2125832"/>
            <a:ext cx="658368" cy="658368"/>
          </a:xfrm>
          <a:prstGeom prst="ellipse">
            <a:avLst/>
          </a:prstGeom>
          <a:solidFill>
            <a:srgbClr val="144272"/>
          </a:solidFill>
          <a:ln/>
        </p:spPr>
      </p:sp>
      <p:pic>
        <p:nvPicPr>
          <p:cNvPr id="8" name="Image 1" descr="/home/claude/ppt/icons/python_white.png"/>
          <p:cNvPicPr>
            <a:picLocks noChangeAspect="1"/>
          </p:cNvPicPr>
          <p:nvPr/>
        </p:nvPicPr>
        <p:blipFill>
          <a:blip r:embed="rId4"/>
          <a:stretch>
            <a:fillRect/>
          </a:stretch>
        </p:blipFill>
        <p:spPr>
          <a:xfrm>
            <a:off x="4079748" y="2290424"/>
            <a:ext cx="329184" cy="329184"/>
          </a:xfrm>
          <a:prstGeom prst="rect">
            <a:avLst/>
          </a:prstGeom>
        </p:spPr>
      </p:pic>
      <p:sp>
        <p:nvSpPr>
          <p:cNvPr id="9" name="Text 5"/>
          <p:cNvSpPr txBox="1"/>
          <p:nvPr/>
        </p:nvSpPr>
        <p:spPr>
          <a:xfrm>
            <a:off x="4701540" y="2198984"/>
            <a:ext cx="3291840" cy="50292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SOFTWARE</a:t>
            </a:r>
            <a:endParaRPr lang="en-US" sz="1800" dirty="0"/>
          </a:p>
        </p:txBody>
      </p:sp>
      <p:sp>
        <p:nvSpPr>
          <p:cNvPr id="10" name="Text 6"/>
          <p:cNvSpPr txBox="1"/>
          <p:nvPr/>
        </p:nvSpPr>
        <p:spPr>
          <a:xfrm>
            <a:off x="4061460" y="3113384"/>
            <a:ext cx="4069080" cy="2971800"/>
          </a:xfrm>
          <a:prstGeom prst="rect">
            <a:avLst/>
          </a:prstGeom>
          <a:noFill/>
          <a:ln/>
        </p:spPr>
        <p:txBody>
          <a:bodyPr wrap="square" lIns="0" tIns="0" rIns="0" bIns="0" rtlCol="0" anchor="t"/>
          <a:lstStyle/>
          <a:p>
            <a:pPr marL="342900" indent="-342900">
              <a:lnSpc>
                <a:spcPct val="108000"/>
              </a:lnSpc>
              <a:spcAft>
                <a:spcPts val="1300"/>
              </a:spcAft>
              <a:buSzPct val="100000"/>
              <a:buChar char="•"/>
            </a:pPr>
            <a:r>
              <a:rPr lang="en-US" sz="1450" dirty="0">
                <a:solidFill>
                  <a:srgbClr val="EAF2FB"/>
                </a:solidFill>
                <a:latin typeface="Calibri" pitchFamily="34" charset="0"/>
                <a:ea typeface="Calibri" pitchFamily="34" charset="-122"/>
                <a:cs typeface="Calibri" pitchFamily="34" charset="-120"/>
              </a:rPr>
              <a:t>Python</a:t>
            </a:r>
            <a:endParaRPr lang="en-US" sz="1450" dirty="0"/>
          </a:p>
          <a:p>
            <a:pPr marL="342900" indent="-342900">
              <a:lnSpc>
                <a:spcPct val="108000"/>
              </a:lnSpc>
              <a:spcAft>
                <a:spcPts val="1300"/>
              </a:spcAft>
              <a:buSzPct val="100000"/>
              <a:buChar char="•"/>
            </a:pPr>
            <a:r>
              <a:rPr lang="en-US" sz="1450" dirty="0">
                <a:solidFill>
                  <a:srgbClr val="EAF2FB"/>
                </a:solidFill>
                <a:latin typeface="Calibri" pitchFamily="34" charset="0"/>
                <a:ea typeface="Calibri" pitchFamily="34" charset="-122"/>
                <a:cs typeface="Calibri" pitchFamily="34" charset="-120"/>
              </a:rPr>
              <a:t>Google Colab / Jupyter Notebook</a:t>
            </a:r>
            <a:endParaRPr lang="en-US" sz="1450" dirty="0"/>
          </a:p>
          <a:p>
            <a:pPr marL="342900" indent="-342900">
              <a:lnSpc>
                <a:spcPct val="108000"/>
              </a:lnSpc>
              <a:spcAft>
                <a:spcPts val="1300"/>
              </a:spcAft>
              <a:buSzPct val="100000"/>
              <a:buChar char="•"/>
            </a:pPr>
            <a:r>
              <a:rPr lang="en-US" sz="1450" dirty="0">
                <a:solidFill>
                  <a:srgbClr val="EAF2FB"/>
                </a:solidFill>
                <a:latin typeface="Calibri" pitchFamily="34" charset="0"/>
                <a:ea typeface="Calibri" pitchFamily="34" charset="-122"/>
                <a:cs typeface="Calibri" pitchFamily="34" charset="-120"/>
              </a:rPr>
              <a:t>Pandas &amp; NumPy</a:t>
            </a:r>
            <a:endParaRPr lang="en-US" sz="1450" dirty="0"/>
          </a:p>
          <a:p>
            <a:pPr marL="342900" indent="-342900">
              <a:lnSpc>
                <a:spcPct val="108000"/>
              </a:lnSpc>
              <a:spcAft>
                <a:spcPts val="1300"/>
              </a:spcAft>
              <a:buSzPct val="100000"/>
              <a:buChar char="•"/>
            </a:pPr>
            <a:r>
              <a:rPr lang="en-US" sz="1450" dirty="0">
                <a:solidFill>
                  <a:srgbClr val="EAF2FB"/>
                </a:solidFill>
                <a:latin typeface="Calibri" pitchFamily="34" charset="0"/>
                <a:ea typeface="Calibri" pitchFamily="34" charset="-122"/>
                <a:cs typeface="Calibri" pitchFamily="34" charset="-120"/>
              </a:rPr>
              <a:t>Scikit-learn</a:t>
            </a:r>
            <a:endParaRPr lang="en-US" sz="1450" dirty="0"/>
          </a:p>
          <a:p>
            <a:pPr marL="342900" indent="-342900">
              <a:lnSpc>
                <a:spcPct val="108000"/>
              </a:lnSpc>
              <a:spcAft>
                <a:spcPts val="1300"/>
              </a:spcAft>
              <a:buSzPct val="100000"/>
              <a:buChar char="•"/>
            </a:pPr>
            <a:r>
              <a:rPr lang="en-US" sz="1450" dirty="0">
                <a:solidFill>
                  <a:srgbClr val="EAF2FB"/>
                </a:solidFill>
                <a:latin typeface="Calibri" pitchFamily="34" charset="0"/>
                <a:ea typeface="Calibri" pitchFamily="34" charset="-122"/>
                <a:cs typeface="Calibri" pitchFamily="34" charset="-120"/>
              </a:rPr>
              <a:t>Matplotlib &amp; Seaborn</a:t>
            </a:r>
            <a:endParaRPr lang="en-US" sz="1450" dirty="0"/>
          </a:p>
          <a:p>
            <a:pPr marL="342900" indent="-342900">
              <a:lnSpc>
                <a:spcPct val="108000"/>
              </a:lnSpc>
              <a:spcAft>
                <a:spcPts val="1300"/>
              </a:spcAft>
              <a:buSzPct val="100000"/>
              <a:buChar char="•"/>
            </a:pPr>
            <a:r>
              <a:rPr lang="en-US" sz="1450" dirty="0">
                <a:solidFill>
                  <a:srgbClr val="EAF2FB"/>
                </a:solidFill>
                <a:latin typeface="Calibri" pitchFamily="34" charset="0"/>
                <a:ea typeface="Calibri" pitchFamily="34" charset="-122"/>
                <a:cs typeface="Calibri" pitchFamily="34" charset="-120"/>
              </a:rPr>
              <a:t>Joblib</a:t>
            </a:r>
            <a:endParaRPr lang="en-US" sz="1450" dirty="0"/>
          </a:p>
        </p:txBody>
      </p:sp>
      <p:sp>
        <p:nvSpPr>
          <p:cNvPr id="16" name="Text 11"/>
          <p:cNvSpPr txBox="1"/>
          <p:nvPr/>
        </p:nvSpPr>
        <p:spPr>
          <a:xfrm>
            <a:off x="10911535" y="6400800"/>
            <a:ext cx="1005840" cy="274320"/>
          </a:xfrm>
          <a:prstGeom prst="rect">
            <a:avLst/>
          </a:prstGeom>
          <a:noFill/>
          <a:ln/>
        </p:spPr>
        <p:txBody>
          <a:bodyPr wrap="square" lIns="0" tIns="0" rIns="0" bIns="0" rtlCol="0" anchor="ctr"/>
          <a:lstStyle/>
          <a:p>
            <a:pPr marL="0" indent="0" algn="r">
              <a:buNone/>
            </a:pPr>
            <a:r>
              <a:rPr lang="en-US" sz="900" dirty="0">
                <a:solidFill>
                  <a:srgbClr val="5B7A9D"/>
                </a:solidFill>
                <a:latin typeface="Calibri" pitchFamily="34" charset="0"/>
                <a:ea typeface="Calibri" pitchFamily="34" charset="-122"/>
                <a:cs typeface="Calibri" pitchFamily="34" charset="-120"/>
              </a:rPr>
              <a:t>05 / 07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2647"/>
        </a:solidFill>
        <a:effectLst/>
      </p:bgPr>
    </p:bg>
    <p:spTree>
      <p:nvGrpSpPr>
        <p:cNvPr id="1" name=""/>
        <p:cNvGrpSpPr/>
        <p:nvPr/>
      </p:nvGrpSpPr>
      <p:grpSpPr>
        <a:xfrm>
          <a:off x="0" y="0"/>
          <a:ext cx="0" cy="0"/>
          <a:chOff x="0" y="0"/>
          <a:chExt cx="0" cy="0"/>
        </a:xfrm>
      </p:grpSpPr>
      <p:sp>
        <p:nvSpPr>
          <p:cNvPr id="2" name="Shape 0"/>
          <p:cNvSpPr/>
          <p:nvPr/>
        </p:nvSpPr>
        <p:spPr>
          <a:xfrm>
            <a:off x="10637215" y="-1828800"/>
            <a:ext cx="3291840" cy="3291840"/>
          </a:xfrm>
          <a:prstGeom prst="ellipse">
            <a:avLst/>
          </a:prstGeom>
          <a:solidFill>
            <a:srgbClr val="144272"/>
          </a:solidFill>
          <a:ln/>
        </p:spPr>
      </p:sp>
      <p:sp>
        <p:nvSpPr>
          <p:cNvPr id="3" name="Shape 1"/>
          <p:cNvSpPr/>
          <p:nvPr/>
        </p:nvSpPr>
        <p:spPr>
          <a:xfrm>
            <a:off x="676656" y="612648"/>
            <a:ext cx="566928" cy="566928"/>
          </a:xfrm>
          <a:prstGeom prst="ellipse">
            <a:avLst/>
          </a:prstGeom>
          <a:solidFill>
            <a:srgbClr val="2C74B3"/>
          </a:solidFill>
          <a:ln/>
        </p:spPr>
      </p:sp>
      <p:pic>
        <p:nvPicPr>
          <p:cNvPr id="4" name="Image 0" descr="/home/claude/ppt/icons/check_white.png"/>
          <p:cNvPicPr>
            <a:picLocks noChangeAspect="1"/>
          </p:cNvPicPr>
          <p:nvPr/>
        </p:nvPicPr>
        <p:blipFill>
          <a:blip r:embed="rId3"/>
          <a:stretch>
            <a:fillRect/>
          </a:stretch>
        </p:blipFill>
        <p:spPr>
          <a:xfrm>
            <a:off x="818388" y="754380"/>
            <a:ext cx="283464" cy="283464"/>
          </a:xfrm>
          <a:prstGeom prst="rect">
            <a:avLst/>
          </a:prstGeom>
        </p:spPr>
      </p:pic>
      <p:sp>
        <p:nvSpPr>
          <p:cNvPr id="6" name="Text 3"/>
          <p:cNvSpPr txBox="1"/>
          <p:nvPr/>
        </p:nvSpPr>
        <p:spPr>
          <a:xfrm>
            <a:off x="1385316" y="571500"/>
            <a:ext cx="7315200" cy="6858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7" name="Text 4"/>
          <p:cNvSpPr txBox="1"/>
          <p:nvPr/>
        </p:nvSpPr>
        <p:spPr>
          <a:xfrm>
            <a:off x="640080" y="1691640"/>
            <a:ext cx="10881360" cy="2606040"/>
          </a:xfrm>
          <a:prstGeom prst="rect">
            <a:avLst/>
          </a:prstGeom>
          <a:noFill/>
          <a:ln/>
        </p:spPr>
        <p:txBody>
          <a:bodyPr wrap="square" lIns="0" tIns="0" rIns="0" bIns="0" rtlCol="0" anchor="t"/>
          <a:lstStyle/>
          <a:p>
            <a:pPr marL="342900" indent="-342900">
              <a:lnSpc>
                <a:spcPct val="108000"/>
              </a:lnSpc>
              <a:spcAft>
                <a:spcPts val="1300"/>
              </a:spcAft>
              <a:buSzPct val="100000"/>
              <a:buChar char="•"/>
            </a:pPr>
            <a:r>
              <a:rPr lang="en-US" sz="1500" dirty="0">
                <a:solidFill>
                  <a:srgbClr val="FFFFFF"/>
                </a:solidFill>
                <a:latin typeface="Calibri" pitchFamily="34" charset="0"/>
                <a:ea typeface="Calibri" pitchFamily="34" charset="-122"/>
                <a:cs typeface="Calibri" pitchFamily="34" charset="-120"/>
              </a:rPr>
              <a:t>Machine learning can effectively predict sports match outcomes</a:t>
            </a:r>
            <a:endParaRPr lang="en-US" sz="1500" dirty="0"/>
          </a:p>
          <a:p>
            <a:pPr marL="342900" indent="-342900">
              <a:lnSpc>
                <a:spcPct val="108000"/>
              </a:lnSpc>
              <a:spcAft>
                <a:spcPts val="1300"/>
              </a:spcAft>
              <a:buSzPct val="100000"/>
              <a:buChar char="•"/>
            </a:pPr>
            <a:r>
              <a:rPr lang="en-US" sz="1500" dirty="0">
                <a:solidFill>
                  <a:srgbClr val="FFFFFF"/>
                </a:solidFill>
                <a:latin typeface="Calibri" pitchFamily="34" charset="0"/>
                <a:ea typeface="Calibri" pitchFamily="34" charset="-122"/>
                <a:cs typeface="Calibri" pitchFamily="34" charset="-120"/>
              </a:rPr>
              <a:t>Historical data reveals patterns related to team performance</a:t>
            </a:r>
            <a:endParaRPr lang="en-US" sz="1500" dirty="0"/>
          </a:p>
          <a:p>
            <a:pPr marL="342900" indent="-342900">
              <a:lnSpc>
                <a:spcPct val="108000"/>
              </a:lnSpc>
              <a:spcAft>
                <a:spcPts val="1300"/>
              </a:spcAft>
              <a:buSzPct val="100000"/>
              <a:buChar char="•"/>
            </a:pPr>
            <a:r>
              <a:rPr lang="en-US" sz="1500" dirty="0">
                <a:solidFill>
                  <a:srgbClr val="FFFFFF"/>
                </a:solidFill>
                <a:latin typeface="Calibri" pitchFamily="34" charset="0"/>
                <a:ea typeface="Calibri" pitchFamily="34" charset="-122"/>
                <a:cs typeface="Calibri" pitchFamily="34" charset="-120"/>
              </a:rPr>
              <a:t>Logistic Regression offers a simple classification approach</a:t>
            </a:r>
            <a:endParaRPr lang="en-US" sz="1500" dirty="0"/>
          </a:p>
          <a:p>
            <a:pPr marL="342900" indent="-342900">
              <a:lnSpc>
                <a:spcPct val="108000"/>
              </a:lnSpc>
              <a:spcAft>
                <a:spcPts val="1300"/>
              </a:spcAft>
              <a:buSzPct val="100000"/>
              <a:buChar char="•"/>
            </a:pPr>
            <a:r>
              <a:rPr lang="en-US" sz="1500" dirty="0">
                <a:solidFill>
                  <a:srgbClr val="FFFFFF"/>
                </a:solidFill>
                <a:latin typeface="Calibri" pitchFamily="34" charset="0"/>
                <a:ea typeface="Calibri" pitchFamily="34" charset="-122"/>
                <a:cs typeface="Calibri" pitchFamily="34" charset="-120"/>
              </a:rPr>
              <a:t>Random Forest captures more complex relationships in data</a:t>
            </a:r>
            <a:endParaRPr lang="en-US" sz="1500" dirty="0"/>
          </a:p>
          <a:p>
            <a:pPr marL="342900" indent="-342900">
              <a:lnSpc>
                <a:spcPct val="108000"/>
              </a:lnSpc>
              <a:spcAft>
                <a:spcPts val="1300"/>
              </a:spcAft>
              <a:buSzPct val="100000"/>
              <a:buChar char="•"/>
            </a:pPr>
            <a:r>
              <a:rPr lang="en-US" sz="1500" dirty="0">
                <a:solidFill>
                  <a:srgbClr val="FFFFFF"/>
                </a:solidFill>
                <a:latin typeface="Calibri" pitchFamily="34" charset="0"/>
                <a:ea typeface="Calibri" pitchFamily="34" charset="-122"/>
                <a:cs typeface="Calibri" pitchFamily="34" charset="-120"/>
              </a:rPr>
              <a:t>Comparing both models identifies the more suitable one</a:t>
            </a:r>
            <a:endParaRPr lang="en-US" sz="1500" dirty="0"/>
          </a:p>
          <a:p>
            <a:pPr marL="342900" indent="-342900">
              <a:lnSpc>
                <a:spcPct val="108000"/>
              </a:lnSpc>
              <a:spcAft>
                <a:spcPts val="1300"/>
              </a:spcAft>
              <a:buSzPct val="100000"/>
              <a:buChar char="•"/>
            </a:pPr>
            <a:r>
              <a:rPr lang="en-US" sz="1500" dirty="0">
                <a:solidFill>
                  <a:srgbClr val="FFFFFF"/>
                </a:solidFill>
                <a:latin typeface="Calibri" pitchFamily="34" charset="0"/>
                <a:ea typeface="Calibri" pitchFamily="34" charset="-122"/>
                <a:cs typeface="Calibri" pitchFamily="34" charset="-120"/>
              </a:rPr>
              <a:t>Demonstrates a practical use of ML in sports analytics</a:t>
            </a:r>
            <a:endParaRPr lang="en-US" sz="1500" dirty="0"/>
          </a:p>
        </p:txBody>
      </p:sp>
      <p:sp>
        <p:nvSpPr>
          <p:cNvPr id="8" name="Shape 5"/>
          <p:cNvSpPr/>
          <p:nvPr/>
        </p:nvSpPr>
        <p:spPr>
          <a:xfrm>
            <a:off x="640080" y="4434840"/>
            <a:ext cx="10908792" cy="1691640"/>
          </a:xfrm>
          <a:prstGeom prst="roundRect">
            <a:avLst>
              <a:gd name="adj" fmla="val 5405"/>
            </a:avLst>
          </a:prstGeom>
          <a:solidFill>
            <a:srgbClr val="144272"/>
          </a:solidFill>
          <a:ln/>
        </p:spPr>
      </p:sp>
      <p:sp>
        <p:nvSpPr>
          <p:cNvPr id="9" name="Text 6"/>
          <p:cNvSpPr txBox="1"/>
          <p:nvPr/>
        </p:nvSpPr>
        <p:spPr>
          <a:xfrm>
            <a:off x="960120" y="4617720"/>
            <a:ext cx="5486400" cy="274320"/>
          </a:xfrm>
          <a:prstGeom prst="rect">
            <a:avLst/>
          </a:prstGeom>
          <a:noFill/>
          <a:ln/>
        </p:spPr>
        <p:txBody>
          <a:bodyPr wrap="square" lIns="0" tIns="0" rIns="0" bIns="0" rtlCol="0" anchor="ctr"/>
          <a:lstStyle/>
          <a:p>
            <a:pPr marL="0" indent="0">
              <a:buNone/>
            </a:pPr>
            <a:r>
              <a:rPr lang="en-US" sz="1050" b="1" kern="0" spc="150" dirty="0">
                <a:solidFill>
                  <a:srgbClr val="F2A93B"/>
                </a:solidFill>
                <a:latin typeface="Calibri" pitchFamily="34" charset="0"/>
                <a:ea typeface="Calibri" pitchFamily="34" charset="-122"/>
                <a:cs typeface="Calibri" pitchFamily="34" charset="-120"/>
              </a:rPr>
              <a:t>PROJECT WORKFLOW</a:t>
            </a:r>
            <a:endParaRPr lang="en-US" sz="1050" dirty="0"/>
          </a:p>
        </p:txBody>
      </p:sp>
      <p:sp>
        <p:nvSpPr>
          <p:cNvPr id="10" name="Shape 7"/>
          <p:cNvSpPr/>
          <p:nvPr/>
        </p:nvSpPr>
        <p:spPr>
          <a:xfrm>
            <a:off x="1659636" y="4869180"/>
            <a:ext cx="777240" cy="777240"/>
          </a:xfrm>
          <a:prstGeom prst="ellipse">
            <a:avLst/>
          </a:prstGeom>
          <a:solidFill>
            <a:srgbClr val="2C74B3"/>
          </a:solidFill>
          <a:ln/>
        </p:spPr>
      </p:sp>
      <p:pic>
        <p:nvPicPr>
          <p:cNvPr id="11" name="Image 1" descr="/home/claude/ppt/icons/data_white.png"/>
          <p:cNvPicPr>
            <a:picLocks noChangeAspect="1"/>
          </p:cNvPicPr>
          <p:nvPr/>
        </p:nvPicPr>
        <p:blipFill>
          <a:blip r:embed="rId4"/>
          <a:stretch>
            <a:fillRect/>
          </a:stretch>
        </p:blipFill>
        <p:spPr>
          <a:xfrm>
            <a:off x="1853946" y="5063490"/>
            <a:ext cx="388620" cy="388620"/>
          </a:xfrm>
          <a:prstGeom prst="rect">
            <a:avLst/>
          </a:prstGeom>
        </p:spPr>
      </p:pic>
      <p:sp>
        <p:nvSpPr>
          <p:cNvPr id="12" name="Text 8"/>
          <p:cNvSpPr txBox="1"/>
          <p:nvPr/>
        </p:nvSpPr>
        <p:spPr>
          <a:xfrm>
            <a:off x="950976" y="5760720"/>
            <a:ext cx="2194560" cy="548640"/>
          </a:xfrm>
          <a:prstGeom prst="rect">
            <a:avLst/>
          </a:prstGeom>
          <a:noFill/>
          <a:ln/>
        </p:spPr>
        <p:txBody>
          <a:bodyPr wrap="square" lIns="0" tIns="0" rIns="0" bIns="0"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Data</a:t>
            </a:r>
            <a:endParaRPr lang="en-US" sz="1150" dirty="0"/>
          </a:p>
        </p:txBody>
      </p:sp>
      <p:sp>
        <p:nvSpPr>
          <p:cNvPr id="13" name="Shape 9"/>
          <p:cNvSpPr/>
          <p:nvPr/>
        </p:nvSpPr>
        <p:spPr>
          <a:xfrm>
            <a:off x="3250692" y="5138928"/>
            <a:ext cx="292608" cy="237744"/>
          </a:xfrm>
          <a:prstGeom prst="chevron">
            <a:avLst/>
          </a:prstGeom>
          <a:solidFill>
            <a:srgbClr val="F2A93B"/>
          </a:solidFill>
          <a:ln/>
        </p:spPr>
      </p:sp>
      <p:sp>
        <p:nvSpPr>
          <p:cNvPr id="14" name="Shape 10"/>
          <p:cNvSpPr/>
          <p:nvPr/>
        </p:nvSpPr>
        <p:spPr>
          <a:xfrm>
            <a:off x="4357116" y="4869180"/>
            <a:ext cx="777240" cy="777240"/>
          </a:xfrm>
          <a:prstGeom prst="ellipse">
            <a:avLst/>
          </a:prstGeom>
          <a:solidFill>
            <a:srgbClr val="2C74B3"/>
          </a:solidFill>
          <a:ln/>
        </p:spPr>
      </p:sp>
      <p:pic>
        <p:nvPicPr>
          <p:cNvPr id="15" name="Image 2" descr="/home/claude/ppt/icons/cogs_white.png"/>
          <p:cNvPicPr>
            <a:picLocks noChangeAspect="1"/>
          </p:cNvPicPr>
          <p:nvPr/>
        </p:nvPicPr>
        <p:blipFill>
          <a:blip r:embed="rId5"/>
          <a:stretch>
            <a:fillRect/>
          </a:stretch>
        </p:blipFill>
        <p:spPr>
          <a:xfrm>
            <a:off x="4551426" y="5063490"/>
            <a:ext cx="388620" cy="388620"/>
          </a:xfrm>
          <a:prstGeom prst="rect">
            <a:avLst/>
          </a:prstGeom>
        </p:spPr>
      </p:pic>
      <p:sp>
        <p:nvSpPr>
          <p:cNvPr id="16" name="Text 11"/>
          <p:cNvSpPr txBox="1"/>
          <p:nvPr/>
        </p:nvSpPr>
        <p:spPr>
          <a:xfrm>
            <a:off x="3648456" y="5760720"/>
            <a:ext cx="2194560" cy="548640"/>
          </a:xfrm>
          <a:prstGeom prst="rect">
            <a:avLst/>
          </a:prstGeom>
          <a:noFill/>
          <a:ln/>
        </p:spPr>
        <p:txBody>
          <a:bodyPr wrap="square" lIns="0" tIns="0" rIns="0" bIns="0"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Model</a:t>
            </a:r>
            <a:endParaRPr lang="en-US" sz="1150" dirty="0"/>
          </a:p>
        </p:txBody>
      </p:sp>
      <p:sp>
        <p:nvSpPr>
          <p:cNvPr id="17" name="Shape 12"/>
          <p:cNvSpPr/>
          <p:nvPr/>
        </p:nvSpPr>
        <p:spPr>
          <a:xfrm>
            <a:off x="5948172" y="5138928"/>
            <a:ext cx="292608" cy="237744"/>
          </a:xfrm>
          <a:prstGeom prst="chevron">
            <a:avLst/>
          </a:prstGeom>
          <a:solidFill>
            <a:srgbClr val="F2A93B"/>
          </a:solidFill>
          <a:ln/>
        </p:spPr>
      </p:sp>
      <p:sp>
        <p:nvSpPr>
          <p:cNvPr id="18" name="Shape 13"/>
          <p:cNvSpPr/>
          <p:nvPr/>
        </p:nvSpPr>
        <p:spPr>
          <a:xfrm>
            <a:off x="7054596" y="4869180"/>
            <a:ext cx="777240" cy="777240"/>
          </a:xfrm>
          <a:prstGeom prst="ellipse">
            <a:avLst/>
          </a:prstGeom>
          <a:solidFill>
            <a:srgbClr val="2C74B3"/>
          </a:solidFill>
          <a:ln/>
        </p:spPr>
      </p:sp>
      <p:pic>
        <p:nvPicPr>
          <p:cNvPr id="19" name="Image 3" descr="/home/claude/ppt/icons/balance_white.png"/>
          <p:cNvPicPr>
            <a:picLocks noChangeAspect="1"/>
          </p:cNvPicPr>
          <p:nvPr/>
        </p:nvPicPr>
        <p:blipFill>
          <a:blip r:embed="rId6"/>
          <a:stretch>
            <a:fillRect/>
          </a:stretch>
        </p:blipFill>
        <p:spPr>
          <a:xfrm>
            <a:off x="7248906" y="5063490"/>
            <a:ext cx="388620" cy="388620"/>
          </a:xfrm>
          <a:prstGeom prst="rect">
            <a:avLst/>
          </a:prstGeom>
        </p:spPr>
      </p:pic>
      <p:sp>
        <p:nvSpPr>
          <p:cNvPr id="20" name="Text 14"/>
          <p:cNvSpPr txBox="1"/>
          <p:nvPr/>
        </p:nvSpPr>
        <p:spPr>
          <a:xfrm>
            <a:off x="6345936" y="5760720"/>
            <a:ext cx="2194560" cy="548640"/>
          </a:xfrm>
          <a:prstGeom prst="rect">
            <a:avLst/>
          </a:prstGeom>
          <a:noFill/>
          <a:ln/>
        </p:spPr>
        <p:txBody>
          <a:bodyPr wrap="square" lIns="0" tIns="0" rIns="0" bIns="0"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Evaluation</a:t>
            </a:r>
            <a:endParaRPr lang="en-US" sz="1150" dirty="0"/>
          </a:p>
        </p:txBody>
      </p:sp>
      <p:sp>
        <p:nvSpPr>
          <p:cNvPr id="21" name="Shape 15"/>
          <p:cNvSpPr/>
          <p:nvPr/>
        </p:nvSpPr>
        <p:spPr>
          <a:xfrm>
            <a:off x="8645652" y="5138928"/>
            <a:ext cx="292608" cy="237744"/>
          </a:xfrm>
          <a:prstGeom prst="chevron">
            <a:avLst/>
          </a:prstGeom>
          <a:solidFill>
            <a:srgbClr val="F2A93B"/>
          </a:solidFill>
          <a:ln/>
        </p:spPr>
      </p:sp>
      <p:sp>
        <p:nvSpPr>
          <p:cNvPr id="22" name="Shape 16"/>
          <p:cNvSpPr/>
          <p:nvPr/>
        </p:nvSpPr>
        <p:spPr>
          <a:xfrm>
            <a:off x="9752076" y="4869180"/>
            <a:ext cx="777240" cy="777240"/>
          </a:xfrm>
          <a:prstGeom prst="ellipse">
            <a:avLst/>
          </a:prstGeom>
          <a:solidFill>
            <a:srgbClr val="2C74B3"/>
          </a:solidFill>
          <a:ln/>
        </p:spPr>
      </p:sp>
      <p:pic>
        <p:nvPicPr>
          <p:cNvPr id="23" name="Image 4" descr="/home/claude/ppt/icons/target_white.png"/>
          <p:cNvPicPr>
            <a:picLocks noChangeAspect="1"/>
          </p:cNvPicPr>
          <p:nvPr/>
        </p:nvPicPr>
        <p:blipFill>
          <a:blip r:embed="rId7"/>
          <a:stretch>
            <a:fillRect/>
          </a:stretch>
        </p:blipFill>
        <p:spPr>
          <a:xfrm>
            <a:off x="9946386" y="5063490"/>
            <a:ext cx="388620" cy="388620"/>
          </a:xfrm>
          <a:prstGeom prst="rect">
            <a:avLst/>
          </a:prstGeom>
        </p:spPr>
      </p:pic>
      <p:sp>
        <p:nvSpPr>
          <p:cNvPr id="24" name="Text 17"/>
          <p:cNvSpPr txBox="1"/>
          <p:nvPr/>
        </p:nvSpPr>
        <p:spPr>
          <a:xfrm>
            <a:off x="9043416" y="5760720"/>
            <a:ext cx="2194560" cy="548640"/>
          </a:xfrm>
          <a:prstGeom prst="rect">
            <a:avLst/>
          </a:prstGeom>
          <a:noFill/>
          <a:ln/>
        </p:spPr>
        <p:txBody>
          <a:bodyPr wrap="square" lIns="0" tIns="0" rIns="0" bIns="0"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Prediction</a:t>
            </a:r>
            <a:endParaRPr lang="en-US" sz="1150" dirty="0"/>
          </a:p>
        </p:txBody>
      </p:sp>
      <p:sp>
        <p:nvSpPr>
          <p:cNvPr id="25" name="Text 18"/>
          <p:cNvSpPr txBox="1"/>
          <p:nvPr/>
        </p:nvSpPr>
        <p:spPr>
          <a:xfrm>
            <a:off x="10911535" y="6400800"/>
            <a:ext cx="1005840" cy="274320"/>
          </a:xfrm>
          <a:prstGeom prst="rect">
            <a:avLst/>
          </a:prstGeom>
          <a:noFill/>
          <a:ln/>
        </p:spPr>
        <p:txBody>
          <a:bodyPr wrap="square" lIns="0" tIns="0" rIns="0" bIns="0" rtlCol="0" anchor="ctr"/>
          <a:lstStyle/>
          <a:p>
            <a:pPr marL="0" indent="0" algn="r">
              <a:buNone/>
            </a:pPr>
            <a:r>
              <a:rPr lang="en-US" sz="900" dirty="0">
                <a:solidFill>
                  <a:srgbClr val="5B7A9D"/>
                </a:solidFill>
                <a:latin typeface="Calibri" pitchFamily="34" charset="0"/>
                <a:ea typeface="Calibri" pitchFamily="34" charset="-122"/>
                <a:cs typeface="Calibri" pitchFamily="34" charset="-120"/>
              </a:rPr>
              <a:t>06 / 07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2647"/>
        </a:solidFill>
        <a:effectLst/>
      </p:bgPr>
    </p:bg>
    <p:spTree>
      <p:nvGrpSpPr>
        <p:cNvPr id="1" name=""/>
        <p:cNvGrpSpPr/>
        <p:nvPr/>
      </p:nvGrpSpPr>
      <p:grpSpPr>
        <a:xfrm>
          <a:off x="0" y="0"/>
          <a:ext cx="0" cy="0"/>
          <a:chOff x="0" y="0"/>
          <a:chExt cx="0" cy="0"/>
        </a:xfrm>
      </p:grpSpPr>
      <p:sp>
        <p:nvSpPr>
          <p:cNvPr id="2" name="Shape 0"/>
          <p:cNvSpPr/>
          <p:nvPr/>
        </p:nvSpPr>
        <p:spPr>
          <a:xfrm>
            <a:off x="-2194560" y="-2377440"/>
            <a:ext cx="4754880" cy="4754880"/>
          </a:xfrm>
          <a:prstGeom prst="ellipse">
            <a:avLst/>
          </a:prstGeom>
          <a:solidFill>
            <a:srgbClr val="144272"/>
          </a:solidFill>
          <a:ln/>
        </p:spPr>
      </p:sp>
      <p:sp>
        <p:nvSpPr>
          <p:cNvPr id="3" name="Shape 1"/>
          <p:cNvSpPr/>
          <p:nvPr/>
        </p:nvSpPr>
        <p:spPr>
          <a:xfrm>
            <a:off x="676656" y="612648"/>
            <a:ext cx="566928" cy="566928"/>
          </a:xfrm>
          <a:prstGeom prst="ellipse">
            <a:avLst/>
          </a:prstGeom>
          <a:solidFill>
            <a:srgbClr val="2C74B3"/>
          </a:solidFill>
          <a:ln/>
        </p:spPr>
      </p:sp>
      <p:pic>
        <p:nvPicPr>
          <p:cNvPr id="4" name="Image 0" descr="/home/claude/ppt/icons/rocket_white.png"/>
          <p:cNvPicPr>
            <a:picLocks noChangeAspect="1"/>
          </p:cNvPicPr>
          <p:nvPr/>
        </p:nvPicPr>
        <p:blipFill>
          <a:blip r:embed="rId3"/>
          <a:stretch>
            <a:fillRect/>
          </a:stretch>
        </p:blipFill>
        <p:spPr>
          <a:xfrm>
            <a:off x="804215" y="740207"/>
            <a:ext cx="311810" cy="311810"/>
          </a:xfrm>
          <a:prstGeom prst="rect">
            <a:avLst/>
          </a:prstGeom>
        </p:spPr>
      </p:pic>
      <p:sp>
        <p:nvSpPr>
          <p:cNvPr id="5" name="Text 2"/>
          <p:cNvSpPr txBox="1"/>
          <p:nvPr/>
        </p:nvSpPr>
        <p:spPr>
          <a:xfrm>
            <a:off x="1417320" y="475488"/>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WHAT COMES NEXT</a:t>
            </a:r>
            <a:endParaRPr lang="en-US" sz="1200" dirty="0"/>
          </a:p>
        </p:txBody>
      </p:sp>
      <p:sp>
        <p:nvSpPr>
          <p:cNvPr id="6" name="Text 3"/>
          <p:cNvSpPr txBox="1"/>
          <p:nvPr/>
        </p:nvSpPr>
        <p:spPr>
          <a:xfrm>
            <a:off x="1417320" y="713232"/>
            <a:ext cx="7315200" cy="6858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Future Scope</a:t>
            </a:r>
            <a:endParaRPr lang="en-US" sz="3400" dirty="0"/>
          </a:p>
        </p:txBody>
      </p:sp>
      <p:sp>
        <p:nvSpPr>
          <p:cNvPr id="7" name="Text 4"/>
          <p:cNvSpPr txBox="1"/>
          <p:nvPr/>
        </p:nvSpPr>
        <p:spPr>
          <a:xfrm>
            <a:off x="640080" y="1691640"/>
            <a:ext cx="5257800" cy="2377440"/>
          </a:xfrm>
          <a:prstGeom prst="rect">
            <a:avLst/>
          </a:prstGeom>
          <a:noFill/>
          <a:ln/>
        </p:spPr>
        <p:txBody>
          <a:bodyPr wrap="square" lIns="0" tIns="0" rIns="0" bIns="0" rtlCol="0" anchor="t"/>
          <a:lstStyle/>
          <a:p>
            <a:pPr marL="342900" indent="-342900">
              <a:lnSpc>
                <a:spcPct val="108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Use larger and more recent datasets</a:t>
            </a:r>
            <a:endParaRPr lang="en-US" sz="1400" dirty="0"/>
          </a:p>
          <a:p>
            <a:pPr marL="342900" indent="-342900">
              <a:lnSpc>
                <a:spcPct val="108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Include player performance and team rankings</a:t>
            </a:r>
            <a:endParaRPr lang="en-US" sz="1400" dirty="0"/>
          </a:p>
          <a:p>
            <a:pPr marL="342900" indent="-342900">
              <a:lnSpc>
                <a:spcPct val="108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Consider weather and pitch conditions</a:t>
            </a:r>
            <a:endParaRPr lang="en-US" sz="1400" dirty="0"/>
          </a:p>
          <a:p>
            <a:pPr marL="342900" indent="-342900">
              <a:lnSpc>
                <a:spcPct val="108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Add factors such as injuries and player availability</a:t>
            </a:r>
            <a:endParaRPr lang="en-US" sz="1400" dirty="0"/>
          </a:p>
        </p:txBody>
      </p:sp>
      <p:sp>
        <p:nvSpPr>
          <p:cNvPr id="8" name="Text 5"/>
          <p:cNvSpPr txBox="1"/>
          <p:nvPr/>
        </p:nvSpPr>
        <p:spPr>
          <a:xfrm>
            <a:off x="6172200" y="1691640"/>
            <a:ext cx="5394960" cy="2377440"/>
          </a:xfrm>
          <a:prstGeom prst="rect">
            <a:avLst/>
          </a:prstGeom>
          <a:noFill/>
          <a:ln/>
        </p:spPr>
        <p:txBody>
          <a:bodyPr wrap="square" lIns="0" tIns="0" rIns="0" bIns="0" rtlCol="0" anchor="t"/>
          <a:lstStyle/>
          <a:p>
            <a:pPr marL="342900" indent="-342900">
              <a:lnSpc>
                <a:spcPct val="108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Experiment with advanced models like XGBoost &amp; Neural Networks</a:t>
            </a:r>
            <a:endParaRPr lang="en-US" sz="1400" dirty="0"/>
          </a:p>
          <a:p>
            <a:pPr marL="342900" indent="-342900">
              <a:lnSpc>
                <a:spcPct val="108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Develop a web/mobile app for real-time predictions</a:t>
            </a:r>
            <a:endParaRPr lang="en-US" sz="1400" dirty="0"/>
          </a:p>
          <a:p>
            <a:pPr marL="342900" indent="-342900">
              <a:lnSpc>
                <a:spcPct val="108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Continuously update and retrain the model with new data</a:t>
            </a:r>
            <a:endParaRPr lang="en-US" sz="1400" dirty="0"/>
          </a:p>
        </p:txBody>
      </p:sp>
      <p:sp>
        <p:nvSpPr>
          <p:cNvPr id="9" name="Shape 6"/>
          <p:cNvSpPr/>
          <p:nvPr/>
        </p:nvSpPr>
        <p:spPr>
          <a:xfrm>
            <a:off x="640080" y="4526280"/>
            <a:ext cx="10908792" cy="1691640"/>
          </a:xfrm>
          <a:prstGeom prst="roundRect">
            <a:avLst>
              <a:gd name="adj" fmla="val 6486"/>
            </a:avLst>
          </a:prstGeom>
          <a:solidFill>
            <a:srgbClr val="144272"/>
          </a:solidFill>
          <a:ln/>
        </p:spPr>
      </p:sp>
      <p:sp>
        <p:nvSpPr>
          <p:cNvPr id="12" name="Text 8"/>
          <p:cNvSpPr txBox="1"/>
          <p:nvPr/>
        </p:nvSpPr>
        <p:spPr>
          <a:xfrm>
            <a:off x="4837540" y="5052060"/>
            <a:ext cx="54864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Thank You</a:t>
            </a:r>
            <a:endParaRPr lang="en-US" sz="2800" dirty="0"/>
          </a:p>
        </p:txBody>
      </p:sp>
      <p:sp>
        <p:nvSpPr>
          <p:cNvPr id="14" name="Text 10"/>
          <p:cNvSpPr txBox="1"/>
          <p:nvPr/>
        </p:nvSpPr>
        <p:spPr>
          <a:xfrm>
            <a:off x="10911535" y="6400800"/>
            <a:ext cx="1005840" cy="274320"/>
          </a:xfrm>
          <a:prstGeom prst="rect">
            <a:avLst/>
          </a:prstGeom>
          <a:noFill/>
          <a:ln/>
        </p:spPr>
        <p:txBody>
          <a:bodyPr wrap="square" lIns="0" tIns="0" rIns="0" bIns="0" rtlCol="0" anchor="ctr"/>
          <a:lstStyle/>
          <a:p>
            <a:pPr marL="0" indent="0" algn="r">
              <a:buNone/>
            </a:pPr>
            <a:r>
              <a:rPr lang="en-US" sz="900" dirty="0">
                <a:solidFill>
                  <a:srgbClr val="5B7A9D"/>
                </a:solidFill>
                <a:latin typeface="Calibri" pitchFamily="34" charset="0"/>
                <a:ea typeface="Calibri" pitchFamily="34" charset="-122"/>
                <a:cs typeface="Calibri" pitchFamily="34" charset="-120"/>
              </a:rPr>
              <a:t>07 / 07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515</Words>
  <Application>Microsoft Office PowerPoint</Application>
  <PresentationFormat>Widescreen</PresentationFormat>
  <Paragraphs>75</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Venkat Sai Krishna</cp:lastModifiedBy>
  <cp:revision>5</cp:revision>
  <dcterms:created xsi:type="dcterms:W3CDTF">2026-08-31T03:05:30Z</dcterms:created>
  <dcterms:modified xsi:type="dcterms:W3CDTF">2026-09-26T16:11:59Z</dcterms:modified>
</cp:coreProperties>
</file>