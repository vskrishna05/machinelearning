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371600"/>
            <a:ext cx="3840480" cy="3840480"/>
          </a:xfrm>
          <a:prstGeom prst="ellipse">
            <a:avLst/>
          </a:prstGeom>
          <a:solidFill>
            <a:srgbClr val="22D3EE">
              <a:alpha val="9912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1371600"/>
            <a:ext cx="2011680" cy="2011680"/>
          </a:xfrm>
          <a:prstGeom prst="ellipse">
            <a:avLst/>
          </a:prstGeom>
          <a:solidFill>
            <a:srgbClr val="0E7490">
              <a:alpha val="99100"/>
            </a:srgbClr>
          </a:solidFill>
          <a:ln/>
        </p:spPr>
      </p:sp>
      <p:pic>
        <p:nvPicPr>
          <p:cNvPr id="4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15" y="-129860"/>
            <a:ext cx="2563953" cy="1899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" y="21259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Outcome Prediction Using Logistic Regression and Random Forest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6949440" cy="1417320"/>
          </a:xfrm>
          <a:prstGeom prst="roundRect">
            <a:avLst>
              <a:gd name="adj" fmla="val 9032"/>
            </a:avLst>
          </a:prstGeom>
          <a:solidFill>
            <a:srgbClr val="F7FAFC"/>
          </a:solidFill>
          <a:ln w="12700">
            <a:solidFill>
              <a:srgbClr val="DCE7E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4617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0E749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617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55046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45902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43100" y="4724541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2520030027
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Ajai Manikanta</a:t>
            </a: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2520030320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12700">
            <a:solidFill>
              <a:srgbClr val="DC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6" name="Image 0" descr="/home/claude/work/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180941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237744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winner of a cricket match, with a win probability for each team, from historical team and match data. A supervised classification task across TEST, ODI, T20 and IPL.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12700">
            <a:solidFill>
              <a:srgbClr val="DC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673352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11" name="Image 1" descr="/home/claude/work/assets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15" y="180941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733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important?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0528" y="237744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many interacting factors: team strength, recent form, venue and toss. A data-driven model gives a consistent, explainable estimate instead of guesswork.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12700">
            <a:solidFill>
              <a:srgbClr val="DC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96512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16" name="Image 2" descr="/home/claude/work/assets/icon_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5" y="423257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96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use it?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" y="480060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fans, analysts and commentators, and students or researchers working on sports analytics.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12700">
            <a:solidFill>
              <a:srgbClr val="DCE7EB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096512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21" name="Image 3" descr="/home/claude/work/assets/icon_tro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015" y="423257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96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expected output?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10528" y="4800600"/>
            <a:ext cx="47640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winner, the win probability of each team, and the key factors behind the prediction.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27462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Cricsheet – International &amp; IPL Cricket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Downloaded match data in JSON format and extracted for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winner (winner)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280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FEATURES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89320" y="160020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STRENGTH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89320" y="1874520"/>
            <a:ext cx="1356970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874520"/>
            <a:ext cx="1356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difference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74306" y="1874520"/>
            <a:ext cx="1750162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11" name="Text 8"/>
          <p:cNvSpPr/>
          <p:nvPr/>
        </p:nvSpPr>
        <p:spPr>
          <a:xfrm>
            <a:off x="7474306" y="1874520"/>
            <a:ext cx="1750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difference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225856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&amp; HISTORY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2532888"/>
            <a:ext cx="1986077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2532888"/>
            <a:ext cx="198607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form difference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103413" y="2532888"/>
            <a:ext cx="2064715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16" name="Text 13"/>
          <p:cNvSpPr/>
          <p:nvPr/>
        </p:nvSpPr>
        <p:spPr>
          <a:xfrm>
            <a:off x="8103413" y="2532888"/>
            <a:ext cx="20647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statistics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89320" y="291693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&amp; BOWLING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19125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191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runs difference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46136" y="3191256"/>
            <a:ext cx="2064715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21" name="Text 18"/>
          <p:cNvSpPr/>
          <p:nvPr/>
        </p:nvSpPr>
        <p:spPr>
          <a:xfrm>
            <a:off x="7946136" y="3191256"/>
            <a:ext cx="20647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wickets difference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89320" y="3520440"/>
            <a:ext cx="1750162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3520440"/>
            <a:ext cx="17501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 difference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89320" y="390448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CONTEXT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89320" y="4178808"/>
            <a:ext cx="2221992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26" name="Text 23"/>
          <p:cNvSpPr/>
          <p:nvPr/>
        </p:nvSpPr>
        <p:spPr>
          <a:xfrm>
            <a:off x="5989320" y="4178808"/>
            <a:ext cx="2221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win-rate difference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339328" y="4178808"/>
            <a:ext cx="1907438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28" name="Text 25"/>
          <p:cNvSpPr/>
          <p:nvPr/>
        </p:nvSpPr>
        <p:spPr>
          <a:xfrm>
            <a:off x="8339328" y="4178808"/>
            <a:ext cx="19074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Toss-related features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89320" y="4507992"/>
            <a:ext cx="2221992" cy="292608"/>
          </a:xfrm>
          <a:prstGeom prst="roundRect">
            <a:avLst>
              <a:gd name="adj" fmla="val 50000"/>
            </a:avLst>
          </a:prstGeom>
          <a:solidFill>
            <a:srgbClr val="F1F9FB"/>
          </a:solidFill>
          <a:ln/>
        </p:spPr>
      </p:sp>
      <p:sp>
        <p:nvSpPr>
          <p:cNvPr id="30" name="Text 27"/>
          <p:cNvSpPr/>
          <p:nvPr/>
        </p:nvSpPr>
        <p:spPr>
          <a:xfrm>
            <a:off x="5989320" y="4507992"/>
            <a:ext cx="2221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Batting-first information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2651760" cy="841248"/>
          </a:xfrm>
          <a:prstGeom prst="roundRect">
            <a:avLst>
              <a:gd name="adj" fmla="val 10870"/>
            </a:avLst>
          </a:prstGeom>
          <a:solidFill>
            <a:srgbClr val="0E749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56052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85800" y="5934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85800" y="61539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894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383280" y="5532120"/>
            <a:ext cx="2651760" cy="841248"/>
          </a:xfrm>
          <a:prstGeom prst="roundRect">
            <a:avLst>
              <a:gd name="adj" fmla="val 10870"/>
            </a:avLst>
          </a:prstGeom>
          <a:solidFill>
            <a:srgbClr val="0E7490"/>
          </a:solidFill>
          <a:ln/>
        </p:spPr>
      </p:sp>
      <p:sp>
        <p:nvSpPr>
          <p:cNvPr id="36" name="Text 33"/>
          <p:cNvSpPr/>
          <p:nvPr/>
        </p:nvSpPr>
        <p:spPr>
          <a:xfrm>
            <a:off x="3520440" y="56052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3520440" y="5934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520440" y="61539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2,571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217920" y="5532120"/>
            <a:ext cx="2651760" cy="841248"/>
          </a:xfrm>
          <a:prstGeom prst="roundRect">
            <a:avLst>
              <a:gd name="adj" fmla="val 10870"/>
            </a:avLst>
          </a:prstGeom>
          <a:solidFill>
            <a:srgbClr val="0E7490"/>
          </a:solidFill>
          <a:ln/>
        </p:spPr>
      </p:sp>
      <p:sp>
        <p:nvSpPr>
          <p:cNvPr id="40" name="Text 37"/>
          <p:cNvSpPr/>
          <p:nvPr/>
        </p:nvSpPr>
        <p:spPr>
          <a:xfrm>
            <a:off x="6355080" y="56052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6355080" y="5934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355080" y="61539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3,539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9052560" y="5532120"/>
            <a:ext cx="2651760" cy="841248"/>
          </a:xfrm>
          <a:prstGeom prst="roundRect">
            <a:avLst>
              <a:gd name="adj" fmla="val 10870"/>
            </a:avLst>
          </a:prstGeom>
          <a:solidFill>
            <a:srgbClr val="0E7490"/>
          </a:solidFill>
          <a:ln/>
        </p:spPr>
      </p:sp>
      <p:sp>
        <p:nvSpPr>
          <p:cNvPr id="44" name="Text 41"/>
          <p:cNvSpPr/>
          <p:nvPr/>
        </p:nvSpPr>
        <p:spPr>
          <a:xfrm>
            <a:off x="9189720" y="56052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</a:t>
            </a:r>
            <a:endParaRPr lang="en-US" sz="1700" dirty="0"/>
          </a:p>
        </p:txBody>
      </p:sp>
      <p:sp>
        <p:nvSpPr>
          <p:cNvPr id="45" name="Text 42"/>
          <p:cNvSpPr/>
          <p:nvPr/>
        </p:nvSpPr>
        <p:spPr>
          <a:xfrm>
            <a:off x="9189720" y="59344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189720" y="61539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1,243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5352" y="1207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190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719072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719072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0" name="Image 0" descr="/home/claude/work/assets/shot_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81" y="1920240"/>
            <a:ext cx="2132879" cy="3703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806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records and features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1572768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9944" y="17190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1719072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5" name="Shape 12"/>
          <p:cNvSpPr/>
          <p:nvPr/>
        </p:nvSpPr>
        <p:spPr>
          <a:xfrm>
            <a:off x="6757416" y="1719072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6" name="Image 1" descr="/home/claude/work/assets/shot_dty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321" y="1920240"/>
            <a:ext cx="2797022" cy="3703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45352" y="5806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and non-null counts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07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df.nunique()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45352" y="12070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7190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719072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1719072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0" name="Image 0" descr="/home/claude/work/assets/shot_nuni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49" y="1920240"/>
            <a:ext cx="4996543" cy="3703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806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 in each column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45352" y="1572768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9944" y="1719072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1719072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5" name="Shape 12"/>
          <p:cNvSpPr/>
          <p:nvPr/>
        </p:nvSpPr>
        <p:spPr>
          <a:xfrm>
            <a:off x="6757416" y="1719072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6" name="Image 1" descr="/home/claude/work/assets/shot_descri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593898"/>
            <a:ext cx="5102352" cy="23560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45352" y="5806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summary: mean, std, min, max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df.nunique()  —  Unique values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4160520" cy="4617720"/>
          </a:xfrm>
          <a:prstGeom prst="roundRect">
            <a:avLst>
              <a:gd name="adj" fmla="val 2637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64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664208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64208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9" name="Image 0" descr="/home/claude/work/assets/shot_nuni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512233"/>
            <a:ext cx="3867912" cy="28668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118872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—  Statistical summary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83480" y="1517904"/>
            <a:ext cx="6656832" cy="2194560"/>
          </a:xfrm>
          <a:prstGeom prst="roundRect">
            <a:avLst>
              <a:gd name="adj" fmla="val 5000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48072" y="166420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Shape 10"/>
          <p:cNvSpPr/>
          <p:nvPr/>
        </p:nvSpPr>
        <p:spPr>
          <a:xfrm>
            <a:off x="5321808" y="1664208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4" name="Shape 11"/>
          <p:cNvSpPr/>
          <p:nvPr/>
        </p:nvSpPr>
        <p:spPr>
          <a:xfrm>
            <a:off x="5495544" y="1664208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5" name="Image 1" descr="/home/claude/work/assets/shot_descri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613" y="1865376"/>
            <a:ext cx="3762567" cy="17373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83480" y="3913632"/>
            <a:ext cx="6656832" cy="2194560"/>
          </a:xfrm>
          <a:prstGeom prst="roundRect">
            <a:avLst>
              <a:gd name="adj" fmla="val 5000"/>
            </a:avLst>
          </a:prstGeom>
          <a:solidFill>
            <a:srgbClr val="F1F9FB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57800" y="40782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summary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257800" y="4443984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all 8,247 rows are populated for the numeric columns
</a:t>
            </a: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std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typical run and wicket totals and their spread
</a:t>
            </a: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 the outer range used later for outlier checks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5" name="Image 0" descr="/home/claude/work/assets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4465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353312"/>
            <a:ext cx="4736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07008" y="1655064"/>
            <a:ext cx="4736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984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numeric gaps or drop incomplete rows.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55117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Shape 8"/>
          <p:cNvSpPr/>
          <p:nvPr/>
        </p:nvSpPr>
        <p:spPr>
          <a:xfrm>
            <a:off x="886968" y="2551176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551176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3" name="Image 1" descr="/home/claude/work/assets/shot_mis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273" y="2752344"/>
            <a:ext cx="1855694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15" name="Image 2" descr="/home/claude/work/assets/icon_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4465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22008" y="1353312"/>
            <a:ext cx="4736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922008" y="1655064"/>
            <a:ext cx="4736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263640" y="1984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remove repeated match records.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2404872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255117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2551176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2" name="Shape 17"/>
          <p:cNvSpPr/>
          <p:nvPr/>
        </p:nvSpPr>
        <p:spPr>
          <a:xfrm>
            <a:off x="6775704" y="2551176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23" name="Image 3" descr="/home/claude/work/assets/shot_duplica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106799"/>
            <a:ext cx="5102352" cy="15770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5" name="Image 0" descr="/home/claude/work/assets/icon_ta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4465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353312"/>
            <a:ext cx="4736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07008" y="1655064"/>
            <a:ext cx="4736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984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team, venue and toss decision to numeric form.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04872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55117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Shape 8"/>
          <p:cNvSpPr/>
          <p:nvPr/>
        </p:nvSpPr>
        <p:spPr>
          <a:xfrm>
            <a:off x="886968" y="2551176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2" name="Shape 9"/>
          <p:cNvSpPr/>
          <p:nvPr/>
        </p:nvSpPr>
        <p:spPr>
          <a:xfrm>
            <a:off x="1060704" y="2551176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3" name="Image 1" descr="/home/claude/work/assets/shot_categor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389" y="2752344"/>
            <a:ext cx="290146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15" name="Image 2" descr="/home/claude/work/assets/icon_h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4465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22008" y="1353312"/>
            <a:ext cx="4736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variables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922008" y="1655064"/>
            <a:ext cx="4736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StandardScaler()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263640" y="1984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helps Logistic Regression (TEST), not Random Forest.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2404872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2551176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2551176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2" name="Shape 17"/>
          <p:cNvSpPr/>
          <p:nvPr/>
        </p:nvSpPr>
        <p:spPr>
          <a:xfrm>
            <a:off x="6775704" y="2551176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23" name="Image 3" descr="/home/claude/work/assets/shot_numer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4361" y="2752344"/>
            <a:ext cx="3573517" cy="2286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blurRad="76200" dist="25400" dir="5400000" algn="bl" rotWithShape="0">
              <a:srgbClr val="0E7490">
                <a:alpha val="25000"/>
              </a:srgbClr>
            </a:outerShdw>
          </a:effectLst>
        </p:spPr>
      </p:sp>
      <p:pic>
        <p:nvPicPr>
          <p:cNvPr id="5" name="Image 0" descr="/home/claude/work/assets/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14118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98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34440" y="168249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rule / boxplot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with box plots and the IQR rule; keep, cap or remove.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F1F9FB"/>
          </a:solidFill>
          <a:ln w="12700">
            <a:solidFill>
              <a:srgbClr val="DC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IQR rule flags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beyond 1.5×IQR from Q1/Q3 on team runs and wickets — kept as genuine high-scoring or collapse innings, not data errors.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128016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65392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1"/>
          <p:cNvSpPr/>
          <p:nvPr/>
        </p:nvSpPr>
        <p:spPr>
          <a:xfrm>
            <a:off x="6739128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5" name="Shape 12"/>
          <p:cNvSpPr/>
          <p:nvPr/>
        </p:nvSpPr>
        <p:spPr>
          <a:xfrm>
            <a:off x="6912864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6" name="Image 1" descr="/home/claude/work/assets/shot_outl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004" y="1627632"/>
            <a:ext cx="1997392" cy="43891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6199632"/>
            <a:ext cx="5257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detect_outliers_iqr() applied to runs and wickets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8" name="Image 0" descr="/home/claude/work/assets/shot_ed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84" y="1627632"/>
            <a:ext cx="4762672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matches by format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9944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3" name="Shape 10"/>
          <p:cNvSpPr/>
          <p:nvPr/>
        </p:nvSpPr>
        <p:spPr>
          <a:xfrm>
            <a:off x="6757416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4" name="Image 1" descr="/home/claude/work/assets/shot_ed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299" y="1627632"/>
            <a:ext cx="3809065" cy="4434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45352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of numerical features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Toss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8" name="Image 0" descr="/home/claude/work/assets/shot_to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96" y="1627632"/>
            <a:ext cx="4459848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winning the toss most often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9944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3" name="Shape 10"/>
          <p:cNvSpPr/>
          <p:nvPr/>
        </p:nvSpPr>
        <p:spPr>
          <a:xfrm>
            <a:off x="6757416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4" name="Image 1" descr="/home/claude/work/assets/shot_tos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602" y="1627632"/>
            <a:ext cx="4188460" cy="4434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45352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 distribution: bat vs field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4572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8" name="Image 0" descr="/home/claude/work/assets/shot_team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87" y="1627632"/>
            <a:ext cx="4353467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teams by match wins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1E24"/>
          </a:solidFill>
          <a:ln w="12700">
            <a:solidFill>
              <a:srgbClr val="33383F"/>
            </a:solidFill>
            <a:prstDash val="solid"/>
          </a:ln>
          <a:effectLst>
            <a:outerShdw blurRad="127000" dist="38100" dir="5400000" algn="bl" rotWithShape="0">
              <a:srgbClr val="1B1B1F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9944" y="1426464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426464"/>
            <a:ext cx="82296" cy="8229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13" name="Shape 10"/>
          <p:cNvSpPr/>
          <p:nvPr/>
        </p:nvSpPr>
        <p:spPr>
          <a:xfrm>
            <a:off x="6757416" y="1426464"/>
            <a:ext cx="82296" cy="82296"/>
          </a:xfrm>
          <a:prstGeom prst="ellipse">
            <a:avLst/>
          </a:prstGeom>
          <a:solidFill>
            <a:srgbClr val="3DD68C"/>
          </a:solidFill>
          <a:ln/>
        </p:spPr>
      </p:sp>
      <p:pic>
        <p:nvPicPr>
          <p:cNvPr id="14" name="Image 1" descr="/home/claude/work/assets/shot_team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862" y="1627632"/>
            <a:ext cx="4091940" cy="4434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45352" y="62453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teams by number of matches played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solidFill>
            <a:srgbClr val="F1F9FB"/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3657600" cy="3657600"/>
          </a:xfrm>
          <a:prstGeom prst="ellipse">
            <a:avLst/>
          </a:prstGeom>
          <a:solidFill>
            <a:srgbClr val="F1F9FB"/>
          </a:solidFill>
          <a:ln/>
        </p:spPr>
      </p:sp>
      <p:sp>
        <p:nvSpPr>
          <p:cNvPr id="4" name="Shape 2"/>
          <p:cNvSpPr/>
          <p:nvPr/>
        </p:nvSpPr>
        <p:spPr>
          <a:xfrm>
            <a:off x="11002975" y="274320"/>
            <a:ext cx="1645920" cy="1645920"/>
          </a:xfrm>
          <a:prstGeom prst="ellipse">
            <a:avLst/>
          </a:prstGeom>
          <a:solidFill>
            <a:srgbClr val="22D3EE">
              <a:alpha val="9915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5212080"/>
            <a:ext cx="2011680" cy="2011680"/>
          </a:xfrm>
          <a:prstGeom prst="ellipse">
            <a:avLst/>
          </a:prstGeom>
          <a:solidFill>
            <a:srgbClr val="0E7490">
              <a:alpha val="991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749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Outcome Prediction Using Logistic Regression and 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1605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Krishna  (2520030027)   •   Ajai Manikanta  (2520030320)</a:t>
            </a:r>
            <a:endParaRPr lang="en-US" sz="1200" dirty="0"/>
          </a:p>
        </p:txBody>
      </p:sp>
      <p:pic>
        <p:nvPicPr>
          <p:cNvPr id="10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8" y="4846320"/>
            <a:ext cx="1645920" cy="1225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604</Words>
  <Application>Microsoft Office PowerPoint</Application>
  <PresentationFormat>Widescreen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 Sai Krishna</cp:lastModifiedBy>
  <cp:revision>14</cp:revision>
  <dcterms:created xsi:type="dcterms:W3CDTF">2026-09-26T16:14:01Z</dcterms:created>
  <dcterms:modified xsi:type="dcterms:W3CDTF">2026-09-26T16:17:54Z</dcterms:modified>
</cp:coreProperties>
</file>