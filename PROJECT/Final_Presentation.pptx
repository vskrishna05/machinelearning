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27"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1666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CricVision predicts match winners across TEST, ODI, T20 and IPL using Logistic Regression and Random Forest.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required questions. Core idea: supervised classification on historical cricket data. For TEST the model also gives a draw probability.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Cricsheet. JSON match files were downloaded and processed in Python/Colab into one combined table of 8,247 matches and 13 raw columns. Raw columns are not the model inputs - the models use 10 engineered features (slide 7). Matches used for modelling are fewer for ODI, T20 and IPL because matches without a clear winner were excluded in the model notebooks.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first inspected shape, data types, unique values and the statistical summary. All values on this slide are copied from the Colab output on the combined dataset.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come from the Colab checks on the combined 8,247-row dataset. Only the 'result' column had missing values, and it was filled with 'Unknown'. Outliers were detected with the IQR rule but NOT removed. No one-hot or label encoding appears in the notebooks: team, venue and toss information is converted to numeric features through feature engineering. StandardScaler is only inside the Logistic Regression pipeline.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Charts are taken directly from the Colab notebook. India's 601 wins is the most frequent winner in the combined dataset (all formats). Outlier counts from the box plot are on the Data Preprocessing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data has 13 match-level columns; the models use 10 engineered pre-match features. Matches are processed in date order and team history is updated only AFTER each match, so features use only what was known before kickoff. The four post-match columns are not model inputs. Pitch type is a context input in the CricVision app only (pitch_type_used = False in the saved model info). The TEST model names its head-to-head feature team1_h2h_points_rate because draws are counted.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notebooks split each format by date, not randomly: 70% train, 15% validation, 15% test (oldest matches train, newest matches test). Validation was used to tune settings such as the decision threshold. For ODI the final saved model was fitted on train + validation (first 85%) and evaluated on the final 15%.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uses Logistic Regression (a 3-class model: Team 1 win, Team 2 win, Draw). ODI, T20 and IPL use Random Forest. Code shown is from the notebooks: T20/ODI final Random Forest uses 500 trees, max depth 8, min samples per leaf 4; IPL final uses 700 trees and leaf 3.</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values are copied from the Colab outputs, measured on each format's held-out, newest-matches test set. TEST is a 3-class problem (Team 1 win, Team 2 win, Draw) so macro-F1 and one-vs-rest ROC-AUC are reported and are not directly comparable with the binary formats. ODI reports macro-F1. T20 and IPL report F1 for 'Team 1 wins'. Precision and recall were printed in the notebooks only for IPL's confusion matrix on this slide's models; for the other final models only accuracy, F1 and ROC-AUC were printed, so nothing else is shown. IPL precision 26/49 and recall 26/80 are computed from the printed confusion matrix.</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trained model is saved once and reloaded for future predictions - no retraining is needed. Files are saved with joblib (TEST, ODI, IPL) and pickle (T20). Each package has the trained model (.pkl), the feature list (.pkl) and model metadata (.json), plus supporting history/statistics files.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1033272"/>
            <a:ext cx="640080" cy="45720"/>
          </a:xfrm>
          <a:prstGeom prst="rect">
            <a:avLst/>
          </a:prstGeom>
          <a:solidFill>
            <a:schemeClr val="accent2"/>
          </a:solidFill>
          <a:ln/>
        </p:spPr>
      </p:sp>
      <p:sp>
        <p:nvSpPr>
          <p:cNvPr id="3" name="Text 1"/>
          <p:cNvSpPr/>
          <p:nvPr/>
        </p:nvSpPr>
        <p:spPr>
          <a:xfrm>
            <a:off x="548640" y="6400800"/>
            <a:ext cx="4572000" cy="228600"/>
          </a:xfrm>
          <a:prstGeom prst="rect">
            <a:avLst/>
          </a:prstGeom>
          <a:noFill/>
          <a:ln/>
        </p:spPr>
        <p:txBody>
          <a:bodyPr wrap="square" lIns="0" tIns="0" rIns="0" bIns="0" rtlCol="0" anchor="ctr"/>
          <a:lstStyle/>
          <a:p>
            <a:pPr marL="0" indent="0">
              <a:buNone/>
            </a:pPr>
            <a:r>
              <a:rPr lang="en-US" sz="1000" dirty="0">
                <a:solidFill>
                  <a:schemeClr val="accent6"/>
                </a:solidFill>
              </a:rPr>
              <a:t>CricVision  |  KLH University</a:t>
            </a:r>
            <a:endParaRPr lang="en-US" sz="1000" dirty="0"/>
          </a:p>
        </p:txBody>
      </p:sp>
      <p:sp>
        <p:nvSpPr>
          <p:cNvPr id="4" name="Text 2"/>
          <p:cNvSpPr>
            <a:spLocks noGrp="1"/>
          </p:cNvSpPr>
          <p:nvPr>
            <p:ph type="title" idx="102" hasCustomPrompt="1"/>
          </p:nvPr>
        </p:nvSpPr>
        <p:spPr>
          <a:xfrm>
            <a:off x="548640" y="365760"/>
            <a:ext cx="10515600" cy="6400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595360" y="-1280160"/>
            <a:ext cx="5303520" cy="5303520"/>
          </a:xfrm>
          <a:prstGeom prst="ellipse">
            <a:avLst/>
          </a:prstGeom>
          <a:solidFill>
            <a:schemeClr val="accent2"/>
          </a:solidFill>
          <a:ln w="12700">
            <a:solidFill>
              <a:schemeClr val="accent2"/>
            </a:solidFill>
            <a:prstDash val="solid"/>
          </a:ln>
        </p:spPr>
      </p:sp>
      <p:sp>
        <p:nvSpPr>
          <p:cNvPr id="3" name="Shape 1"/>
          <p:cNvSpPr/>
          <p:nvPr/>
        </p:nvSpPr>
        <p:spPr>
          <a:xfrm>
            <a:off x="10332720" y="2103120"/>
            <a:ext cx="3291840" cy="3291840"/>
          </a:xfrm>
          <a:prstGeom prst="ellipse">
            <a:avLst/>
          </a:prstGeom>
          <a:solidFill>
            <a:schemeClr val="accent1"/>
          </a:solidFill>
          <a:ln w="12700">
            <a:solidFill>
              <a:schemeClr val="accent1"/>
            </a:solidFill>
            <a:prstDash val="solid"/>
          </a:ln>
        </p:spPr>
      </p:sp>
      <p:pic>
        <p:nvPicPr>
          <p:cNvPr id="4" name="Image 0" descr="KLH University logo"/>
          <p:cNvPicPr>
            <a:picLocks noChangeAspect="1"/>
          </p:cNvPicPr>
          <p:nvPr/>
        </p:nvPicPr>
        <p:blipFill>
          <a:blip r:embed="rId3"/>
          <a:stretch>
            <a:fillRect/>
          </a:stretch>
        </p:blipFill>
        <p:spPr>
          <a:xfrm>
            <a:off x="182534" y="-38717"/>
            <a:ext cx="2194906" cy="1631913"/>
          </a:xfrm>
          <a:prstGeom prst="rect">
            <a:avLst/>
          </a:prstGeom>
        </p:spPr>
      </p:pic>
      <p:sp>
        <p:nvSpPr>
          <p:cNvPr id="5" name="Text 2"/>
          <p:cNvSpPr txBox="1"/>
          <p:nvPr/>
        </p:nvSpPr>
        <p:spPr>
          <a:xfrm>
            <a:off x="548640" y="2057400"/>
            <a:ext cx="7680960" cy="1737360"/>
          </a:xfrm>
          <a:prstGeom prst="rect">
            <a:avLst/>
          </a:prstGeom>
          <a:noFill/>
          <a:ln/>
        </p:spPr>
        <p:txBody>
          <a:bodyPr wrap="square" lIns="0" tIns="0" rIns="0" bIns="0" rtlCol="0" anchor="t"/>
          <a:lstStyle/>
          <a:p>
            <a:pPr marL="0" indent="0">
              <a:buNone/>
            </a:pPr>
            <a:r>
              <a:rPr lang="en-US" sz="3600" b="1" dirty="0">
                <a:solidFill>
                  <a:schemeClr val="tx1"/>
                </a:solidFill>
                <a:latin typeface="Cambria" pitchFamily="34" charset="0"/>
                <a:ea typeface="Cambria" pitchFamily="34" charset="-122"/>
                <a:cs typeface="Cambria" pitchFamily="34" charset="-120"/>
              </a:rPr>
              <a:t>Match Outcome Prediction Using Logistic Regression and Random Forest</a:t>
            </a:r>
            <a:endParaRPr lang="en-US" sz="3600" dirty="0"/>
          </a:p>
        </p:txBody>
      </p:sp>
      <p:sp>
        <p:nvSpPr>
          <p:cNvPr id="6" name="Shape 3"/>
          <p:cNvSpPr/>
          <p:nvPr/>
        </p:nvSpPr>
        <p:spPr>
          <a:xfrm>
            <a:off x="548640" y="3840480"/>
            <a:ext cx="640080" cy="45720"/>
          </a:xfrm>
          <a:prstGeom prst="rect">
            <a:avLst/>
          </a:prstGeom>
          <a:solidFill>
            <a:schemeClr val="accent2"/>
          </a:solidFill>
          <a:ln w="12700">
            <a:solidFill>
              <a:schemeClr val="accent2"/>
            </a:solidFill>
            <a:prstDash val="solid"/>
          </a:ln>
        </p:spPr>
      </p:sp>
      <p:sp>
        <p:nvSpPr>
          <p:cNvPr id="9" name="Team card"/>
          <p:cNvSpPr/>
          <p:nvPr/>
        </p:nvSpPr>
        <p:spPr>
          <a:xfrm>
            <a:off x="548640" y="4773168"/>
            <a:ext cx="5852160" cy="1097280"/>
          </a:xfrm>
          <a:prstGeom prst="roundRect">
            <a:avLst>
              <a:gd name="adj" fmla="val 10000"/>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10" name="Shape 7"/>
          <p:cNvSpPr/>
          <p:nvPr/>
        </p:nvSpPr>
        <p:spPr>
          <a:xfrm>
            <a:off x="731520" y="4956048"/>
            <a:ext cx="731520" cy="731520"/>
          </a:xfrm>
          <a:prstGeom prst="roundRect">
            <a:avLst>
              <a:gd name="adj" fmla="val 12500"/>
            </a:avLst>
          </a:prstGeom>
          <a:solidFill>
            <a:schemeClr val="accent1"/>
          </a:solidFill>
          <a:ln w="12700">
            <a:solidFill>
              <a:schemeClr val="accent1"/>
            </a:solidFill>
            <a:prstDash val="solid"/>
          </a:ln>
        </p:spPr>
      </p:sp>
      <p:sp>
        <p:nvSpPr>
          <p:cNvPr id="11" name="Text 8"/>
          <p:cNvSpPr txBox="1"/>
          <p:nvPr/>
        </p:nvSpPr>
        <p:spPr>
          <a:xfrm>
            <a:off x="731520" y="5001768"/>
            <a:ext cx="731520" cy="45720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09</a:t>
            </a:r>
            <a:endParaRPr lang="en-US" sz="2200" dirty="0"/>
          </a:p>
        </p:txBody>
      </p:sp>
      <p:sp>
        <p:nvSpPr>
          <p:cNvPr id="12" name="Text 9"/>
          <p:cNvSpPr txBox="1"/>
          <p:nvPr/>
        </p:nvSpPr>
        <p:spPr>
          <a:xfrm>
            <a:off x="731520" y="5458968"/>
            <a:ext cx="731520" cy="182880"/>
          </a:xfrm>
          <a:prstGeom prst="rect">
            <a:avLst/>
          </a:prstGeom>
          <a:noFill/>
          <a:ln/>
        </p:spPr>
        <p:txBody>
          <a:bodyPr wrap="square" lIns="0" tIns="0" rIns="0" bIns="0" rtlCol="0" anchor="t"/>
          <a:lstStyle/>
          <a:p>
            <a:pPr marL="0" indent="0" algn="ctr">
              <a:buNone/>
            </a:pPr>
            <a:r>
              <a:rPr lang="en-US" sz="800" dirty="0">
                <a:solidFill>
                  <a:schemeClr val="bg1"/>
                </a:solidFill>
              </a:rPr>
              <a:t>SECTION</a:t>
            </a:r>
            <a:endParaRPr lang="en-US" sz="800" dirty="0"/>
          </a:p>
        </p:txBody>
      </p:sp>
      <p:sp>
        <p:nvSpPr>
          <p:cNvPr id="13" name="Text 10"/>
          <p:cNvSpPr txBox="1"/>
          <p:nvPr/>
        </p:nvSpPr>
        <p:spPr>
          <a:xfrm>
            <a:off x="1737360" y="4928616"/>
            <a:ext cx="4114800" cy="201168"/>
          </a:xfrm>
          <a:prstGeom prst="rect">
            <a:avLst/>
          </a:prstGeom>
          <a:noFill/>
          <a:ln/>
        </p:spPr>
        <p:txBody>
          <a:bodyPr wrap="square" lIns="0" tIns="0" rIns="0" bIns="0" rtlCol="0" anchor="t"/>
          <a:lstStyle/>
          <a:p>
            <a:pPr marL="0" indent="0">
              <a:buNone/>
            </a:pPr>
            <a:r>
              <a:rPr lang="en-US" sz="1000" b="1" kern="0" spc="200" dirty="0">
                <a:solidFill>
                  <a:schemeClr val="accent1"/>
                </a:solidFill>
              </a:rPr>
              <a:t>TEAM MEMBERS</a:t>
            </a:r>
            <a:endParaRPr lang="en-US" sz="1000" dirty="0"/>
          </a:p>
        </p:txBody>
      </p:sp>
      <p:sp>
        <p:nvSpPr>
          <p:cNvPr id="14" name="Text 11"/>
          <p:cNvSpPr txBox="1"/>
          <p:nvPr/>
        </p:nvSpPr>
        <p:spPr>
          <a:xfrm>
            <a:off x="1737360" y="5184648"/>
            <a:ext cx="4480560" cy="59436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Venkata Sai Krishna   2520030027</a:t>
            </a:r>
            <a:endParaRPr lang="en-US" sz="1500" dirty="0"/>
          </a:p>
          <a:p>
            <a:pPr marL="0" indent="0">
              <a:spcAft>
                <a:spcPts val="300"/>
              </a:spcAft>
              <a:buNone/>
            </a:pPr>
            <a:r>
              <a:rPr lang="en-US" sz="1500" b="1" dirty="0">
                <a:solidFill>
                  <a:schemeClr val="tx1"/>
                </a:solidFill>
              </a:rPr>
              <a:t>Ajai Manikanta   2520030320</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0515600" cy="640080"/>
          </a:xfrm>
          <a:prstGeom prst="rect">
            <a:avLst/>
          </a:prstGeom>
          <a:noFill/>
          <a:ln/>
        </p:spPr>
        <p:txBody>
          <a:bodyPr wrap="square" lIns="0" tIns="0" rIns="0" bIns="0" rtlCol="0" anchor="ctr"/>
          <a:lstStyle/>
          <a:p>
            <a:pPr marL="0" indent="0" algn="l">
              <a:buNone/>
            </a:pPr>
            <a:r>
              <a:rPr lang="en-US" sz="3000" b="1" dirty="0">
                <a:solidFill>
                  <a:schemeClr val="tx1"/>
                </a:solidFill>
              </a:rPr>
              <a:t>Problem Definition</a:t>
            </a:r>
            <a:endParaRPr lang="en-US" sz="3000" dirty="0"/>
          </a:p>
        </p:txBody>
      </p:sp>
      <p:sp>
        <p:nvSpPr>
          <p:cNvPr id="3" name="Text 1"/>
          <p:cNvSpPr txBox="1"/>
          <p:nvPr/>
        </p:nvSpPr>
        <p:spPr>
          <a:xfrm>
            <a:off x="10545775" y="640715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02 / 12</a:t>
            </a:r>
            <a:endParaRPr lang="en-US" sz="1000" dirty="0"/>
          </a:p>
        </p:txBody>
      </p:sp>
      <p:sp>
        <p:nvSpPr>
          <p:cNvPr id="5" name="Card"/>
          <p:cNvSpPr/>
          <p:nvPr/>
        </p:nvSpPr>
        <p:spPr>
          <a:xfrm>
            <a:off x="548640" y="1371600"/>
            <a:ext cx="5440680" cy="2286000"/>
          </a:xfrm>
          <a:prstGeom prst="roundRect">
            <a:avLst>
              <a:gd name="adj" fmla="val 48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6" name="Shape 3"/>
          <p:cNvSpPr/>
          <p:nvPr/>
        </p:nvSpPr>
        <p:spPr>
          <a:xfrm>
            <a:off x="822960" y="1645920"/>
            <a:ext cx="502920" cy="502920"/>
          </a:xfrm>
          <a:prstGeom prst="ellipse">
            <a:avLst/>
          </a:prstGeom>
          <a:solidFill>
            <a:schemeClr val="accent1"/>
          </a:solidFill>
          <a:ln w="12700">
            <a:solidFill>
              <a:schemeClr val="accent1"/>
            </a:solidFill>
            <a:prstDash val="solid"/>
          </a:ln>
        </p:spPr>
      </p:sp>
      <p:sp>
        <p:nvSpPr>
          <p:cNvPr id="7" name="Text 4"/>
          <p:cNvSpPr txBox="1"/>
          <p:nvPr/>
        </p:nvSpPr>
        <p:spPr>
          <a:xfrm>
            <a:off x="822960" y="164592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5"/>
          <p:cNvSpPr txBox="1"/>
          <p:nvPr/>
        </p:nvSpPr>
        <p:spPr>
          <a:xfrm>
            <a:off x="1554480" y="1664208"/>
            <a:ext cx="4206240" cy="457200"/>
          </a:xfrm>
          <a:prstGeom prst="rect">
            <a:avLst/>
          </a:prstGeom>
          <a:noFill/>
          <a:ln/>
        </p:spPr>
        <p:txBody>
          <a:bodyPr wrap="square" lIns="0" tIns="0" rIns="0" bIns="0" rtlCol="0" anchor="ctr"/>
          <a:lstStyle/>
          <a:p>
            <a:pPr marL="0" indent="0">
              <a:buNone/>
            </a:pPr>
            <a:r>
              <a:rPr lang="en-US" sz="1900" b="1" dirty="0">
                <a:solidFill>
                  <a:schemeClr val="tx1"/>
                </a:solidFill>
                <a:latin typeface="Cambria" pitchFamily="34" charset="0"/>
                <a:ea typeface="Cambria" pitchFamily="34" charset="-122"/>
                <a:cs typeface="Cambria" pitchFamily="34" charset="-120"/>
              </a:rPr>
              <a:t>What problem are we solving?</a:t>
            </a:r>
            <a:endParaRPr lang="en-US" sz="1900" dirty="0"/>
          </a:p>
        </p:txBody>
      </p:sp>
      <p:sp>
        <p:nvSpPr>
          <p:cNvPr id="9" name="Text 6"/>
          <p:cNvSpPr txBox="1"/>
          <p:nvPr/>
        </p:nvSpPr>
        <p:spPr>
          <a:xfrm>
            <a:off x="1554480" y="2331720"/>
            <a:ext cx="4206240" cy="1188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Predict the winner of a cricket match from historical data.</a:t>
            </a:r>
            <a:endParaRPr lang="en-US" sz="1500" dirty="0"/>
          </a:p>
          <a:p>
            <a:pPr marL="342900" indent="-342900">
              <a:spcAft>
                <a:spcPts val="800"/>
              </a:spcAft>
              <a:buSzPct val="100000"/>
              <a:buChar char="•"/>
            </a:pPr>
            <a:r>
              <a:rPr lang="en-US" sz="1500" dirty="0">
                <a:solidFill>
                  <a:schemeClr val="tx2"/>
                </a:solidFill>
              </a:rPr>
              <a:t>A supervised classification task across TEST, ODI, T20 and IPL.</a:t>
            </a:r>
            <a:endParaRPr lang="en-US" sz="1500" dirty="0"/>
          </a:p>
        </p:txBody>
      </p:sp>
      <p:sp>
        <p:nvSpPr>
          <p:cNvPr id="10" name="Card"/>
          <p:cNvSpPr/>
          <p:nvPr/>
        </p:nvSpPr>
        <p:spPr>
          <a:xfrm>
            <a:off x="6199632" y="1371600"/>
            <a:ext cx="5440680" cy="2286000"/>
          </a:xfrm>
          <a:prstGeom prst="roundRect">
            <a:avLst>
              <a:gd name="adj" fmla="val 48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1" name="Shape 8"/>
          <p:cNvSpPr/>
          <p:nvPr/>
        </p:nvSpPr>
        <p:spPr>
          <a:xfrm>
            <a:off x="6473952" y="1645920"/>
            <a:ext cx="502920" cy="502920"/>
          </a:xfrm>
          <a:prstGeom prst="ellipse">
            <a:avLst/>
          </a:prstGeom>
          <a:solidFill>
            <a:schemeClr val="accent1"/>
          </a:solidFill>
          <a:ln w="12700">
            <a:solidFill>
              <a:schemeClr val="accent1"/>
            </a:solidFill>
            <a:prstDash val="solid"/>
          </a:ln>
        </p:spPr>
      </p:sp>
      <p:sp>
        <p:nvSpPr>
          <p:cNvPr id="12" name="Text 9"/>
          <p:cNvSpPr txBox="1"/>
          <p:nvPr/>
        </p:nvSpPr>
        <p:spPr>
          <a:xfrm>
            <a:off x="6473952" y="164592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3" name="Text 10"/>
          <p:cNvSpPr txBox="1"/>
          <p:nvPr/>
        </p:nvSpPr>
        <p:spPr>
          <a:xfrm>
            <a:off x="7205472" y="1664208"/>
            <a:ext cx="4206240" cy="457200"/>
          </a:xfrm>
          <a:prstGeom prst="rect">
            <a:avLst/>
          </a:prstGeom>
          <a:noFill/>
          <a:ln/>
        </p:spPr>
        <p:txBody>
          <a:bodyPr wrap="square" lIns="0" tIns="0" rIns="0" bIns="0" rtlCol="0" anchor="ctr"/>
          <a:lstStyle/>
          <a:p>
            <a:pPr marL="0" indent="0">
              <a:buNone/>
            </a:pPr>
            <a:r>
              <a:rPr lang="en-US" sz="1900" b="1" dirty="0">
                <a:solidFill>
                  <a:schemeClr val="tx1"/>
                </a:solidFill>
                <a:latin typeface="Cambria" pitchFamily="34" charset="0"/>
                <a:ea typeface="Cambria" pitchFamily="34" charset="-122"/>
                <a:cs typeface="Cambria" pitchFamily="34" charset="-120"/>
              </a:rPr>
              <a:t>Why is it important?</a:t>
            </a:r>
            <a:endParaRPr lang="en-US" sz="1900" dirty="0"/>
          </a:p>
        </p:txBody>
      </p:sp>
      <p:sp>
        <p:nvSpPr>
          <p:cNvPr id="14" name="Text 11"/>
          <p:cNvSpPr txBox="1"/>
          <p:nvPr/>
        </p:nvSpPr>
        <p:spPr>
          <a:xfrm>
            <a:off x="7205472" y="2331720"/>
            <a:ext cx="4206240" cy="1188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Results depend on team strength, recent form, venue and toss.</a:t>
            </a:r>
            <a:endParaRPr lang="en-US" sz="1500" dirty="0"/>
          </a:p>
          <a:p>
            <a:pPr marL="342900" indent="-342900">
              <a:spcAft>
                <a:spcPts val="800"/>
              </a:spcAft>
              <a:buSzPct val="100000"/>
              <a:buChar char="•"/>
            </a:pPr>
            <a:r>
              <a:rPr lang="en-US" sz="1500" dirty="0">
                <a:solidFill>
                  <a:schemeClr val="tx2"/>
                </a:solidFill>
              </a:rPr>
              <a:t>A data-driven model gives a consistent, explainable estimate.</a:t>
            </a:r>
            <a:endParaRPr lang="en-US" sz="1500" dirty="0"/>
          </a:p>
        </p:txBody>
      </p:sp>
      <p:sp>
        <p:nvSpPr>
          <p:cNvPr id="15" name="Card"/>
          <p:cNvSpPr/>
          <p:nvPr/>
        </p:nvSpPr>
        <p:spPr>
          <a:xfrm>
            <a:off x="548640" y="3840480"/>
            <a:ext cx="5440680" cy="2286000"/>
          </a:xfrm>
          <a:prstGeom prst="roundRect">
            <a:avLst>
              <a:gd name="adj" fmla="val 48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6" name="Shape 13"/>
          <p:cNvSpPr/>
          <p:nvPr/>
        </p:nvSpPr>
        <p:spPr>
          <a:xfrm>
            <a:off x="822960" y="4114800"/>
            <a:ext cx="502920" cy="502920"/>
          </a:xfrm>
          <a:prstGeom prst="ellipse">
            <a:avLst/>
          </a:prstGeom>
          <a:solidFill>
            <a:schemeClr val="accent1"/>
          </a:solidFill>
          <a:ln w="12700">
            <a:solidFill>
              <a:schemeClr val="accent1"/>
            </a:solidFill>
            <a:prstDash val="solid"/>
          </a:ln>
        </p:spPr>
      </p:sp>
      <p:sp>
        <p:nvSpPr>
          <p:cNvPr id="17" name="Text 14"/>
          <p:cNvSpPr txBox="1"/>
          <p:nvPr/>
        </p:nvSpPr>
        <p:spPr>
          <a:xfrm>
            <a:off x="822960" y="411480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8" name="Text 15"/>
          <p:cNvSpPr txBox="1"/>
          <p:nvPr/>
        </p:nvSpPr>
        <p:spPr>
          <a:xfrm>
            <a:off x="1554480" y="4133088"/>
            <a:ext cx="4206240" cy="457200"/>
          </a:xfrm>
          <a:prstGeom prst="rect">
            <a:avLst/>
          </a:prstGeom>
          <a:noFill/>
          <a:ln/>
        </p:spPr>
        <p:txBody>
          <a:bodyPr wrap="square" lIns="0" tIns="0" rIns="0" bIns="0" rtlCol="0" anchor="ctr"/>
          <a:lstStyle/>
          <a:p>
            <a:pPr marL="0" indent="0">
              <a:buNone/>
            </a:pPr>
            <a:r>
              <a:rPr lang="en-US" sz="1900" b="1" dirty="0">
                <a:solidFill>
                  <a:schemeClr val="tx1"/>
                </a:solidFill>
                <a:latin typeface="Cambria" pitchFamily="34" charset="0"/>
                <a:ea typeface="Cambria" pitchFamily="34" charset="-122"/>
                <a:cs typeface="Cambria" pitchFamily="34" charset="-120"/>
              </a:rPr>
              <a:t>Who will use it?</a:t>
            </a:r>
            <a:endParaRPr lang="en-US" sz="1900" dirty="0"/>
          </a:p>
        </p:txBody>
      </p:sp>
      <p:sp>
        <p:nvSpPr>
          <p:cNvPr id="19" name="Text 16"/>
          <p:cNvSpPr txBox="1"/>
          <p:nvPr/>
        </p:nvSpPr>
        <p:spPr>
          <a:xfrm>
            <a:off x="1554480" y="4800600"/>
            <a:ext cx="4206240" cy="1188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Cricket analysts, fans and commentators.</a:t>
            </a:r>
            <a:endParaRPr lang="en-US" sz="1500" dirty="0"/>
          </a:p>
          <a:p>
            <a:pPr marL="342900" indent="-342900">
              <a:spcAft>
                <a:spcPts val="800"/>
              </a:spcAft>
              <a:buSzPct val="100000"/>
              <a:buChar char="•"/>
            </a:pPr>
            <a:r>
              <a:rPr lang="en-US" sz="1500" dirty="0">
                <a:solidFill>
                  <a:schemeClr val="tx2"/>
                </a:solidFill>
              </a:rPr>
              <a:t>Students and researchers in sports analytics.</a:t>
            </a:r>
            <a:endParaRPr lang="en-US" sz="1500" dirty="0"/>
          </a:p>
        </p:txBody>
      </p:sp>
      <p:sp>
        <p:nvSpPr>
          <p:cNvPr id="20" name="Card"/>
          <p:cNvSpPr/>
          <p:nvPr/>
        </p:nvSpPr>
        <p:spPr>
          <a:xfrm>
            <a:off x="6199632" y="3840480"/>
            <a:ext cx="5440680" cy="2286000"/>
          </a:xfrm>
          <a:prstGeom prst="roundRect">
            <a:avLst>
              <a:gd name="adj" fmla="val 48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21" name="Shape 18"/>
          <p:cNvSpPr/>
          <p:nvPr/>
        </p:nvSpPr>
        <p:spPr>
          <a:xfrm>
            <a:off x="6473952" y="4114800"/>
            <a:ext cx="502920" cy="502920"/>
          </a:xfrm>
          <a:prstGeom prst="ellipse">
            <a:avLst/>
          </a:prstGeom>
          <a:solidFill>
            <a:schemeClr val="accent1"/>
          </a:solidFill>
          <a:ln w="12700">
            <a:solidFill>
              <a:schemeClr val="accent1"/>
            </a:solidFill>
            <a:prstDash val="solid"/>
          </a:ln>
        </p:spPr>
      </p:sp>
      <p:sp>
        <p:nvSpPr>
          <p:cNvPr id="22" name="Text 19"/>
          <p:cNvSpPr txBox="1"/>
          <p:nvPr/>
        </p:nvSpPr>
        <p:spPr>
          <a:xfrm>
            <a:off x="6473952" y="411480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3" name="Text 20"/>
          <p:cNvSpPr txBox="1"/>
          <p:nvPr/>
        </p:nvSpPr>
        <p:spPr>
          <a:xfrm>
            <a:off x="7205472" y="4133088"/>
            <a:ext cx="4206240" cy="457200"/>
          </a:xfrm>
          <a:prstGeom prst="rect">
            <a:avLst/>
          </a:prstGeom>
          <a:noFill/>
          <a:ln/>
        </p:spPr>
        <p:txBody>
          <a:bodyPr wrap="square" lIns="0" tIns="0" rIns="0" bIns="0" rtlCol="0" anchor="ctr"/>
          <a:lstStyle/>
          <a:p>
            <a:pPr marL="0" indent="0">
              <a:buNone/>
            </a:pPr>
            <a:r>
              <a:rPr lang="en-US" sz="1900" b="1" dirty="0">
                <a:solidFill>
                  <a:schemeClr val="tx1"/>
                </a:solidFill>
                <a:latin typeface="Cambria" pitchFamily="34" charset="0"/>
                <a:ea typeface="Cambria" pitchFamily="34" charset="-122"/>
                <a:cs typeface="Cambria" pitchFamily="34" charset="-120"/>
              </a:rPr>
              <a:t>What is the expected output?</a:t>
            </a:r>
            <a:endParaRPr lang="en-US" sz="1900" dirty="0"/>
          </a:p>
        </p:txBody>
      </p:sp>
      <p:sp>
        <p:nvSpPr>
          <p:cNvPr id="24" name="Text 21"/>
          <p:cNvSpPr txBox="1"/>
          <p:nvPr/>
        </p:nvSpPr>
        <p:spPr>
          <a:xfrm>
            <a:off x="7205472" y="4800600"/>
            <a:ext cx="4206240" cy="1188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The predicted winner.</a:t>
            </a:r>
            <a:endParaRPr lang="en-US" sz="1500" dirty="0"/>
          </a:p>
          <a:p>
            <a:pPr marL="342900" indent="-342900">
              <a:spcAft>
                <a:spcPts val="800"/>
              </a:spcAft>
              <a:buSzPct val="100000"/>
              <a:buChar char="•"/>
            </a:pPr>
            <a:r>
              <a:rPr lang="en-US" sz="1500" dirty="0">
                <a:solidFill>
                  <a:schemeClr val="tx2"/>
                </a:solidFill>
              </a:rPr>
              <a:t>Prediction probabilities for each outcome (TEST also includes Draw).</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0515600" cy="640080"/>
          </a:xfrm>
          <a:prstGeom prst="rect">
            <a:avLst/>
          </a:prstGeom>
          <a:noFill/>
          <a:ln/>
        </p:spPr>
        <p:txBody>
          <a:bodyPr wrap="square" lIns="0" tIns="0" rIns="0" bIns="0" rtlCol="0" anchor="ctr"/>
          <a:lstStyle/>
          <a:p>
            <a:pPr marL="0" indent="0" algn="l">
              <a:buNone/>
            </a:pPr>
            <a:r>
              <a:rPr lang="en-US" sz="3000" b="1" dirty="0">
                <a:solidFill>
                  <a:schemeClr val="tx1"/>
                </a:solidFill>
              </a:rPr>
              <a:t>Dataset Collection</a:t>
            </a:r>
            <a:endParaRPr lang="en-US" sz="3000" dirty="0"/>
          </a:p>
        </p:txBody>
      </p:sp>
      <p:sp>
        <p:nvSpPr>
          <p:cNvPr id="3" name="Text 1"/>
          <p:cNvSpPr txBox="1"/>
          <p:nvPr/>
        </p:nvSpPr>
        <p:spPr>
          <a:xfrm>
            <a:off x="10545775" y="640080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03 / 12</a:t>
            </a:r>
            <a:endParaRPr lang="en-US" sz="1000" dirty="0"/>
          </a:p>
        </p:txBody>
      </p:sp>
      <p:sp>
        <p:nvSpPr>
          <p:cNvPr id="5" name="Shape 2"/>
          <p:cNvSpPr/>
          <p:nvPr/>
        </p:nvSpPr>
        <p:spPr>
          <a:xfrm>
            <a:off x="548640" y="1371600"/>
            <a:ext cx="3291840" cy="640080"/>
          </a:xfrm>
          <a:prstGeom prst="roundRect">
            <a:avLst>
              <a:gd name="adj" fmla="val 14286"/>
            </a:avLst>
          </a:prstGeom>
          <a:solidFill>
            <a:schemeClr val="bg2"/>
          </a:solidFill>
          <a:ln w="12700">
            <a:solidFill>
              <a:schemeClr val="accent4"/>
            </a:solidFill>
            <a:prstDash val="solid"/>
          </a:ln>
        </p:spPr>
      </p:sp>
      <p:sp>
        <p:nvSpPr>
          <p:cNvPr id="6" name="Text 3"/>
          <p:cNvSpPr txBox="1"/>
          <p:nvPr/>
        </p:nvSpPr>
        <p:spPr>
          <a:xfrm>
            <a:off x="640080" y="1371600"/>
            <a:ext cx="3108960" cy="640080"/>
          </a:xfrm>
          <a:prstGeom prst="rect">
            <a:avLst/>
          </a:prstGeom>
          <a:noFill/>
          <a:ln/>
        </p:spPr>
        <p:txBody>
          <a:bodyPr wrap="square" lIns="0" tIns="0" rIns="0" bIns="0" rtlCol="0" anchor="ctr"/>
          <a:lstStyle/>
          <a:p>
            <a:pPr marL="0" indent="0" algn="ctr">
              <a:buNone/>
            </a:pPr>
            <a:r>
              <a:rPr lang="en-US" sz="1400" b="1" dirty="0">
                <a:solidFill>
                  <a:schemeClr val="tx1"/>
                </a:solidFill>
              </a:rPr>
              <a:t>Cricsheet match files (JSON)</a:t>
            </a:r>
            <a:endParaRPr lang="en-US" sz="1400" dirty="0"/>
          </a:p>
        </p:txBody>
      </p:sp>
      <p:sp>
        <p:nvSpPr>
          <p:cNvPr id="7" name="Shape 4"/>
          <p:cNvSpPr/>
          <p:nvPr/>
        </p:nvSpPr>
        <p:spPr>
          <a:xfrm rot="5400000">
            <a:off x="4053764" y="1572768"/>
            <a:ext cx="182880" cy="237744"/>
          </a:xfrm>
          <a:prstGeom prst="triangle">
            <a:avLst/>
          </a:prstGeom>
          <a:solidFill>
            <a:schemeClr val="accent2"/>
          </a:solidFill>
          <a:ln w="12700">
            <a:solidFill>
              <a:schemeClr val="accent2"/>
            </a:solidFill>
            <a:prstDash val="solid"/>
          </a:ln>
        </p:spPr>
      </p:sp>
      <p:sp>
        <p:nvSpPr>
          <p:cNvPr id="8" name="Shape 5"/>
          <p:cNvSpPr/>
          <p:nvPr/>
        </p:nvSpPr>
        <p:spPr>
          <a:xfrm>
            <a:off x="4449928" y="1371600"/>
            <a:ext cx="3291840" cy="640080"/>
          </a:xfrm>
          <a:prstGeom prst="roundRect">
            <a:avLst>
              <a:gd name="adj" fmla="val 14286"/>
            </a:avLst>
          </a:prstGeom>
          <a:solidFill>
            <a:schemeClr val="bg2"/>
          </a:solidFill>
          <a:ln w="12700">
            <a:solidFill>
              <a:schemeClr val="accent4"/>
            </a:solidFill>
            <a:prstDash val="solid"/>
          </a:ln>
        </p:spPr>
      </p:sp>
      <p:sp>
        <p:nvSpPr>
          <p:cNvPr id="9" name="Text 6"/>
          <p:cNvSpPr txBox="1"/>
          <p:nvPr/>
        </p:nvSpPr>
        <p:spPr>
          <a:xfrm>
            <a:off x="4541368" y="1371600"/>
            <a:ext cx="3108960" cy="640080"/>
          </a:xfrm>
          <a:prstGeom prst="rect">
            <a:avLst/>
          </a:prstGeom>
          <a:noFill/>
          <a:ln/>
        </p:spPr>
        <p:txBody>
          <a:bodyPr wrap="square" lIns="0" tIns="0" rIns="0" bIns="0" rtlCol="0" anchor="ctr"/>
          <a:lstStyle/>
          <a:p>
            <a:pPr marL="0" indent="0" algn="ctr">
              <a:buNone/>
            </a:pPr>
            <a:r>
              <a:rPr lang="en-US" sz="1400" b="1" dirty="0">
                <a:solidFill>
                  <a:schemeClr val="tx1"/>
                </a:solidFill>
              </a:rPr>
              <a:t>Downloaded &amp; processed in Python / Colab</a:t>
            </a:r>
            <a:endParaRPr lang="en-US" sz="1400" dirty="0"/>
          </a:p>
        </p:txBody>
      </p:sp>
      <p:sp>
        <p:nvSpPr>
          <p:cNvPr id="10" name="Shape 7"/>
          <p:cNvSpPr/>
          <p:nvPr/>
        </p:nvSpPr>
        <p:spPr>
          <a:xfrm rot="5400000">
            <a:off x="7955051" y="1572768"/>
            <a:ext cx="182880" cy="237744"/>
          </a:xfrm>
          <a:prstGeom prst="triangle">
            <a:avLst/>
          </a:prstGeom>
          <a:solidFill>
            <a:schemeClr val="accent2"/>
          </a:solidFill>
          <a:ln w="12700">
            <a:solidFill>
              <a:schemeClr val="accent2"/>
            </a:solidFill>
            <a:prstDash val="solid"/>
          </a:ln>
        </p:spPr>
      </p:sp>
      <p:sp>
        <p:nvSpPr>
          <p:cNvPr id="11" name="Shape 8"/>
          <p:cNvSpPr/>
          <p:nvPr/>
        </p:nvSpPr>
        <p:spPr>
          <a:xfrm>
            <a:off x="8351215" y="1371600"/>
            <a:ext cx="3291840" cy="640080"/>
          </a:xfrm>
          <a:prstGeom prst="roundRect">
            <a:avLst>
              <a:gd name="adj" fmla="val 14286"/>
            </a:avLst>
          </a:prstGeom>
          <a:solidFill>
            <a:schemeClr val="accent1"/>
          </a:solidFill>
          <a:ln w="12700">
            <a:solidFill>
              <a:schemeClr val="accent4"/>
            </a:solidFill>
            <a:prstDash val="solid"/>
          </a:ln>
        </p:spPr>
      </p:sp>
      <p:sp>
        <p:nvSpPr>
          <p:cNvPr id="12" name="Text 9"/>
          <p:cNvSpPr txBox="1"/>
          <p:nvPr/>
        </p:nvSpPr>
        <p:spPr>
          <a:xfrm>
            <a:off x="8442655" y="1371600"/>
            <a:ext cx="3108960" cy="640080"/>
          </a:xfrm>
          <a:prstGeom prst="rect">
            <a:avLst/>
          </a:prstGeom>
          <a:noFill/>
          <a:ln/>
        </p:spPr>
        <p:txBody>
          <a:bodyPr wrap="square" lIns="0" tIns="0" rIns="0" bIns="0" rtlCol="0" anchor="ctr"/>
          <a:lstStyle/>
          <a:p>
            <a:pPr marL="0" indent="0" algn="ctr">
              <a:buNone/>
            </a:pPr>
            <a:r>
              <a:rPr lang="en-US" sz="1400" b="1" dirty="0">
                <a:solidFill>
                  <a:schemeClr val="bg1"/>
                </a:solidFill>
              </a:rPr>
              <a:t>Combined table: 8,247 rows × 13 columns</a:t>
            </a:r>
            <a:endParaRPr lang="en-US" sz="1400" dirty="0"/>
          </a:p>
        </p:txBody>
      </p:sp>
      <p:sp>
        <p:nvSpPr>
          <p:cNvPr id="13" name="Card"/>
          <p:cNvSpPr/>
          <p:nvPr/>
        </p:nvSpPr>
        <p:spPr>
          <a:xfrm>
            <a:off x="548640" y="2286000"/>
            <a:ext cx="3840480" cy="1828800"/>
          </a:xfrm>
          <a:prstGeom prst="roundRect">
            <a:avLst>
              <a:gd name="adj" fmla="val 60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4" name="Text 11"/>
          <p:cNvSpPr txBox="1"/>
          <p:nvPr/>
        </p:nvSpPr>
        <p:spPr>
          <a:xfrm>
            <a:off x="822960" y="2423160"/>
            <a:ext cx="1737360" cy="73152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8,247</a:t>
            </a:r>
            <a:endParaRPr lang="en-US" sz="4000" dirty="0"/>
          </a:p>
        </p:txBody>
      </p:sp>
      <p:sp>
        <p:nvSpPr>
          <p:cNvPr id="15" name="Text 12"/>
          <p:cNvSpPr txBox="1"/>
          <p:nvPr/>
        </p:nvSpPr>
        <p:spPr>
          <a:xfrm>
            <a:off x="822960" y="3154680"/>
            <a:ext cx="1737360" cy="274320"/>
          </a:xfrm>
          <a:prstGeom prst="rect">
            <a:avLst/>
          </a:prstGeom>
          <a:noFill/>
          <a:ln/>
        </p:spPr>
        <p:txBody>
          <a:bodyPr wrap="square" lIns="0" tIns="0" rIns="0" bIns="0" rtlCol="0" anchor="t"/>
          <a:lstStyle/>
          <a:p>
            <a:pPr marL="0" indent="0">
              <a:buNone/>
            </a:pPr>
            <a:r>
              <a:rPr lang="en-US" sz="1400" dirty="0">
                <a:solidFill>
                  <a:schemeClr val="tx2"/>
                </a:solidFill>
              </a:rPr>
              <a:t>records</a:t>
            </a:r>
            <a:endParaRPr lang="en-US" sz="1400" dirty="0"/>
          </a:p>
        </p:txBody>
      </p:sp>
      <p:sp>
        <p:nvSpPr>
          <p:cNvPr id="16" name="Text 13"/>
          <p:cNvSpPr txBox="1"/>
          <p:nvPr/>
        </p:nvSpPr>
        <p:spPr>
          <a:xfrm>
            <a:off x="2743200" y="2423160"/>
            <a:ext cx="1463040" cy="73152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13</a:t>
            </a:r>
            <a:endParaRPr lang="en-US" sz="4000" dirty="0"/>
          </a:p>
        </p:txBody>
      </p:sp>
      <p:sp>
        <p:nvSpPr>
          <p:cNvPr id="17" name="Text 14"/>
          <p:cNvSpPr txBox="1"/>
          <p:nvPr/>
        </p:nvSpPr>
        <p:spPr>
          <a:xfrm>
            <a:off x="2743200" y="3154680"/>
            <a:ext cx="1463040" cy="274320"/>
          </a:xfrm>
          <a:prstGeom prst="rect">
            <a:avLst/>
          </a:prstGeom>
          <a:noFill/>
          <a:ln/>
        </p:spPr>
        <p:txBody>
          <a:bodyPr wrap="square" lIns="0" tIns="0" rIns="0" bIns="0" rtlCol="0" anchor="t"/>
          <a:lstStyle/>
          <a:p>
            <a:pPr marL="0" indent="0">
              <a:buNone/>
            </a:pPr>
            <a:r>
              <a:rPr lang="en-US" sz="1400" dirty="0">
                <a:solidFill>
                  <a:schemeClr val="tx2"/>
                </a:solidFill>
              </a:rPr>
              <a:t>raw features</a:t>
            </a:r>
            <a:endParaRPr lang="en-US" sz="1400" dirty="0"/>
          </a:p>
        </p:txBody>
      </p:sp>
      <p:sp>
        <p:nvSpPr>
          <p:cNvPr id="18" name="Text 15"/>
          <p:cNvSpPr txBox="1"/>
          <p:nvPr/>
        </p:nvSpPr>
        <p:spPr>
          <a:xfrm>
            <a:off x="822960" y="3611880"/>
            <a:ext cx="3383280" cy="274320"/>
          </a:xfrm>
          <a:prstGeom prst="rect">
            <a:avLst/>
          </a:prstGeom>
          <a:noFill/>
          <a:ln/>
        </p:spPr>
        <p:txBody>
          <a:bodyPr wrap="square" lIns="0" tIns="0" rIns="0" bIns="0" rtlCol="0" anchor="t"/>
          <a:lstStyle/>
          <a:p>
            <a:pPr marL="0" indent="0">
              <a:buNone/>
            </a:pPr>
            <a:r>
              <a:rPr lang="en-US" sz="1500" dirty="0">
                <a:solidFill>
                  <a:schemeClr val="tx2"/>
                </a:solidFill>
              </a:rPr>
              <a:t>Target variable: </a:t>
            </a:r>
            <a:r>
              <a:rPr lang="en-US" sz="1500" b="1" dirty="0">
                <a:solidFill>
                  <a:schemeClr val="tx1"/>
                </a:solidFill>
              </a:rPr>
              <a:t>winner</a:t>
            </a:r>
            <a:endParaRPr lang="en-US" sz="1500" dirty="0"/>
          </a:p>
        </p:txBody>
      </p:sp>
      <p:sp>
        <p:nvSpPr>
          <p:cNvPr id="19" name="Card"/>
          <p:cNvSpPr/>
          <p:nvPr/>
        </p:nvSpPr>
        <p:spPr>
          <a:xfrm>
            <a:off x="4572000" y="2286000"/>
            <a:ext cx="1645920" cy="1828800"/>
          </a:xfrm>
          <a:prstGeom prst="roundRect">
            <a:avLst>
              <a:gd name="adj" fmla="val 6667"/>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20" name="Text 17"/>
          <p:cNvSpPr txBox="1"/>
          <p:nvPr/>
        </p:nvSpPr>
        <p:spPr>
          <a:xfrm>
            <a:off x="4572000" y="2395728"/>
            <a:ext cx="1645920" cy="274320"/>
          </a:xfrm>
          <a:prstGeom prst="rect">
            <a:avLst/>
          </a:prstGeom>
          <a:noFill/>
          <a:ln/>
        </p:spPr>
        <p:txBody>
          <a:bodyPr wrap="square" lIns="0" tIns="0" rIns="0" bIns="0" rtlCol="0" anchor="t"/>
          <a:lstStyle/>
          <a:p>
            <a:pPr marL="0" indent="0" algn="ctr">
              <a:buNone/>
            </a:pPr>
            <a:r>
              <a:rPr lang="en-US" sz="1400" b="1" dirty="0">
                <a:solidFill>
                  <a:schemeClr val="accent1"/>
                </a:solidFill>
              </a:rPr>
              <a:t>TEST</a:t>
            </a:r>
            <a:endParaRPr lang="en-US" sz="1400" dirty="0"/>
          </a:p>
        </p:txBody>
      </p:sp>
      <p:sp>
        <p:nvSpPr>
          <p:cNvPr id="21" name="Text 18"/>
          <p:cNvSpPr txBox="1"/>
          <p:nvPr/>
        </p:nvSpPr>
        <p:spPr>
          <a:xfrm>
            <a:off x="4572000" y="2697480"/>
            <a:ext cx="1645920" cy="548640"/>
          </a:xfrm>
          <a:prstGeom prst="rect">
            <a:avLst/>
          </a:prstGeom>
          <a:noFill/>
          <a:ln/>
        </p:spPr>
        <p:txBody>
          <a:bodyPr wrap="square" lIns="0" tIns="0" rIns="0" bIns="0" rtlCol="0" anchor="t"/>
          <a:lstStyle/>
          <a:p>
            <a:pPr marL="0" indent="0" algn="ctr">
              <a:buNone/>
            </a:pPr>
            <a:r>
              <a:rPr lang="en-US" sz="2800" b="1" dirty="0">
                <a:solidFill>
                  <a:schemeClr val="tx1"/>
                </a:solidFill>
                <a:latin typeface="Cambria" pitchFamily="34" charset="0"/>
                <a:ea typeface="Cambria" pitchFamily="34" charset="-122"/>
                <a:cs typeface="Cambria" pitchFamily="34" charset="-120"/>
              </a:rPr>
              <a:t>894</a:t>
            </a:r>
            <a:endParaRPr lang="en-US" sz="2800" dirty="0"/>
          </a:p>
        </p:txBody>
      </p:sp>
      <p:sp>
        <p:nvSpPr>
          <p:cNvPr id="22" name="Text 19"/>
          <p:cNvSpPr txBox="1"/>
          <p:nvPr/>
        </p:nvSpPr>
        <p:spPr>
          <a:xfrm>
            <a:off x="4572000" y="3246120"/>
            <a:ext cx="1645920" cy="228600"/>
          </a:xfrm>
          <a:prstGeom prst="rect">
            <a:avLst/>
          </a:prstGeom>
          <a:noFill/>
          <a:ln/>
        </p:spPr>
        <p:txBody>
          <a:bodyPr wrap="square" lIns="0" tIns="0" rIns="0" bIns="0" rtlCol="0" anchor="t"/>
          <a:lstStyle/>
          <a:p>
            <a:pPr marL="0" indent="0" algn="ctr">
              <a:buNone/>
            </a:pPr>
            <a:r>
              <a:rPr lang="en-US" sz="1200" dirty="0">
                <a:solidFill>
                  <a:schemeClr val="tx2"/>
                </a:solidFill>
              </a:rPr>
              <a:t>matches</a:t>
            </a:r>
            <a:endParaRPr lang="en-US" sz="1200" dirty="0"/>
          </a:p>
        </p:txBody>
      </p:sp>
      <p:sp>
        <p:nvSpPr>
          <p:cNvPr id="23" name="Shape 20"/>
          <p:cNvSpPr/>
          <p:nvPr/>
        </p:nvSpPr>
        <p:spPr>
          <a:xfrm>
            <a:off x="4800600" y="3566160"/>
            <a:ext cx="1188720" cy="109728"/>
          </a:xfrm>
          <a:prstGeom prst="rect">
            <a:avLst/>
          </a:prstGeom>
          <a:solidFill>
            <a:schemeClr val="accent4"/>
          </a:solidFill>
          <a:ln w="12700">
            <a:solidFill>
              <a:schemeClr val="accent4"/>
            </a:solidFill>
            <a:prstDash val="solid"/>
          </a:ln>
        </p:spPr>
      </p:sp>
      <p:sp>
        <p:nvSpPr>
          <p:cNvPr id="24" name="Shape 21"/>
          <p:cNvSpPr/>
          <p:nvPr/>
        </p:nvSpPr>
        <p:spPr>
          <a:xfrm>
            <a:off x="4800600" y="3566160"/>
            <a:ext cx="300287" cy="109728"/>
          </a:xfrm>
          <a:prstGeom prst="rect">
            <a:avLst/>
          </a:prstGeom>
          <a:solidFill>
            <a:schemeClr val="accent1"/>
          </a:solidFill>
          <a:ln w="12700">
            <a:solidFill>
              <a:schemeClr val="accent1"/>
            </a:solidFill>
            <a:prstDash val="solid"/>
          </a:ln>
        </p:spPr>
      </p:sp>
      <p:sp>
        <p:nvSpPr>
          <p:cNvPr id="25" name="Text 22"/>
          <p:cNvSpPr txBox="1"/>
          <p:nvPr/>
        </p:nvSpPr>
        <p:spPr>
          <a:xfrm>
            <a:off x="4572000" y="3767328"/>
            <a:ext cx="1645920" cy="228600"/>
          </a:xfrm>
          <a:prstGeom prst="rect">
            <a:avLst/>
          </a:prstGeom>
          <a:noFill/>
          <a:ln/>
        </p:spPr>
        <p:txBody>
          <a:bodyPr wrap="square" lIns="0" tIns="0" rIns="0" bIns="0" rtlCol="0" anchor="t"/>
          <a:lstStyle/>
          <a:p>
            <a:pPr marL="0" indent="0" algn="ctr">
              <a:buNone/>
            </a:pPr>
            <a:r>
              <a:rPr lang="en-US" sz="1050" dirty="0">
                <a:solidFill>
                  <a:schemeClr val="tx2"/>
                </a:solidFill>
              </a:rPr>
              <a:t>used for modelling: 894</a:t>
            </a:r>
            <a:endParaRPr lang="en-US" sz="1050" dirty="0"/>
          </a:p>
        </p:txBody>
      </p:sp>
      <p:sp>
        <p:nvSpPr>
          <p:cNvPr id="26" name="Card"/>
          <p:cNvSpPr/>
          <p:nvPr/>
        </p:nvSpPr>
        <p:spPr>
          <a:xfrm>
            <a:off x="6380378" y="2286000"/>
            <a:ext cx="1645920" cy="1828800"/>
          </a:xfrm>
          <a:prstGeom prst="roundRect">
            <a:avLst>
              <a:gd name="adj" fmla="val 6667"/>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27" name="Text 24"/>
          <p:cNvSpPr txBox="1"/>
          <p:nvPr/>
        </p:nvSpPr>
        <p:spPr>
          <a:xfrm>
            <a:off x="6380378" y="2395728"/>
            <a:ext cx="1645920" cy="274320"/>
          </a:xfrm>
          <a:prstGeom prst="rect">
            <a:avLst/>
          </a:prstGeom>
          <a:noFill/>
          <a:ln/>
        </p:spPr>
        <p:txBody>
          <a:bodyPr wrap="square" lIns="0" tIns="0" rIns="0" bIns="0" rtlCol="0" anchor="t"/>
          <a:lstStyle/>
          <a:p>
            <a:pPr marL="0" indent="0" algn="ctr">
              <a:buNone/>
            </a:pPr>
            <a:r>
              <a:rPr lang="en-US" sz="1400" b="1" dirty="0">
                <a:solidFill>
                  <a:schemeClr val="accent1"/>
                </a:solidFill>
              </a:rPr>
              <a:t>ODI</a:t>
            </a:r>
            <a:endParaRPr lang="en-US" sz="1400" dirty="0"/>
          </a:p>
        </p:txBody>
      </p:sp>
      <p:sp>
        <p:nvSpPr>
          <p:cNvPr id="28" name="Text 25"/>
          <p:cNvSpPr txBox="1"/>
          <p:nvPr/>
        </p:nvSpPr>
        <p:spPr>
          <a:xfrm>
            <a:off x="6380378" y="2697480"/>
            <a:ext cx="1645920" cy="548640"/>
          </a:xfrm>
          <a:prstGeom prst="rect">
            <a:avLst/>
          </a:prstGeom>
          <a:noFill/>
          <a:ln/>
        </p:spPr>
        <p:txBody>
          <a:bodyPr wrap="square" lIns="0" tIns="0" rIns="0" bIns="0" rtlCol="0" anchor="t"/>
          <a:lstStyle/>
          <a:p>
            <a:pPr marL="0" indent="0" algn="ctr">
              <a:buNone/>
            </a:pPr>
            <a:r>
              <a:rPr lang="en-US" sz="2800" b="1" dirty="0">
                <a:solidFill>
                  <a:schemeClr val="tx1"/>
                </a:solidFill>
                <a:latin typeface="Cambria" pitchFamily="34" charset="0"/>
                <a:ea typeface="Cambria" pitchFamily="34" charset="-122"/>
                <a:cs typeface="Cambria" pitchFamily="34" charset="-120"/>
              </a:rPr>
              <a:t>2,571</a:t>
            </a:r>
            <a:endParaRPr lang="en-US" sz="2800" dirty="0"/>
          </a:p>
        </p:txBody>
      </p:sp>
      <p:sp>
        <p:nvSpPr>
          <p:cNvPr id="29" name="Text 26"/>
          <p:cNvSpPr txBox="1"/>
          <p:nvPr/>
        </p:nvSpPr>
        <p:spPr>
          <a:xfrm>
            <a:off x="6380378" y="3246120"/>
            <a:ext cx="1645920" cy="228600"/>
          </a:xfrm>
          <a:prstGeom prst="rect">
            <a:avLst/>
          </a:prstGeom>
          <a:noFill/>
          <a:ln/>
        </p:spPr>
        <p:txBody>
          <a:bodyPr wrap="square" lIns="0" tIns="0" rIns="0" bIns="0" rtlCol="0" anchor="t"/>
          <a:lstStyle/>
          <a:p>
            <a:pPr marL="0" indent="0" algn="ctr">
              <a:buNone/>
            </a:pPr>
            <a:r>
              <a:rPr lang="en-US" sz="1200" dirty="0">
                <a:solidFill>
                  <a:schemeClr val="tx2"/>
                </a:solidFill>
              </a:rPr>
              <a:t>matches</a:t>
            </a:r>
            <a:endParaRPr lang="en-US" sz="1200" dirty="0"/>
          </a:p>
        </p:txBody>
      </p:sp>
      <p:sp>
        <p:nvSpPr>
          <p:cNvPr id="30" name="Shape 27"/>
          <p:cNvSpPr/>
          <p:nvPr/>
        </p:nvSpPr>
        <p:spPr>
          <a:xfrm>
            <a:off x="6608978" y="3566160"/>
            <a:ext cx="1188720" cy="109728"/>
          </a:xfrm>
          <a:prstGeom prst="rect">
            <a:avLst/>
          </a:prstGeom>
          <a:solidFill>
            <a:schemeClr val="accent4"/>
          </a:solidFill>
          <a:ln w="12700">
            <a:solidFill>
              <a:schemeClr val="accent4"/>
            </a:solidFill>
            <a:prstDash val="solid"/>
          </a:ln>
        </p:spPr>
      </p:sp>
      <p:sp>
        <p:nvSpPr>
          <p:cNvPr id="31" name="Shape 28"/>
          <p:cNvSpPr/>
          <p:nvPr/>
        </p:nvSpPr>
        <p:spPr>
          <a:xfrm>
            <a:off x="6608978" y="3566160"/>
            <a:ext cx="863577" cy="109728"/>
          </a:xfrm>
          <a:prstGeom prst="rect">
            <a:avLst/>
          </a:prstGeom>
          <a:solidFill>
            <a:schemeClr val="accent1"/>
          </a:solidFill>
          <a:ln w="12700">
            <a:solidFill>
              <a:schemeClr val="accent1"/>
            </a:solidFill>
            <a:prstDash val="solid"/>
          </a:ln>
        </p:spPr>
      </p:sp>
      <p:sp>
        <p:nvSpPr>
          <p:cNvPr id="32" name="Text 29"/>
          <p:cNvSpPr txBox="1"/>
          <p:nvPr/>
        </p:nvSpPr>
        <p:spPr>
          <a:xfrm>
            <a:off x="6380378" y="3767328"/>
            <a:ext cx="1645920" cy="228600"/>
          </a:xfrm>
          <a:prstGeom prst="rect">
            <a:avLst/>
          </a:prstGeom>
          <a:noFill/>
          <a:ln/>
        </p:spPr>
        <p:txBody>
          <a:bodyPr wrap="square" lIns="0" tIns="0" rIns="0" bIns="0" rtlCol="0" anchor="t"/>
          <a:lstStyle/>
          <a:p>
            <a:pPr marL="0" indent="0" algn="ctr">
              <a:buNone/>
            </a:pPr>
            <a:r>
              <a:rPr lang="en-US" sz="1050" dirty="0">
                <a:solidFill>
                  <a:schemeClr val="tx2"/>
                </a:solidFill>
              </a:rPr>
              <a:t>used for modelling: 2,442</a:t>
            </a:r>
            <a:endParaRPr lang="en-US" sz="1050" dirty="0"/>
          </a:p>
        </p:txBody>
      </p:sp>
      <p:sp>
        <p:nvSpPr>
          <p:cNvPr id="33" name="Card"/>
          <p:cNvSpPr/>
          <p:nvPr/>
        </p:nvSpPr>
        <p:spPr>
          <a:xfrm>
            <a:off x="8188757" y="2286000"/>
            <a:ext cx="1645920" cy="1828800"/>
          </a:xfrm>
          <a:prstGeom prst="roundRect">
            <a:avLst>
              <a:gd name="adj" fmla="val 6667"/>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34" name="Text 31"/>
          <p:cNvSpPr txBox="1"/>
          <p:nvPr/>
        </p:nvSpPr>
        <p:spPr>
          <a:xfrm>
            <a:off x="8188757" y="2395728"/>
            <a:ext cx="1645920" cy="274320"/>
          </a:xfrm>
          <a:prstGeom prst="rect">
            <a:avLst/>
          </a:prstGeom>
          <a:noFill/>
          <a:ln/>
        </p:spPr>
        <p:txBody>
          <a:bodyPr wrap="square" lIns="0" tIns="0" rIns="0" bIns="0" rtlCol="0" anchor="t"/>
          <a:lstStyle/>
          <a:p>
            <a:pPr marL="0" indent="0" algn="ctr">
              <a:buNone/>
            </a:pPr>
            <a:r>
              <a:rPr lang="en-US" sz="1400" b="1" dirty="0">
                <a:solidFill>
                  <a:schemeClr val="accent1"/>
                </a:solidFill>
              </a:rPr>
              <a:t>T20</a:t>
            </a:r>
            <a:endParaRPr lang="en-US" sz="1400" dirty="0"/>
          </a:p>
        </p:txBody>
      </p:sp>
      <p:sp>
        <p:nvSpPr>
          <p:cNvPr id="35" name="Text 32"/>
          <p:cNvSpPr txBox="1"/>
          <p:nvPr/>
        </p:nvSpPr>
        <p:spPr>
          <a:xfrm>
            <a:off x="8188757" y="2697480"/>
            <a:ext cx="1645920" cy="548640"/>
          </a:xfrm>
          <a:prstGeom prst="rect">
            <a:avLst/>
          </a:prstGeom>
          <a:noFill/>
          <a:ln/>
        </p:spPr>
        <p:txBody>
          <a:bodyPr wrap="square" lIns="0" tIns="0" rIns="0" bIns="0" rtlCol="0" anchor="t"/>
          <a:lstStyle/>
          <a:p>
            <a:pPr marL="0" indent="0" algn="ctr">
              <a:buNone/>
            </a:pPr>
            <a:r>
              <a:rPr lang="en-US" sz="2800" b="1" dirty="0">
                <a:solidFill>
                  <a:schemeClr val="tx1"/>
                </a:solidFill>
                <a:latin typeface="Cambria" pitchFamily="34" charset="0"/>
                <a:ea typeface="Cambria" pitchFamily="34" charset="-122"/>
                <a:cs typeface="Cambria" pitchFamily="34" charset="-120"/>
              </a:rPr>
              <a:t>3,539</a:t>
            </a:r>
            <a:endParaRPr lang="en-US" sz="2800" dirty="0"/>
          </a:p>
        </p:txBody>
      </p:sp>
      <p:sp>
        <p:nvSpPr>
          <p:cNvPr id="36" name="Text 33"/>
          <p:cNvSpPr txBox="1"/>
          <p:nvPr/>
        </p:nvSpPr>
        <p:spPr>
          <a:xfrm>
            <a:off x="8188757" y="3246120"/>
            <a:ext cx="1645920" cy="228600"/>
          </a:xfrm>
          <a:prstGeom prst="rect">
            <a:avLst/>
          </a:prstGeom>
          <a:noFill/>
          <a:ln/>
        </p:spPr>
        <p:txBody>
          <a:bodyPr wrap="square" lIns="0" tIns="0" rIns="0" bIns="0" rtlCol="0" anchor="t"/>
          <a:lstStyle/>
          <a:p>
            <a:pPr marL="0" indent="0" algn="ctr">
              <a:buNone/>
            </a:pPr>
            <a:r>
              <a:rPr lang="en-US" sz="1200" dirty="0">
                <a:solidFill>
                  <a:schemeClr val="tx2"/>
                </a:solidFill>
              </a:rPr>
              <a:t>matches</a:t>
            </a:r>
            <a:endParaRPr lang="en-US" sz="1200" dirty="0"/>
          </a:p>
        </p:txBody>
      </p:sp>
      <p:sp>
        <p:nvSpPr>
          <p:cNvPr id="37" name="Shape 34"/>
          <p:cNvSpPr/>
          <p:nvPr/>
        </p:nvSpPr>
        <p:spPr>
          <a:xfrm>
            <a:off x="8417357" y="3566160"/>
            <a:ext cx="1188720" cy="109728"/>
          </a:xfrm>
          <a:prstGeom prst="rect">
            <a:avLst/>
          </a:prstGeom>
          <a:solidFill>
            <a:schemeClr val="accent4"/>
          </a:solidFill>
          <a:ln w="12700">
            <a:solidFill>
              <a:schemeClr val="accent4"/>
            </a:solidFill>
            <a:prstDash val="solid"/>
          </a:ln>
        </p:spPr>
      </p:sp>
      <p:sp>
        <p:nvSpPr>
          <p:cNvPr id="38" name="Shape 35"/>
          <p:cNvSpPr/>
          <p:nvPr/>
        </p:nvSpPr>
        <p:spPr>
          <a:xfrm>
            <a:off x="8417357" y="3566160"/>
            <a:ext cx="1188720" cy="109728"/>
          </a:xfrm>
          <a:prstGeom prst="rect">
            <a:avLst/>
          </a:prstGeom>
          <a:solidFill>
            <a:schemeClr val="accent1"/>
          </a:solidFill>
          <a:ln w="12700">
            <a:solidFill>
              <a:schemeClr val="accent1"/>
            </a:solidFill>
            <a:prstDash val="solid"/>
          </a:ln>
        </p:spPr>
      </p:sp>
      <p:sp>
        <p:nvSpPr>
          <p:cNvPr id="39" name="Text 36"/>
          <p:cNvSpPr txBox="1"/>
          <p:nvPr/>
        </p:nvSpPr>
        <p:spPr>
          <a:xfrm>
            <a:off x="8188757" y="3767328"/>
            <a:ext cx="1645920" cy="228600"/>
          </a:xfrm>
          <a:prstGeom prst="rect">
            <a:avLst/>
          </a:prstGeom>
          <a:noFill/>
          <a:ln/>
        </p:spPr>
        <p:txBody>
          <a:bodyPr wrap="square" lIns="0" tIns="0" rIns="0" bIns="0" rtlCol="0" anchor="t"/>
          <a:lstStyle/>
          <a:p>
            <a:pPr marL="0" indent="0" algn="ctr">
              <a:buNone/>
            </a:pPr>
            <a:r>
              <a:rPr lang="en-US" sz="1050" dirty="0">
                <a:solidFill>
                  <a:schemeClr val="tx2"/>
                </a:solidFill>
              </a:rPr>
              <a:t>used for modelling: 3,423</a:t>
            </a:r>
            <a:endParaRPr lang="en-US" sz="1050" dirty="0"/>
          </a:p>
        </p:txBody>
      </p:sp>
      <p:sp>
        <p:nvSpPr>
          <p:cNvPr id="40" name="Card"/>
          <p:cNvSpPr/>
          <p:nvPr/>
        </p:nvSpPr>
        <p:spPr>
          <a:xfrm>
            <a:off x="9997135" y="2286000"/>
            <a:ext cx="1645920" cy="1828800"/>
          </a:xfrm>
          <a:prstGeom prst="roundRect">
            <a:avLst>
              <a:gd name="adj" fmla="val 6667"/>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41" name="Text 38"/>
          <p:cNvSpPr txBox="1"/>
          <p:nvPr/>
        </p:nvSpPr>
        <p:spPr>
          <a:xfrm>
            <a:off x="9997135" y="2395728"/>
            <a:ext cx="1645920" cy="274320"/>
          </a:xfrm>
          <a:prstGeom prst="rect">
            <a:avLst/>
          </a:prstGeom>
          <a:noFill/>
          <a:ln/>
        </p:spPr>
        <p:txBody>
          <a:bodyPr wrap="square" lIns="0" tIns="0" rIns="0" bIns="0" rtlCol="0" anchor="t"/>
          <a:lstStyle/>
          <a:p>
            <a:pPr marL="0" indent="0" algn="ctr">
              <a:buNone/>
            </a:pPr>
            <a:r>
              <a:rPr lang="en-US" sz="1400" b="1" dirty="0">
                <a:solidFill>
                  <a:schemeClr val="accent1"/>
                </a:solidFill>
              </a:rPr>
              <a:t>IPL</a:t>
            </a:r>
            <a:endParaRPr lang="en-US" sz="1400" dirty="0"/>
          </a:p>
        </p:txBody>
      </p:sp>
      <p:sp>
        <p:nvSpPr>
          <p:cNvPr id="42" name="Text 39"/>
          <p:cNvSpPr txBox="1"/>
          <p:nvPr/>
        </p:nvSpPr>
        <p:spPr>
          <a:xfrm>
            <a:off x="9997135" y="2697480"/>
            <a:ext cx="1645920" cy="548640"/>
          </a:xfrm>
          <a:prstGeom prst="rect">
            <a:avLst/>
          </a:prstGeom>
          <a:noFill/>
          <a:ln/>
        </p:spPr>
        <p:txBody>
          <a:bodyPr wrap="square" lIns="0" tIns="0" rIns="0" bIns="0" rtlCol="0" anchor="t"/>
          <a:lstStyle/>
          <a:p>
            <a:pPr marL="0" indent="0" algn="ctr">
              <a:buNone/>
            </a:pPr>
            <a:r>
              <a:rPr lang="en-US" sz="2800" b="1" dirty="0">
                <a:solidFill>
                  <a:schemeClr val="tx1"/>
                </a:solidFill>
                <a:latin typeface="Cambria" pitchFamily="34" charset="0"/>
                <a:ea typeface="Cambria" pitchFamily="34" charset="-122"/>
                <a:cs typeface="Cambria" pitchFamily="34" charset="-120"/>
              </a:rPr>
              <a:t>1,243</a:t>
            </a:r>
            <a:endParaRPr lang="en-US" sz="2800" dirty="0"/>
          </a:p>
        </p:txBody>
      </p:sp>
      <p:sp>
        <p:nvSpPr>
          <p:cNvPr id="43" name="Text 40"/>
          <p:cNvSpPr txBox="1"/>
          <p:nvPr/>
        </p:nvSpPr>
        <p:spPr>
          <a:xfrm>
            <a:off x="9997135" y="3246120"/>
            <a:ext cx="1645920" cy="228600"/>
          </a:xfrm>
          <a:prstGeom prst="rect">
            <a:avLst/>
          </a:prstGeom>
          <a:noFill/>
          <a:ln/>
        </p:spPr>
        <p:txBody>
          <a:bodyPr wrap="square" lIns="0" tIns="0" rIns="0" bIns="0" rtlCol="0" anchor="t"/>
          <a:lstStyle/>
          <a:p>
            <a:pPr marL="0" indent="0" algn="ctr">
              <a:buNone/>
            </a:pPr>
            <a:r>
              <a:rPr lang="en-US" sz="1200" dirty="0">
                <a:solidFill>
                  <a:schemeClr val="tx2"/>
                </a:solidFill>
              </a:rPr>
              <a:t>matches</a:t>
            </a:r>
            <a:endParaRPr lang="en-US" sz="1200" dirty="0"/>
          </a:p>
        </p:txBody>
      </p:sp>
      <p:sp>
        <p:nvSpPr>
          <p:cNvPr id="44" name="Shape 41"/>
          <p:cNvSpPr/>
          <p:nvPr/>
        </p:nvSpPr>
        <p:spPr>
          <a:xfrm>
            <a:off x="10225735" y="3566160"/>
            <a:ext cx="1188720" cy="109728"/>
          </a:xfrm>
          <a:prstGeom prst="rect">
            <a:avLst/>
          </a:prstGeom>
          <a:solidFill>
            <a:schemeClr val="accent4"/>
          </a:solidFill>
          <a:ln w="12700">
            <a:solidFill>
              <a:schemeClr val="accent4"/>
            </a:solidFill>
            <a:prstDash val="solid"/>
          </a:ln>
        </p:spPr>
      </p:sp>
      <p:sp>
        <p:nvSpPr>
          <p:cNvPr id="45" name="Shape 42"/>
          <p:cNvSpPr/>
          <p:nvPr/>
        </p:nvSpPr>
        <p:spPr>
          <a:xfrm>
            <a:off x="10225735" y="3566160"/>
            <a:ext cx="417513" cy="109728"/>
          </a:xfrm>
          <a:prstGeom prst="rect">
            <a:avLst/>
          </a:prstGeom>
          <a:solidFill>
            <a:schemeClr val="accent1"/>
          </a:solidFill>
          <a:ln w="12700">
            <a:solidFill>
              <a:schemeClr val="accent1"/>
            </a:solidFill>
            <a:prstDash val="solid"/>
          </a:ln>
        </p:spPr>
      </p:sp>
      <p:sp>
        <p:nvSpPr>
          <p:cNvPr id="46" name="Text 43"/>
          <p:cNvSpPr txBox="1"/>
          <p:nvPr/>
        </p:nvSpPr>
        <p:spPr>
          <a:xfrm>
            <a:off x="9997135" y="3767328"/>
            <a:ext cx="1645920" cy="228600"/>
          </a:xfrm>
          <a:prstGeom prst="rect">
            <a:avLst/>
          </a:prstGeom>
          <a:noFill/>
          <a:ln/>
        </p:spPr>
        <p:txBody>
          <a:bodyPr wrap="square" lIns="0" tIns="0" rIns="0" bIns="0" rtlCol="0" anchor="t"/>
          <a:lstStyle/>
          <a:p>
            <a:pPr marL="0" indent="0" algn="ctr">
              <a:buNone/>
            </a:pPr>
            <a:r>
              <a:rPr lang="en-US" sz="1050" dirty="0">
                <a:solidFill>
                  <a:schemeClr val="tx2"/>
                </a:solidFill>
              </a:rPr>
              <a:t>used for modelling: 1,218</a:t>
            </a:r>
            <a:endParaRPr lang="en-US" sz="1050" dirty="0"/>
          </a:p>
        </p:txBody>
      </p:sp>
      <p:sp>
        <p:nvSpPr>
          <p:cNvPr id="47" name="Text 44"/>
          <p:cNvSpPr txBox="1"/>
          <p:nvPr/>
        </p:nvSpPr>
        <p:spPr>
          <a:xfrm>
            <a:off x="548640" y="4315968"/>
            <a:ext cx="7315200" cy="256032"/>
          </a:xfrm>
          <a:prstGeom prst="rect">
            <a:avLst/>
          </a:prstGeom>
          <a:noFill/>
          <a:ln/>
        </p:spPr>
        <p:txBody>
          <a:bodyPr wrap="square" lIns="0" tIns="0" rIns="0" bIns="0" rtlCol="0" anchor="t"/>
          <a:lstStyle/>
          <a:p>
            <a:pPr marL="0" indent="0">
              <a:buNone/>
            </a:pPr>
            <a:r>
              <a:rPr lang="en-US" sz="1200" b="1" kern="0" spc="100" dirty="0">
                <a:solidFill>
                  <a:schemeClr val="accent1"/>
                </a:solidFill>
              </a:rPr>
              <a:t>RAW DATASET FEATURES  (13 match-level columns)</a:t>
            </a:r>
            <a:endParaRPr lang="en-US" sz="1200" dirty="0"/>
          </a:p>
        </p:txBody>
      </p:sp>
      <p:sp>
        <p:nvSpPr>
          <p:cNvPr id="48" name="Shape 45"/>
          <p:cNvSpPr/>
          <p:nvPr/>
        </p:nvSpPr>
        <p:spPr>
          <a:xfrm>
            <a:off x="548640" y="4645152"/>
            <a:ext cx="950976" cy="365760"/>
          </a:xfrm>
          <a:prstGeom prst="roundRect">
            <a:avLst>
              <a:gd name="adj" fmla="val 20000"/>
            </a:avLst>
          </a:prstGeom>
          <a:solidFill>
            <a:schemeClr val="bg1"/>
          </a:solidFill>
          <a:ln w="12700">
            <a:solidFill>
              <a:schemeClr val="accent4"/>
            </a:solidFill>
            <a:prstDash val="solid"/>
          </a:ln>
        </p:spPr>
      </p:sp>
      <p:sp>
        <p:nvSpPr>
          <p:cNvPr id="49" name="Text 46"/>
          <p:cNvSpPr txBox="1"/>
          <p:nvPr/>
        </p:nvSpPr>
        <p:spPr>
          <a:xfrm>
            <a:off x="548640" y="4645152"/>
            <a:ext cx="950976" cy="365760"/>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format</a:t>
            </a:r>
            <a:endParaRPr lang="en-US" sz="1200" dirty="0"/>
          </a:p>
        </p:txBody>
      </p:sp>
      <p:sp>
        <p:nvSpPr>
          <p:cNvPr id="50" name="Shape 47"/>
          <p:cNvSpPr/>
          <p:nvPr/>
        </p:nvSpPr>
        <p:spPr>
          <a:xfrm>
            <a:off x="1627632" y="4645152"/>
            <a:ext cx="740664" cy="365760"/>
          </a:xfrm>
          <a:prstGeom prst="roundRect">
            <a:avLst>
              <a:gd name="adj" fmla="val 20000"/>
            </a:avLst>
          </a:prstGeom>
          <a:solidFill>
            <a:schemeClr val="bg1"/>
          </a:solidFill>
          <a:ln w="12700">
            <a:solidFill>
              <a:schemeClr val="accent4"/>
            </a:solidFill>
            <a:prstDash val="solid"/>
          </a:ln>
        </p:spPr>
      </p:sp>
      <p:sp>
        <p:nvSpPr>
          <p:cNvPr id="51" name="Text 48"/>
          <p:cNvSpPr txBox="1"/>
          <p:nvPr/>
        </p:nvSpPr>
        <p:spPr>
          <a:xfrm>
            <a:off x="1627632" y="4645152"/>
            <a:ext cx="740664" cy="365760"/>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date</a:t>
            </a:r>
            <a:endParaRPr lang="en-US" sz="1200" dirty="0"/>
          </a:p>
        </p:txBody>
      </p:sp>
      <p:sp>
        <p:nvSpPr>
          <p:cNvPr id="52" name="Shape 49"/>
          <p:cNvSpPr/>
          <p:nvPr/>
        </p:nvSpPr>
        <p:spPr>
          <a:xfrm>
            <a:off x="2496312" y="4645152"/>
            <a:ext cx="845820" cy="365760"/>
          </a:xfrm>
          <a:prstGeom prst="roundRect">
            <a:avLst>
              <a:gd name="adj" fmla="val 20000"/>
            </a:avLst>
          </a:prstGeom>
          <a:solidFill>
            <a:schemeClr val="bg1"/>
          </a:solidFill>
          <a:ln w="12700">
            <a:solidFill>
              <a:schemeClr val="accent4"/>
            </a:solidFill>
            <a:prstDash val="solid"/>
          </a:ln>
        </p:spPr>
      </p:sp>
      <p:sp>
        <p:nvSpPr>
          <p:cNvPr id="53" name="Text 50"/>
          <p:cNvSpPr txBox="1"/>
          <p:nvPr/>
        </p:nvSpPr>
        <p:spPr>
          <a:xfrm>
            <a:off x="2496312" y="4645152"/>
            <a:ext cx="845820" cy="365760"/>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team1</a:t>
            </a:r>
            <a:endParaRPr lang="en-US" sz="1200" dirty="0"/>
          </a:p>
        </p:txBody>
      </p:sp>
      <p:sp>
        <p:nvSpPr>
          <p:cNvPr id="54" name="Shape 51"/>
          <p:cNvSpPr/>
          <p:nvPr/>
        </p:nvSpPr>
        <p:spPr>
          <a:xfrm>
            <a:off x="3470148" y="4645152"/>
            <a:ext cx="845820" cy="365760"/>
          </a:xfrm>
          <a:prstGeom prst="roundRect">
            <a:avLst>
              <a:gd name="adj" fmla="val 20000"/>
            </a:avLst>
          </a:prstGeom>
          <a:solidFill>
            <a:schemeClr val="bg1"/>
          </a:solidFill>
          <a:ln w="12700">
            <a:solidFill>
              <a:schemeClr val="accent4"/>
            </a:solidFill>
            <a:prstDash val="solid"/>
          </a:ln>
        </p:spPr>
      </p:sp>
      <p:sp>
        <p:nvSpPr>
          <p:cNvPr id="55" name="Text 52"/>
          <p:cNvSpPr txBox="1"/>
          <p:nvPr/>
        </p:nvSpPr>
        <p:spPr>
          <a:xfrm>
            <a:off x="3470148" y="4645152"/>
            <a:ext cx="845820" cy="365760"/>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team2</a:t>
            </a:r>
            <a:endParaRPr lang="en-US" sz="1200" dirty="0"/>
          </a:p>
        </p:txBody>
      </p:sp>
      <p:sp>
        <p:nvSpPr>
          <p:cNvPr id="56" name="Shape 53"/>
          <p:cNvSpPr/>
          <p:nvPr/>
        </p:nvSpPr>
        <p:spPr>
          <a:xfrm>
            <a:off x="4443984" y="4645152"/>
            <a:ext cx="845820" cy="365760"/>
          </a:xfrm>
          <a:prstGeom prst="roundRect">
            <a:avLst>
              <a:gd name="adj" fmla="val 20000"/>
            </a:avLst>
          </a:prstGeom>
          <a:solidFill>
            <a:schemeClr val="bg1"/>
          </a:solidFill>
          <a:ln w="12700">
            <a:solidFill>
              <a:schemeClr val="accent4"/>
            </a:solidFill>
            <a:prstDash val="solid"/>
          </a:ln>
        </p:spPr>
      </p:sp>
      <p:sp>
        <p:nvSpPr>
          <p:cNvPr id="57" name="Text 54"/>
          <p:cNvSpPr txBox="1"/>
          <p:nvPr/>
        </p:nvSpPr>
        <p:spPr>
          <a:xfrm>
            <a:off x="4443984" y="4645152"/>
            <a:ext cx="845820" cy="365760"/>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venue</a:t>
            </a:r>
            <a:endParaRPr lang="en-US" sz="1200" dirty="0"/>
          </a:p>
        </p:txBody>
      </p:sp>
      <p:sp>
        <p:nvSpPr>
          <p:cNvPr id="58" name="Shape 55"/>
          <p:cNvSpPr/>
          <p:nvPr/>
        </p:nvSpPr>
        <p:spPr>
          <a:xfrm>
            <a:off x="5417820" y="4645152"/>
            <a:ext cx="1476756" cy="365760"/>
          </a:xfrm>
          <a:prstGeom prst="roundRect">
            <a:avLst>
              <a:gd name="adj" fmla="val 20000"/>
            </a:avLst>
          </a:prstGeom>
          <a:solidFill>
            <a:schemeClr val="bg1"/>
          </a:solidFill>
          <a:ln w="12700">
            <a:solidFill>
              <a:schemeClr val="accent4"/>
            </a:solidFill>
            <a:prstDash val="solid"/>
          </a:ln>
        </p:spPr>
      </p:sp>
      <p:sp>
        <p:nvSpPr>
          <p:cNvPr id="59" name="Text 56"/>
          <p:cNvSpPr txBox="1"/>
          <p:nvPr/>
        </p:nvSpPr>
        <p:spPr>
          <a:xfrm>
            <a:off x="5417820" y="4645152"/>
            <a:ext cx="1476756" cy="365760"/>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toss_winner</a:t>
            </a:r>
            <a:endParaRPr lang="en-US" sz="1200" dirty="0"/>
          </a:p>
        </p:txBody>
      </p:sp>
      <p:sp>
        <p:nvSpPr>
          <p:cNvPr id="60" name="Shape 57"/>
          <p:cNvSpPr/>
          <p:nvPr/>
        </p:nvSpPr>
        <p:spPr>
          <a:xfrm>
            <a:off x="7022592" y="4645152"/>
            <a:ext cx="1687068" cy="365760"/>
          </a:xfrm>
          <a:prstGeom prst="roundRect">
            <a:avLst>
              <a:gd name="adj" fmla="val 20000"/>
            </a:avLst>
          </a:prstGeom>
          <a:solidFill>
            <a:schemeClr val="bg1"/>
          </a:solidFill>
          <a:ln w="12700">
            <a:solidFill>
              <a:schemeClr val="accent4"/>
            </a:solidFill>
            <a:prstDash val="solid"/>
          </a:ln>
        </p:spPr>
      </p:sp>
      <p:sp>
        <p:nvSpPr>
          <p:cNvPr id="61" name="Text 58"/>
          <p:cNvSpPr txBox="1"/>
          <p:nvPr/>
        </p:nvSpPr>
        <p:spPr>
          <a:xfrm>
            <a:off x="7022592" y="4645152"/>
            <a:ext cx="1687068" cy="365760"/>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toss_decision</a:t>
            </a:r>
            <a:endParaRPr lang="en-US" sz="1200" dirty="0"/>
          </a:p>
        </p:txBody>
      </p:sp>
      <p:sp>
        <p:nvSpPr>
          <p:cNvPr id="62" name="Shape 59"/>
          <p:cNvSpPr/>
          <p:nvPr/>
        </p:nvSpPr>
        <p:spPr>
          <a:xfrm>
            <a:off x="8837676" y="4645152"/>
            <a:ext cx="950976" cy="365760"/>
          </a:xfrm>
          <a:prstGeom prst="roundRect">
            <a:avLst>
              <a:gd name="adj" fmla="val 20000"/>
            </a:avLst>
          </a:prstGeom>
          <a:solidFill>
            <a:schemeClr val="bg1"/>
          </a:solidFill>
          <a:ln w="12700">
            <a:solidFill>
              <a:schemeClr val="accent4"/>
            </a:solidFill>
            <a:prstDash val="solid"/>
          </a:ln>
        </p:spPr>
      </p:sp>
      <p:sp>
        <p:nvSpPr>
          <p:cNvPr id="63" name="Text 60"/>
          <p:cNvSpPr txBox="1"/>
          <p:nvPr/>
        </p:nvSpPr>
        <p:spPr>
          <a:xfrm>
            <a:off x="8837676" y="4645152"/>
            <a:ext cx="950976" cy="365760"/>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winner</a:t>
            </a:r>
            <a:endParaRPr lang="en-US" sz="1200" dirty="0"/>
          </a:p>
        </p:txBody>
      </p:sp>
      <p:sp>
        <p:nvSpPr>
          <p:cNvPr id="64" name="Shape 61"/>
          <p:cNvSpPr/>
          <p:nvPr/>
        </p:nvSpPr>
        <p:spPr>
          <a:xfrm>
            <a:off x="9916668" y="4645152"/>
            <a:ext cx="950976" cy="365760"/>
          </a:xfrm>
          <a:prstGeom prst="roundRect">
            <a:avLst>
              <a:gd name="adj" fmla="val 20000"/>
            </a:avLst>
          </a:prstGeom>
          <a:solidFill>
            <a:schemeClr val="bg1"/>
          </a:solidFill>
          <a:ln w="12700">
            <a:solidFill>
              <a:schemeClr val="accent4"/>
            </a:solidFill>
            <a:prstDash val="solid"/>
          </a:ln>
        </p:spPr>
      </p:sp>
      <p:sp>
        <p:nvSpPr>
          <p:cNvPr id="65" name="Text 62"/>
          <p:cNvSpPr txBox="1"/>
          <p:nvPr/>
        </p:nvSpPr>
        <p:spPr>
          <a:xfrm>
            <a:off x="9916668" y="4645152"/>
            <a:ext cx="950976" cy="365760"/>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result</a:t>
            </a:r>
            <a:endParaRPr lang="en-US" sz="1200" dirty="0"/>
          </a:p>
        </p:txBody>
      </p:sp>
      <p:sp>
        <p:nvSpPr>
          <p:cNvPr id="66" name="Shape 63"/>
          <p:cNvSpPr/>
          <p:nvPr/>
        </p:nvSpPr>
        <p:spPr>
          <a:xfrm>
            <a:off x="548640" y="5120640"/>
            <a:ext cx="1371600" cy="365760"/>
          </a:xfrm>
          <a:prstGeom prst="roundRect">
            <a:avLst>
              <a:gd name="adj" fmla="val 20000"/>
            </a:avLst>
          </a:prstGeom>
          <a:solidFill>
            <a:schemeClr val="bg1"/>
          </a:solidFill>
          <a:ln w="12700">
            <a:solidFill>
              <a:schemeClr val="accent4"/>
            </a:solidFill>
            <a:prstDash val="solid"/>
          </a:ln>
        </p:spPr>
      </p:sp>
      <p:sp>
        <p:nvSpPr>
          <p:cNvPr id="67" name="Text 64"/>
          <p:cNvSpPr txBox="1"/>
          <p:nvPr/>
        </p:nvSpPr>
        <p:spPr>
          <a:xfrm>
            <a:off x="548640" y="5120640"/>
            <a:ext cx="1371600" cy="365760"/>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team1_runs</a:t>
            </a:r>
            <a:endParaRPr lang="en-US" sz="1200" dirty="0"/>
          </a:p>
        </p:txBody>
      </p:sp>
      <p:sp>
        <p:nvSpPr>
          <p:cNvPr id="68" name="Shape 65"/>
          <p:cNvSpPr/>
          <p:nvPr/>
        </p:nvSpPr>
        <p:spPr>
          <a:xfrm>
            <a:off x="2048256" y="5120640"/>
            <a:ext cx="1371600" cy="365760"/>
          </a:xfrm>
          <a:prstGeom prst="roundRect">
            <a:avLst>
              <a:gd name="adj" fmla="val 20000"/>
            </a:avLst>
          </a:prstGeom>
          <a:solidFill>
            <a:schemeClr val="bg1"/>
          </a:solidFill>
          <a:ln w="12700">
            <a:solidFill>
              <a:schemeClr val="accent4"/>
            </a:solidFill>
            <a:prstDash val="solid"/>
          </a:ln>
        </p:spPr>
      </p:sp>
      <p:sp>
        <p:nvSpPr>
          <p:cNvPr id="69" name="Text 66"/>
          <p:cNvSpPr txBox="1"/>
          <p:nvPr/>
        </p:nvSpPr>
        <p:spPr>
          <a:xfrm>
            <a:off x="2048256" y="5120640"/>
            <a:ext cx="1371600" cy="365760"/>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team2_runs</a:t>
            </a:r>
            <a:endParaRPr lang="en-US" sz="1200" dirty="0"/>
          </a:p>
        </p:txBody>
      </p:sp>
      <p:sp>
        <p:nvSpPr>
          <p:cNvPr id="70" name="Shape 67"/>
          <p:cNvSpPr/>
          <p:nvPr/>
        </p:nvSpPr>
        <p:spPr>
          <a:xfrm>
            <a:off x="3547872" y="5120640"/>
            <a:ext cx="1687068" cy="365760"/>
          </a:xfrm>
          <a:prstGeom prst="roundRect">
            <a:avLst>
              <a:gd name="adj" fmla="val 20000"/>
            </a:avLst>
          </a:prstGeom>
          <a:solidFill>
            <a:schemeClr val="bg1"/>
          </a:solidFill>
          <a:ln w="12700">
            <a:solidFill>
              <a:schemeClr val="accent4"/>
            </a:solidFill>
            <a:prstDash val="solid"/>
          </a:ln>
        </p:spPr>
      </p:sp>
      <p:sp>
        <p:nvSpPr>
          <p:cNvPr id="71" name="Text 68"/>
          <p:cNvSpPr txBox="1"/>
          <p:nvPr/>
        </p:nvSpPr>
        <p:spPr>
          <a:xfrm>
            <a:off x="3547872" y="5120640"/>
            <a:ext cx="1687068" cy="365760"/>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team1_wickets</a:t>
            </a:r>
            <a:endParaRPr lang="en-US" sz="1200" dirty="0"/>
          </a:p>
        </p:txBody>
      </p:sp>
      <p:sp>
        <p:nvSpPr>
          <p:cNvPr id="72" name="Shape 69"/>
          <p:cNvSpPr/>
          <p:nvPr/>
        </p:nvSpPr>
        <p:spPr>
          <a:xfrm>
            <a:off x="5362956" y="5120640"/>
            <a:ext cx="1687068" cy="365760"/>
          </a:xfrm>
          <a:prstGeom prst="roundRect">
            <a:avLst>
              <a:gd name="adj" fmla="val 20000"/>
            </a:avLst>
          </a:prstGeom>
          <a:solidFill>
            <a:schemeClr val="bg1"/>
          </a:solidFill>
          <a:ln w="12700">
            <a:solidFill>
              <a:schemeClr val="accent4"/>
            </a:solidFill>
            <a:prstDash val="solid"/>
          </a:ln>
        </p:spPr>
      </p:sp>
      <p:sp>
        <p:nvSpPr>
          <p:cNvPr id="73" name="Text 70"/>
          <p:cNvSpPr txBox="1"/>
          <p:nvPr/>
        </p:nvSpPr>
        <p:spPr>
          <a:xfrm>
            <a:off x="5362956" y="5120640"/>
            <a:ext cx="1687068" cy="365760"/>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team2_wickets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0515600" cy="640080"/>
          </a:xfrm>
          <a:prstGeom prst="rect">
            <a:avLst/>
          </a:prstGeom>
          <a:noFill/>
          <a:ln/>
        </p:spPr>
        <p:txBody>
          <a:bodyPr wrap="square" lIns="0" tIns="0" rIns="0" bIns="0" rtlCol="0" anchor="ctr"/>
          <a:lstStyle/>
          <a:p>
            <a:pPr marL="0" indent="0" algn="l">
              <a:buNone/>
            </a:pPr>
            <a:r>
              <a:rPr lang="en-US" sz="3000" b="1" dirty="0">
                <a:solidFill>
                  <a:schemeClr val="tx1"/>
                </a:solidFill>
              </a:rPr>
              <a:t>Data Understanding</a:t>
            </a:r>
            <a:endParaRPr lang="en-US" sz="3000" dirty="0"/>
          </a:p>
        </p:txBody>
      </p:sp>
      <p:sp>
        <p:nvSpPr>
          <p:cNvPr id="3" name="Text 1"/>
          <p:cNvSpPr txBox="1"/>
          <p:nvPr/>
        </p:nvSpPr>
        <p:spPr>
          <a:xfrm>
            <a:off x="10545775" y="640080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04 / 12</a:t>
            </a:r>
            <a:endParaRPr lang="en-US" sz="1000" dirty="0"/>
          </a:p>
        </p:txBody>
      </p:sp>
      <p:sp>
        <p:nvSpPr>
          <p:cNvPr id="5" name="Code panel"/>
          <p:cNvSpPr/>
          <p:nvPr/>
        </p:nvSpPr>
        <p:spPr>
          <a:xfrm>
            <a:off x="548640" y="1371600"/>
            <a:ext cx="5440680" cy="2011680"/>
          </a:xfrm>
          <a:prstGeom prst="roundRect">
            <a:avLst>
              <a:gd name="adj" fmla="val 4545"/>
            </a:avLst>
          </a:prstGeom>
          <a:solidFill>
            <a:schemeClr val="accent5"/>
          </a:solidFill>
          <a:ln w="12700">
            <a:solidFill>
              <a:schemeClr val="accent5"/>
            </a:solidFill>
            <a:prstDash val="solid"/>
          </a:ln>
          <a:effectLst>
            <a:outerShdw blurRad="101600" dist="25400" dir="5400000" algn="bl" rotWithShape="0">
              <a:srgbClr val="0B2545">
                <a:alpha val="10000"/>
              </a:srgbClr>
            </a:outerShdw>
          </a:effectLst>
        </p:spPr>
      </p:sp>
      <p:sp>
        <p:nvSpPr>
          <p:cNvPr id="6" name="Shape 3"/>
          <p:cNvSpPr/>
          <p:nvPr/>
        </p:nvSpPr>
        <p:spPr>
          <a:xfrm>
            <a:off x="731520" y="1527048"/>
            <a:ext cx="100584" cy="100584"/>
          </a:xfrm>
          <a:prstGeom prst="ellipse">
            <a:avLst/>
          </a:prstGeom>
          <a:solidFill>
            <a:srgbClr val="F87171"/>
          </a:solidFill>
          <a:ln w="12700">
            <a:solidFill>
              <a:srgbClr val="F87171"/>
            </a:solidFill>
            <a:prstDash val="solid"/>
          </a:ln>
        </p:spPr>
      </p:sp>
      <p:sp>
        <p:nvSpPr>
          <p:cNvPr id="7" name="Shape 4"/>
          <p:cNvSpPr/>
          <p:nvPr/>
        </p:nvSpPr>
        <p:spPr>
          <a:xfrm>
            <a:off x="914400" y="1527048"/>
            <a:ext cx="100584" cy="100584"/>
          </a:xfrm>
          <a:prstGeom prst="ellipse">
            <a:avLst/>
          </a:prstGeom>
          <a:solidFill>
            <a:srgbClr val="FBBF24"/>
          </a:solidFill>
          <a:ln w="12700">
            <a:solidFill>
              <a:srgbClr val="FBBF24"/>
            </a:solidFill>
            <a:prstDash val="solid"/>
          </a:ln>
        </p:spPr>
      </p:sp>
      <p:sp>
        <p:nvSpPr>
          <p:cNvPr id="8" name="Shape 5"/>
          <p:cNvSpPr/>
          <p:nvPr/>
        </p:nvSpPr>
        <p:spPr>
          <a:xfrm>
            <a:off x="1097280" y="1527048"/>
            <a:ext cx="100584" cy="100584"/>
          </a:xfrm>
          <a:prstGeom prst="ellipse">
            <a:avLst/>
          </a:prstGeom>
          <a:solidFill>
            <a:srgbClr val="4ADE80"/>
          </a:solidFill>
          <a:ln w="12700">
            <a:solidFill>
              <a:srgbClr val="4ADE80"/>
            </a:solidFill>
            <a:prstDash val="solid"/>
          </a:ln>
        </p:spPr>
      </p:sp>
      <p:sp>
        <p:nvSpPr>
          <p:cNvPr id="9" name="Text 6"/>
          <p:cNvSpPr txBox="1"/>
          <p:nvPr/>
        </p:nvSpPr>
        <p:spPr>
          <a:xfrm>
            <a:off x="1463040" y="1463040"/>
            <a:ext cx="4343400" cy="256032"/>
          </a:xfrm>
          <a:prstGeom prst="rect">
            <a:avLst/>
          </a:prstGeom>
          <a:noFill/>
          <a:ln/>
        </p:spPr>
        <p:txBody>
          <a:bodyPr wrap="square" lIns="0" tIns="0" rIns="0" bIns="0" rtlCol="0" anchor="t"/>
          <a:lstStyle/>
          <a:p>
            <a:pPr marL="0" indent="0" algn="r">
              <a:buNone/>
            </a:pPr>
            <a:r>
              <a:rPr lang="en-US" sz="1100" b="1" dirty="0">
                <a:solidFill>
                  <a:srgbClr val="7DD3FC"/>
                </a:solidFill>
                <a:latin typeface="Courier New" pitchFamily="34" charset="0"/>
                <a:ea typeface="Courier New" pitchFamily="34" charset="-122"/>
                <a:cs typeface="Courier New" pitchFamily="34" charset="-120"/>
              </a:rPr>
              <a:t>df.shape</a:t>
            </a:r>
            <a:endParaRPr lang="en-US" sz="1100" dirty="0"/>
          </a:p>
        </p:txBody>
      </p:sp>
      <p:sp>
        <p:nvSpPr>
          <p:cNvPr id="10" name="Text 7"/>
          <p:cNvSpPr txBox="1"/>
          <p:nvPr/>
        </p:nvSpPr>
        <p:spPr>
          <a:xfrm>
            <a:off x="777240" y="1874520"/>
            <a:ext cx="5074920" cy="1417320"/>
          </a:xfrm>
          <a:prstGeom prst="rect">
            <a:avLst/>
          </a:prstGeom>
          <a:noFill/>
          <a:ln/>
        </p:spPr>
        <p:txBody>
          <a:bodyPr wrap="square" lIns="0" tIns="0" rIns="0" bIns="0" rtlCol="0" anchor="t"/>
          <a:lstStyle/>
          <a:p>
            <a:pPr marL="0" indent="0">
              <a:buNone/>
            </a:pPr>
            <a:r>
              <a:rPr lang="en-US" sz="1200" dirty="0">
                <a:solidFill>
                  <a:srgbClr val="E6EEF5"/>
                </a:solidFill>
                <a:latin typeface="Courier New" pitchFamily="34" charset="0"/>
                <a:ea typeface="Courier New" pitchFamily="34" charset="-122"/>
                <a:cs typeface="Courier New" pitchFamily="34" charset="-120"/>
              </a:rPr>
              <a:t>print("Number of records:", df.shape[0])</a:t>
            </a:r>
            <a:endParaRPr lang="en-US" sz="1400" dirty="0"/>
          </a:p>
          <a:p>
            <a:pPr marL="0" indent="0">
              <a:buNone/>
            </a:pPr>
            <a:r>
              <a:rPr lang="en-US" sz="1200" dirty="0">
                <a:solidFill>
                  <a:srgbClr val="E6EEF5"/>
                </a:solidFill>
                <a:latin typeface="Courier New" pitchFamily="34" charset="0"/>
                <a:ea typeface="Courier New" pitchFamily="34" charset="-122"/>
                <a:cs typeface="Courier New" pitchFamily="34" charset="-120"/>
              </a:rPr>
              <a:t>print("Number of features:", df.shape[1])</a:t>
            </a:r>
            <a:endParaRPr lang="en-US" sz="1400" dirty="0"/>
          </a:p>
          <a:p>
            <a:pPr marL="0" indent="0">
              <a:buNone/>
            </a:pPr>
            <a:endParaRPr lang="en-US" sz="1400" dirty="0"/>
          </a:p>
          <a:p>
            <a:pPr marL="0" indent="0">
              <a:buNone/>
            </a:pPr>
            <a:r>
              <a:rPr lang="en-US" sz="1200" dirty="0">
                <a:solidFill>
                  <a:srgbClr val="7DD3FC"/>
                </a:solidFill>
                <a:latin typeface="Courier New" pitchFamily="34" charset="0"/>
                <a:ea typeface="Courier New" pitchFamily="34" charset="-122"/>
                <a:cs typeface="Courier New" pitchFamily="34" charset="-120"/>
              </a:rPr>
              <a:t>Number of records: 8247</a:t>
            </a:r>
            <a:endParaRPr lang="en-US" sz="1400" dirty="0"/>
          </a:p>
          <a:p>
            <a:pPr marL="0" indent="0">
              <a:buNone/>
            </a:pPr>
            <a:r>
              <a:rPr lang="en-US" sz="1200" dirty="0">
                <a:solidFill>
                  <a:srgbClr val="7DD3FC"/>
                </a:solidFill>
                <a:latin typeface="Courier New" pitchFamily="34" charset="0"/>
                <a:ea typeface="Courier New" pitchFamily="34" charset="-122"/>
                <a:cs typeface="Courier New" pitchFamily="34" charset="-120"/>
              </a:rPr>
              <a:t>Number of features: 13</a:t>
            </a:r>
            <a:endParaRPr lang="en-US" sz="1400" dirty="0"/>
          </a:p>
        </p:txBody>
      </p:sp>
      <p:sp>
        <p:nvSpPr>
          <p:cNvPr id="11" name="Code panel"/>
          <p:cNvSpPr/>
          <p:nvPr/>
        </p:nvSpPr>
        <p:spPr>
          <a:xfrm>
            <a:off x="6199632" y="1371600"/>
            <a:ext cx="5440680" cy="2011680"/>
          </a:xfrm>
          <a:prstGeom prst="roundRect">
            <a:avLst>
              <a:gd name="adj" fmla="val 4545"/>
            </a:avLst>
          </a:prstGeom>
          <a:solidFill>
            <a:schemeClr val="accent5"/>
          </a:solidFill>
          <a:ln w="12700">
            <a:solidFill>
              <a:schemeClr val="accent5"/>
            </a:solidFill>
            <a:prstDash val="solid"/>
          </a:ln>
          <a:effectLst>
            <a:outerShdw blurRad="101600" dist="25400" dir="5400000" algn="bl" rotWithShape="0">
              <a:srgbClr val="0B2545">
                <a:alpha val="10000"/>
              </a:srgbClr>
            </a:outerShdw>
          </a:effectLst>
        </p:spPr>
      </p:sp>
      <p:sp>
        <p:nvSpPr>
          <p:cNvPr id="12" name="Shape 9"/>
          <p:cNvSpPr/>
          <p:nvPr/>
        </p:nvSpPr>
        <p:spPr>
          <a:xfrm>
            <a:off x="6382512" y="1527048"/>
            <a:ext cx="100584" cy="100584"/>
          </a:xfrm>
          <a:prstGeom prst="ellipse">
            <a:avLst/>
          </a:prstGeom>
          <a:solidFill>
            <a:srgbClr val="F87171"/>
          </a:solidFill>
          <a:ln w="12700">
            <a:solidFill>
              <a:srgbClr val="F87171"/>
            </a:solidFill>
            <a:prstDash val="solid"/>
          </a:ln>
        </p:spPr>
      </p:sp>
      <p:sp>
        <p:nvSpPr>
          <p:cNvPr id="13" name="Shape 10"/>
          <p:cNvSpPr/>
          <p:nvPr/>
        </p:nvSpPr>
        <p:spPr>
          <a:xfrm>
            <a:off x="6565392" y="1527048"/>
            <a:ext cx="100584" cy="100584"/>
          </a:xfrm>
          <a:prstGeom prst="ellipse">
            <a:avLst/>
          </a:prstGeom>
          <a:solidFill>
            <a:srgbClr val="FBBF24"/>
          </a:solidFill>
          <a:ln w="12700">
            <a:solidFill>
              <a:srgbClr val="FBBF24"/>
            </a:solidFill>
            <a:prstDash val="solid"/>
          </a:ln>
        </p:spPr>
      </p:sp>
      <p:sp>
        <p:nvSpPr>
          <p:cNvPr id="14" name="Shape 11"/>
          <p:cNvSpPr/>
          <p:nvPr/>
        </p:nvSpPr>
        <p:spPr>
          <a:xfrm>
            <a:off x="6748272" y="1527048"/>
            <a:ext cx="100584" cy="100584"/>
          </a:xfrm>
          <a:prstGeom prst="ellipse">
            <a:avLst/>
          </a:prstGeom>
          <a:solidFill>
            <a:srgbClr val="4ADE80"/>
          </a:solidFill>
          <a:ln w="12700">
            <a:solidFill>
              <a:srgbClr val="4ADE80"/>
            </a:solidFill>
            <a:prstDash val="solid"/>
          </a:ln>
        </p:spPr>
      </p:sp>
      <p:sp>
        <p:nvSpPr>
          <p:cNvPr id="15" name="Text 12"/>
          <p:cNvSpPr txBox="1"/>
          <p:nvPr/>
        </p:nvSpPr>
        <p:spPr>
          <a:xfrm>
            <a:off x="7114032" y="1463040"/>
            <a:ext cx="4343400" cy="256032"/>
          </a:xfrm>
          <a:prstGeom prst="rect">
            <a:avLst/>
          </a:prstGeom>
          <a:noFill/>
          <a:ln/>
        </p:spPr>
        <p:txBody>
          <a:bodyPr wrap="square" lIns="0" tIns="0" rIns="0" bIns="0" rtlCol="0" anchor="t"/>
          <a:lstStyle/>
          <a:p>
            <a:pPr marL="0" indent="0" algn="r">
              <a:buNone/>
            </a:pPr>
            <a:r>
              <a:rPr lang="en-US" sz="1100" b="1" dirty="0">
                <a:solidFill>
                  <a:srgbClr val="7DD3FC"/>
                </a:solidFill>
                <a:latin typeface="Courier New" pitchFamily="34" charset="0"/>
                <a:ea typeface="Courier New" pitchFamily="34" charset="-122"/>
                <a:cs typeface="Courier New" pitchFamily="34" charset="-120"/>
              </a:rPr>
              <a:t>df.dtypes</a:t>
            </a:r>
            <a:endParaRPr lang="en-US" sz="1100" dirty="0"/>
          </a:p>
        </p:txBody>
      </p:sp>
      <p:sp>
        <p:nvSpPr>
          <p:cNvPr id="16" name="Text 13"/>
          <p:cNvSpPr txBox="1"/>
          <p:nvPr/>
        </p:nvSpPr>
        <p:spPr>
          <a:xfrm>
            <a:off x="6428232" y="1874520"/>
            <a:ext cx="5074920" cy="1417320"/>
          </a:xfrm>
          <a:prstGeom prst="rect">
            <a:avLst/>
          </a:prstGeom>
          <a:noFill/>
          <a:ln/>
        </p:spPr>
        <p:txBody>
          <a:bodyPr wrap="square" lIns="0" tIns="0" rIns="0" bIns="0" rtlCol="0" anchor="t"/>
          <a:lstStyle/>
          <a:p>
            <a:pPr marL="0" indent="0">
              <a:buNone/>
            </a:pPr>
            <a:r>
              <a:rPr lang="en-US" sz="1200" dirty="0">
                <a:solidFill>
                  <a:srgbClr val="E6EEF5"/>
                </a:solidFill>
                <a:latin typeface="Courier New" pitchFamily="34" charset="0"/>
                <a:ea typeface="Courier New" pitchFamily="34" charset="-122"/>
                <a:cs typeface="Courier New" pitchFamily="34" charset="-120"/>
              </a:rPr>
              <a:t>print(df.dtypes)</a:t>
            </a:r>
            <a:endParaRPr lang="en-US" sz="1400" dirty="0"/>
          </a:p>
          <a:p>
            <a:pPr marL="0" indent="0">
              <a:buNone/>
            </a:pPr>
            <a:r>
              <a:rPr lang="en-US" sz="1200" dirty="0">
                <a:solidFill>
                  <a:srgbClr val="7DD3FC"/>
                </a:solidFill>
                <a:latin typeface="Courier New" pitchFamily="34" charset="0"/>
                <a:ea typeface="Courier New" pitchFamily="34" charset="-122"/>
                <a:cs typeface="Courier New" pitchFamily="34" charset="-120"/>
              </a:rPr>
              <a:t>format          object</a:t>
            </a:r>
            <a:endParaRPr lang="en-US" sz="1400" dirty="0"/>
          </a:p>
          <a:p>
            <a:pPr marL="0" indent="0">
              <a:buNone/>
            </a:pPr>
            <a:r>
              <a:rPr lang="en-US" sz="1200" dirty="0">
                <a:solidFill>
                  <a:srgbClr val="7DD3FC"/>
                </a:solidFill>
                <a:latin typeface="Courier New" pitchFamily="34" charset="0"/>
                <a:ea typeface="Courier New" pitchFamily="34" charset="-122"/>
                <a:cs typeface="Courier New" pitchFamily="34" charset="-120"/>
              </a:rPr>
              <a:t>team1           object</a:t>
            </a:r>
            <a:endParaRPr lang="en-US" sz="1400" dirty="0"/>
          </a:p>
          <a:p>
            <a:pPr marL="0" indent="0">
              <a:buNone/>
            </a:pPr>
            <a:r>
              <a:rPr lang="en-US" sz="1200" dirty="0">
                <a:solidFill>
                  <a:srgbClr val="7DD3FC"/>
                </a:solidFill>
                <a:latin typeface="Courier New" pitchFamily="34" charset="0"/>
                <a:ea typeface="Courier New" pitchFamily="34" charset="-122"/>
                <a:cs typeface="Courier New" pitchFamily="34" charset="-120"/>
              </a:rPr>
              <a:t>toss_decision   object</a:t>
            </a:r>
            <a:endParaRPr lang="en-US" sz="1400" dirty="0"/>
          </a:p>
          <a:p>
            <a:pPr marL="0" indent="0">
              <a:buNone/>
            </a:pPr>
            <a:r>
              <a:rPr lang="en-US" sz="1200" dirty="0">
                <a:solidFill>
                  <a:srgbClr val="7DD3FC"/>
                </a:solidFill>
                <a:latin typeface="Courier New" pitchFamily="34" charset="0"/>
                <a:ea typeface="Courier New" pitchFamily="34" charset="-122"/>
                <a:cs typeface="Courier New" pitchFamily="34" charset="-120"/>
              </a:rPr>
              <a:t>team1_runs       int64</a:t>
            </a:r>
            <a:endParaRPr lang="en-US" sz="1400" dirty="0"/>
          </a:p>
          <a:p>
            <a:pPr marL="0" indent="0">
              <a:buNone/>
            </a:pPr>
            <a:r>
              <a:rPr lang="en-US" sz="1200" dirty="0">
                <a:solidFill>
                  <a:srgbClr val="7DD3FC"/>
                </a:solidFill>
                <a:latin typeface="Courier New" pitchFamily="34" charset="0"/>
                <a:ea typeface="Courier New" pitchFamily="34" charset="-122"/>
                <a:cs typeface="Courier New" pitchFamily="34" charset="-120"/>
              </a:rPr>
              <a:t>team2_wickets    int64</a:t>
            </a:r>
            <a:endParaRPr lang="en-US" sz="1400" dirty="0"/>
          </a:p>
          <a:p>
            <a:pPr marL="0" indent="0">
              <a:buNone/>
            </a:pPr>
            <a:r>
              <a:rPr lang="en-US" sz="1200" dirty="0">
                <a:solidFill>
                  <a:srgbClr val="94A3B8"/>
                </a:solidFill>
                <a:latin typeface="Courier New" pitchFamily="34" charset="0"/>
                <a:ea typeface="Courier New" pitchFamily="34" charset="-122"/>
                <a:cs typeface="Courier New" pitchFamily="34" charset="-120"/>
              </a:rPr>
              <a:t># 9 categorical + 4 numerical columns</a:t>
            </a:r>
            <a:endParaRPr lang="en-US" sz="1400" dirty="0"/>
          </a:p>
        </p:txBody>
      </p:sp>
      <p:sp>
        <p:nvSpPr>
          <p:cNvPr id="17" name="Code panel"/>
          <p:cNvSpPr/>
          <p:nvPr/>
        </p:nvSpPr>
        <p:spPr>
          <a:xfrm>
            <a:off x="548640" y="3566160"/>
            <a:ext cx="5440680" cy="2011680"/>
          </a:xfrm>
          <a:prstGeom prst="roundRect">
            <a:avLst>
              <a:gd name="adj" fmla="val 4545"/>
            </a:avLst>
          </a:prstGeom>
          <a:solidFill>
            <a:schemeClr val="accent5"/>
          </a:solidFill>
          <a:ln w="12700">
            <a:solidFill>
              <a:schemeClr val="accent5"/>
            </a:solidFill>
            <a:prstDash val="solid"/>
          </a:ln>
          <a:effectLst>
            <a:outerShdw blurRad="101600" dist="25400" dir="5400000" algn="bl" rotWithShape="0">
              <a:srgbClr val="0B2545">
                <a:alpha val="10000"/>
              </a:srgbClr>
            </a:outerShdw>
          </a:effectLst>
        </p:spPr>
      </p:sp>
      <p:sp>
        <p:nvSpPr>
          <p:cNvPr id="18" name="Shape 15"/>
          <p:cNvSpPr/>
          <p:nvPr/>
        </p:nvSpPr>
        <p:spPr>
          <a:xfrm>
            <a:off x="731520" y="3721608"/>
            <a:ext cx="100584" cy="100584"/>
          </a:xfrm>
          <a:prstGeom prst="ellipse">
            <a:avLst/>
          </a:prstGeom>
          <a:solidFill>
            <a:srgbClr val="F87171"/>
          </a:solidFill>
          <a:ln w="12700">
            <a:solidFill>
              <a:srgbClr val="F87171"/>
            </a:solidFill>
            <a:prstDash val="solid"/>
          </a:ln>
        </p:spPr>
      </p:sp>
      <p:sp>
        <p:nvSpPr>
          <p:cNvPr id="19" name="Shape 16"/>
          <p:cNvSpPr/>
          <p:nvPr/>
        </p:nvSpPr>
        <p:spPr>
          <a:xfrm>
            <a:off x="914400" y="3721608"/>
            <a:ext cx="100584" cy="100584"/>
          </a:xfrm>
          <a:prstGeom prst="ellipse">
            <a:avLst/>
          </a:prstGeom>
          <a:solidFill>
            <a:srgbClr val="FBBF24"/>
          </a:solidFill>
          <a:ln w="12700">
            <a:solidFill>
              <a:srgbClr val="FBBF24"/>
            </a:solidFill>
            <a:prstDash val="solid"/>
          </a:ln>
        </p:spPr>
      </p:sp>
      <p:sp>
        <p:nvSpPr>
          <p:cNvPr id="20" name="Shape 17"/>
          <p:cNvSpPr/>
          <p:nvPr/>
        </p:nvSpPr>
        <p:spPr>
          <a:xfrm>
            <a:off x="1097280" y="3721608"/>
            <a:ext cx="100584" cy="100584"/>
          </a:xfrm>
          <a:prstGeom prst="ellipse">
            <a:avLst/>
          </a:prstGeom>
          <a:solidFill>
            <a:srgbClr val="4ADE80"/>
          </a:solidFill>
          <a:ln w="12700">
            <a:solidFill>
              <a:srgbClr val="4ADE80"/>
            </a:solidFill>
            <a:prstDash val="solid"/>
          </a:ln>
        </p:spPr>
      </p:sp>
      <p:sp>
        <p:nvSpPr>
          <p:cNvPr id="21" name="Text 18"/>
          <p:cNvSpPr txBox="1"/>
          <p:nvPr/>
        </p:nvSpPr>
        <p:spPr>
          <a:xfrm>
            <a:off x="1463040" y="3657600"/>
            <a:ext cx="4343400" cy="256032"/>
          </a:xfrm>
          <a:prstGeom prst="rect">
            <a:avLst/>
          </a:prstGeom>
          <a:noFill/>
          <a:ln/>
        </p:spPr>
        <p:txBody>
          <a:bodyPr wrap="square" lIns="0" tIns="0" rIns="0" bIns="0" rtlCol="0" anchor="t"/>
          <a:lstStyle/>
          <a:p>
            <a:pPr marL="0" indent="0" algn="r">
              <a:buNone/>
            </a:pPr>
            <a:r>
              <a:rPr lang="en-US" sz="1100" b="1" dirty="0">
                <a:solidFill>
                  <a:srgbClr val="7DD3FC"/>
                </a:solidFill>
                <a:latin typeface="Courier New" pitchFamily="34" charset="0"/>
                <a:ea typeface="Courier New" pitchFamily="34" charset="-122"/>
                <a:cs typeface="Courier New" pitchFamily="34" charset="-120"/>
              </a:rPr>
              <a:t>df.nunique()</a:t>
            </a:r>
            <a:endParaRPr lang="en-US" sz="1100" dirty="0"/>
          </a:p>
        </p:txBody>
      </p:sp>
      <p:sp>
        <p:nvSpPr>
          <p:cNvPr id="22" name="Text 19"/>
          <p:cNvSpPr txBox="1"/>
          <p:nvPr/>
        </p:nvSpPr>
        <p:spPr>
          <a:xfrm>
            <a:off x="777240" y="4069080"/>
            <a:ext cx="5074920" cy="1417320"/>
          </a:xfrm>
          <a:prstGeom prst="rect">
            <a:avLst/>
          </a:prstGeom>
          <a:noFill/>
          <a:ln/>
        </p:spPr>
        <p:txBody>
          <a:bodyPr wrap="square" lIns="0" tIns="0" rIns="0" bIns="0" rtlCol="0" anchor="t"/>
          <a:lstStyle/>
          <a:p>
            <a:pPr marL="0" indent="0">
              <a:buNone/>
            </a:pPr>
            <a:r>
              <a:rPr lang="en-US" sz="1200" dirty="0">
                <a:solidFill>
                  <a:srgbClr val="E6EEF5"/>
                </a:solidFill>
                <a:latin typeface="Courier New" pitchFamily="34" charset="0"/>
                <a:ea typeface="Courier New" pitchFamily="34" charset="-122"/>
                <a:cs typeface="Courier New" pitchFamily="34" charset="-120"/>
              </a:rPr>
              <a:t>print(df.nunique())</a:t>
            </a:r>
            <a:endParaRPr lang="en-US" sz="1400" dirty="0"/>
          </a:p>
          <a:p>
            <a:pPr marL="0" indent="0">
              <a:buNone/>
            </a:pPr>
            <a:r>
              <a:rPr lang="en-US" sz="1200" dirty="0">
                <a:solidFill>
                  <a:srgbClr val="7DD3FC"/>
                </a:solidFill>
                <a:latin typeface="Courier New" pitchFamily="34" charset="0"/>
                <a:ea typeface="Courier New" pitchFamily="34" charset="-122"/>
                <a:cs typeface="Courier New" pitchFamily="34" charset="-120"/>
              </a:rPr>
              <a:t>format           4</a:t>
            </a:r>
            <a:endParaRPr lang="en-US" sz="1400" dirty="0"/>
          </a:p>
          <a:p>
            <a:pPr marL="0" indent="0">
              <a:buNone/>
            </a:pPr>
            <a:r>
              <a:rPr lang="en-US" sz="1200" dirty="0">
                <a:solidFill>
                  <a:srgbClr val="7DD3FC"/>
                </a:solidFill>
                <a:latin typeface="Courier New" pitchFamily="34" charset="0"/>
                <a:ea typeface="Courier New" pitchFamily="34" charset="-122"/>
                <a:cs typeface="Courier New" pitchFamily="34" charset="-120"/>
              </a:rPr>
              <a:t>team1          128</a:t>
            </a:r>
            <a:endParaRPr lang="en-US" sz="1400" dirty="0"/>
          </a:p>
          <a:p>
            <a:pPr marL="0" indent="0">
              <a:buNone/>
            </a:pPr>
            <a:r>
              <a:rPr lang="en-US" sz="1200" dirty="0">
                <a:solidFill>
                  <a:srgbClr val="7DD3FC"/>
                </a:solidFill>
                <a:latin typeface="Courier New" pitchFamily="34" charset="0"/>
                <a:ea typeface="Courier New" pitchFamily="34" charset="-122"/>
                <a:cs typeface="Courier New" pitchFamily="34" charset="-120"/>
              </a:rPr>
              <a:t>venue          476</a:t>
            </a:r>
            <a:endParaRPr lang="en-US" sz="1400" dirty="0"/>
          </a:p>
          <a:p>
            <a:pPr marL="0" indent="0">
              <a:buNone/>
            </a:pPr>
            <a:r>
              <a:rPr lang="en-US" sz="1200" dirty="0">
                <a:solidFill>
                  <a:srgbClr val="7DD3FC"/>
                </a:solidFill>
                <a:latin typeface="Courier New" pitchFamily="34" charset="0"/>
                <a:ea typeface="Courier New" pitchFamily="34" charset="-122"/>
                <a:cs typeface="Courier New" pitchFamily="34" charset="-120"/>
              </a:rPr>
              <a:t>toss_decision    2</a:t>
            </a:r>
            <a:endParaRPr lang="en-US" sz="1400" dirty="0"/>
          </a:p>
          <a:p>
            <a:pPr marL="0" indent="0">
              <a:buNone/>
            </a:pPr>
            <a:r>
              <a:rPr lang="en-US" sz="1200" dirty="0">
                <a:solidFill>
                  <a:srgbClr val="7DD3FC"/>
                </a:solidFill>
                <a:latin typeface="Courier New" pitchFamily="34" charset="0"/>
                <a:ea typeface="Courier New" pitchFamily="34" charset="-122"/>
                <a:cs typeface="Courier New" pitchFamily="34" charset="-120"/>
              </a:rPr>
              <a:t>team1_runs     735</a:t>
            </a:r>
            <a:endParaRPr lang="en-US" sz="1400" dirty="0"/>
          </a:p>
          <a:p>
            <a:pPr marL="0" indent="0">
              <a:buNone/>
            </a:pPr>
            <a:r>
              <a:rPr lang="en-US" sz="1200" dirty="0">
                <a:solidFill>
                  <a:srgbClr val="7DD3FC"/>
                </a:solidFill>
                <a:latin typeface="Courier New" pitchFamily="34" charset="0"/>
                <a:ea typeface="Courier New" pitchFamily="34" charset="-122"/>
                <a:cs typeface="Courier New" pitchFamily="34" charset="-120"/>
              </a:rPr>
              <a:t>team1_wickets   22</a:t>
            </a:r>
            <a:endParaRPr lang="en-US" sz="1400" dirty="0"/>
          </a:p>
        </p:txBody>
      </p:sp>
      <p:sp>
        <p:nvSpPr>
          <p:cNvPr id="23" name="Code panel"/>
          <p:cNvSpPr/>
          <p:nvPr/>
        </p:nvSpPr>
        <p:spPr>
          <a:xfrm>
            <a:off x="6199632" y="3566160"/>
            <a:ext cx="5440680" cy="2011680"/>
          </a:xfrm>
          <a:prstGeom prst="roundRect">
            <a:avLst>
              <a:gd name="adj" fmla="val 4545"/>
            </a:avLst>
          </a:prstGeom>
          <a:solidFill>
            <a:schemeClr val="accent5"/>
          </a:solidFill>
          <a:ln w="12700">
            <a:solidFill>
              <a:schemeClr val="accent5"/>
            </a:solidFill>
            <a:prstDash val="solid"/>
          </a:ln>
          <a:effectLst>
            <a:outerShdw blurRad="101600" dist="25400" dir="5400000" algn="bl" rotWithShape="0">
              <a:srgbClr val="0B2545">
                <a:alpha val="10000"/>
              </a:srgbClr>
            </a:outerShdw>
          </a:effectLst>
        </p:spPr>
      </p:sp>
      <p:sp>
        <p:nvSpPr>
          <p:cNvPr id="24" name="Shape 21"/>
          <p:cNvSpPr/>
          <p:nvPr/>
        </p:nvSpPr>
        <p:spPr>
          <a:xfrm>
            <a:off x="6382512" y="3721608"/>
            <a:ext cx="100584" cy="100584"/>
          </a:xfrm>
          <a:prstGeom prst="ellipse">
            <a:avLst/>
          </a:prstGeom>
          <a:solidFill>
            <a:srgbClr val="F87171"/>
          </a:solidFill>
          <a:ln w="12700">
            <a:solidFill>
              <a:srgbClr val="F87171"/>
            </a:solidFill>
            <a:prstDash val="solid"/>
          </a:ln>
        </p:spPr>
      </p:sp>
      <p:sp>
        <p:nvSpPr>
          <p:cNvPr id="25" name="Shape 22"/>
          <p:cNvSpPr/>
          <p:nvPr/>
        </p:nvSpPr>
        <p:spPr>
          <a:xfrm>
            <a:off x="6565392" y="3721608"/>
            <a:ext cx="100584" cy="100584"/>
          </a:xfrm>
          <a:prstGeom prst="ellipse">
            <a:avLst/>
          </a:prstGeom>
          <a:solidFill>
            <a:srgbClr val="FBBF24"/>
          </a:solidFill>
          <a:ln w="12700">
            <a:solidFill>
              <a:srgbClr val="FBBF24"/>
            </a:solidFill>
            <a:prstDash val="solid"/>
          </a:ln>
        </p:spPr>
      </p:sp>
      <p:sp>
        <p:nvSpPr>
          <p:cNvPr id="26" name="Shape 23"/>
          <p:cNvSpPr/>
          <p:nvPr/>
        </p:nvSpPr>
        <p:spPr>
          <a:xfrm>
            <a:off x="6748272" y="3721608"/>
            <a:ext cx="100584" cy="100584"/>
          </a:xfrm>
          <a:prstGeom prst="ellipse">
            <a:avLst/>
          </a:prstGeom>
          <a:solidFill>
            <a:srgbClr val="4ADE80"/>
          </a:solidFill>
          <a:ln w="12700">
            <a:solidFill>
              <a:srgbClr val="4ADE80"/>
            </a:solidFill>
            <a:prstDash val="solid"/>
          </a:ln>
        </p:spPr>
      </p:sp>
      <p:sp>
        <p:nvSpPr>
          <p:cNvPr id="27" name="Text 24"/>
          <p:cNvSpPr txBox="1"/>
          <p:nvPr/>
        </p:nvSpPr>
        <p:spPr>
          <a:xfrm>
            <a:off x="7114032" y="3657600"/>
            <a:ext cx="4343400" cy="256032"/>
          </a:xfrm>
          <a:prstGeom prst="rect">
            <a:avLst/>
          </a:prstGeom>
          <a:noFill/>
          <a:ln/>
        </p:spPr>
        <p:txBody>
          <a:bodyPr wrap="square" lIns="0" tIns="0" rIns="0" bIns="0" rtlCol="0" anchor="t"/>
          <a:lstStyle/>
          <a:p>
            <a:pPr marL="0" indent="0" algn="r">
              <a:buNone/>
            </a:pPr>
            <a:r>
              <a:rPr lang="en-US" sz="1100" b="1" dirty="0">
                <a:solidFill>
                  <a:srgbClr val="7DD3FC"/>
                </a:solidFill>
                <a:latin typeface="Courier New" pitchFamily="34" charset="0"/>
                <a:ea typeface="Courier New" pitchFamily="34" charset="-122"/>
                <a:cs typeface="Courier New" pitchFamily="34" charset="-120"/>
              </a:rPr>
              <a:t>df.describe()</a:t>
            </a:r>
            <a:endParaRPr lang="en-US" sz="1100" dirty="0"/>
          </a:p>
        </p:txBody>
      </p:sp>
      <p:sp>
        <p:nvSpPr>
          <p:cNvPr id="28" name="Text 25"/>
          <p:cNvSpPr txBox="1"/>
          <p:nvPr/>
        </p:nvSpPr>
        <p:spPr>
          <a:xfrm>
            <a:off x="6428232" y="4069080"/>
            <a:ext cx="5074920" cy="1417320"/>
          </a:xfrm>
          <a:prstGeom prst="rect">
            <a:avLst/>
          </a:prstGeom>
          <a:noFill/>
          <a:ln/>
        </p:spPr>
        <p:txBody>
          <a:bodyPr wrap="square" lIns="0" tIns="0" rIns="0" bIns="0" rtlCol="0" anchor="t"/>
          <a:lstStyle/>
          <a:p>
            <a:pPr marL="0" indent="0">
              <a:buNone/>
            </a:pPr>
            <a:r>
              <a:rPr lang="en-US" sz="1200" dirty="0">
                <a:solidFill>
                  <a:srgbClr val="94A3B8"/>
                </a:solidFill>
                <a:latin typeface="Courier New" pitchFamily="34" charset="0"/>
                <a:ea typeface="Courier New" pitchFamily="34" charset="-122"/>
                <a:cs typeface="Courier New" pitchFamily="34" charset="-120"/>
              </a:rPr>
              <a:t>        team1_runs  team2_runs  team1_wkts</a:t>
            </a:r>
            <a:endParaRPr lang="en-US" sz="1400" dirty="0"/>
          </a:p>
          <a:p>
            <a:pPr marL="0" indent="0">
              <a:buNone/>
            </a:pPr>
            <a:r>
              <a:rPr lang="en-US" sz="1200" dirty="0">
                <a:solidFill>
                  <a:srgbClr val="7DD3FC"/>
                </a:solidFill>
                <a:latin typeface="Courier New" pitchFamily="34" charset="0"/>
                <a:ea typeface="Courier New" pitchFamily="34" charset="-122"/>
                <a:cs typeface="Courier New" pitchFamily="34" charset="-120"/>
              </a:rPr>
              <a:t>mean        220.24      198.40        7.89</a:t>
            </a:r>
            <a:endParaRPr lang="en-US" sz="1400" dirty="0"/>
          </a:p>
          <a:p>
            <a:pPr marL="0" indent="0">
              <a:buNone/>
            </a:pPr>
            <a:r>
              <a:rPr lang="en-US" sz="1200" dirty="0">
                <a:solidFill>
                  <a:srgbClr val="7DD3FC"/>
                </a:solidFill>
                <a:latin typeface="Courier New" pitchFamily="34" charset="0"/>
                <a:ea typeface="Courier New" pitchFamily="34" charset="-122"/>
                <a:cs typeface="Courier New" pitchFamily="34" charset="-120"/>
              </a:rPr>
              <a:t>std         140.24      131.81        4.04</a:t>
            </a:r>
            <a:endParaRPr lang="en-US" sz="1400" dirty="0"/>
          </a:p>
          <a:p>
            <a:pPr marL="0" indent="0">
              <a:buNone/>
            </a:pPr>
            <a:r>
              <a:rPr lang="en-US" sz="1200" dirty="0">
                <a:solidFill>
                  <a:srgbClr val="7DD3FC"/>
                </a:solidFill>
                <a:latin typeface="Courier New" pitchFamily="34" charset="0"/>
                <a:ea typeface="Courier New" pitchFamily="34" charset="-122"/>
                <a:cs typeface="Courier New" pitchFamily="34" charset="-120"/>
              </a:rPr>
              <a:t>min           0.00        0.00        0.00</a:t>
            </a:r>
            <a:endParaRPr lang="en-US" sz="1400" dirty="0"/>
          </a:p>
          <a:p>
            <a:pPr marL="0" indent="0">
              <a:buNone/>
            </a:pPr>
            <a:r>
              <a:rPr lang="en-US" sz="1200" dirty="0">
                <a:solidFill>
                  <a:srgbClr val="7DD3FC"/>
                </a:solidFill>
                <a:latin typeface="Courier New" pitchFamily="34" charset="0"/>
                <a:ea typeface="Courier New" pitchFamily="34" charset="-122"/>
                <a:cs typeface="Courier New" pitchFamily="34" charset="-120"/>
              </a:rPr>
              <a:t>50%         179.00      162.00        8.00</a:t>
            </a:r>
            <a:endParaRPr lang="en-US" sz="1400" dirty="0"/>
          </a:p>
          <a:p>
            <a:pPr marL="0" indent="0">
              <a:buNone/>
            </a:pPr>
            <a:r>
              <a:rPr lang="en-US" sz="1200" dirty="0">
                <a:solidFill>
                  <a:srgbClr val="7DD3FC"/>
                </a:solidFill>
                <a:latin typeface="Courier New" pitchFamily="34" charset="0"/>
                <a:ea typeface="Courier New" pitchFamily="34" charset="-122"/>
                <a:cs typeface="Courier New" pitchFamily="34" charset="-120"/>
              </a:rPr>
              <a:t>max        1078.00      892.00       21.00</a:t>
            </a:r>
            <a:endParaRPr lang="en-US" sz="1400" dirty="0"/>
          </a:p>
        </p:txBody>
      </p:sp>
      <p:sp>
        <p:nvSpPr>
          <p:cNvPr id="29" name="Card"/>
          <p:cNvSpPr/>
          <p:nvPr/>
        </p:nvSpPr>
        <p:spPr>
          <a:xfrm>
            <a:off x="548640" y="5760720"/>
            <a:ext cx="11094415" cy="502920"/>
          </a:xfrm>
          <a:prstGeom prst="roundRect">
            <a:avLst>
              <a:gd name="adj" fmla="val 21818"/>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30" name="Text 27"/>
          <p:cNvSpPr txBox="1"/>
          <p:nvPr/>
        </p:nvSpPr>
        <p:spPr>
          <a:xfrm>
            <a:off x="822960" y="5760720"/>
            <a:ext cx="10545775" cy="502920"/>
          </a:xfrm>
          <a:prstGeom prst="rect">
            <a:avLst/>
          </a:prstGeom>
          <a:noFill/>
          <a:ln/>
        </p:spPr>
        <p:txBody>
          <a:bodyPr wrap="square" lIns="0" tIns="0" rIns="0" bIns="0" rtlCol="0" anchor="ctr"/>
          <a:lstStyle/>
          <a:p>
            <a:pPr marL="0" indent="0">
              <a:buNone/>
            </a:pPr>
            <a:r>
              <a:rPr lang="en-US" sz="1500" i="1" dirty="0">
                <a:solidFill>
                  <a:schemeClr val="tx1"/>
                </a:solidFill>
              </a:rPr>
              <a:t>We first understood the structure, data types, distributions and quality of the dataset before preprocessing.</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0515600" cy="640080"/>
          </a:xfrm>
          <a:prstGeom prst="rect">
            <a:avLst/>
          </a:prstGeom>
          <a:noFill/>
          <a:ln/>
        </p:spPr>
        <p:txBody>
          <a:bodyPr wrap="square" lIns="0" tIns="0" rIns="0" bIns="0" rtlCol="0" anchor="ctr"/>
          <a:lstStyle/>
          <a:p>
            <a:pPr marL="0" indent="0" algn="l">
              <a:buNone/>
            </a:pPr>
            <a:r>
              <a:rPr lang="en-US" sz="3000" b="1" dirty="0">
                <a:solidFill>
                  <a:schemeClr val="tx1"/>
                </a:solidFill>
              </a:rPr>
              <a:t>Data Preprocessing</a:t>
            </a:r>
            <a:endParaRPr lang="en-US" sz="3000" dirty="0"/>
          </a:p>
        </p:txBody>
      </p:sp>
      <p:sp>
        <p:nvSpPr>
          <p:cNvPr id="3" name="Text 1"/>
          <p:cNvSpPr txBox="1"/>
          <p:nvPr/>
        </p:nvSpPr>
        <p:spPr>
          <a:xfrm>
            <a:off x="10545775" y="640080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05 / 12</a:t>
            </a:r>
            <a:endParaRPr lang="en-US" sz="1000" dirty="0"/>
          </a:p>
        </p:txBody>
      </p:sp>
      <p:sp>
        <p:nvSpPr>
          <p:cNvPr id="5" name="Card"/>
          <p:cNvSpPr/>
          <p:nvPr/>
        </p:nvSpPr>
        <p:spPr>
          <a:xfrm>
            <a:off x="548640" y="1371600"/>
            <a:ext cx="3566160" cy="2286000"/>
          </a:xfrm>
          <a:prstGeom prst="roundRect">
            <a:avLst>
              <a:gd name="adj" fmla="val 48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6" name="Text 3"/>
          <p:cNvSpPr txBox="1"/>
          <p:nvPr/>
        </p:nvSpPr>
        <p:spPr>
          <a:xfrm>
            <a:off x="804672" y="1554480"/>
            <a:ext cx="3108960" cy="320040"/>
          </a:xfrm>
          <a:prstGeom prst="rect">
            <a:avLst/>
          </a:prstGeom>
          <a:noFill/>
          <a:ln/>
        </p:spPr>
        <p:txBody>
          <a:bodyPr wrap="square" lIns="0" tIns="0" rIns="0" bIns="0" rtlCol="0" anchor="t"/>
          <a:lstStyle/>
          <a:p>
            <a:pPr marL="0" indent="0">
              <a:buNone/>
            </a:pPr>
            <a:r>
              <a:rPr lang="en-US" sz="1700" b="1" dirty="0">
                <a:solidFill>
                  <a:schemeClr val="tx1"/>
                </a:solidFill>
                <a:latin typeface="Cambria" pitchFamily="34" charset="0"/>
                <a:ea typeface="Cambria" pitchFamily="34" charset="-122"/>
                <a:cs typeface="Cambria" pitchFamily="34" charset="-120"/>
              </a:rPr>
              <a:t>Missing values</a:t>
            </a:r>
            <a:endParaRPr lang="en-US" sz="1700" dirty="0"/>
          </a:p>
        </p:txBody>
      </p:sp>
      <p:sp>
        <p:nvSpPr>
          <p:cNvPr id="7" name="Text 4"/>
          <p:cNvSpPr txBox="1"/>
          <p:nvPr/>
        </p:nvSpPr>
        <p:spPr>
          <a:xfrm>
            <a:off x="804672" y="1920240"/>
            <a:ext cx="3108960" cy="50292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7,809</a:t>
            </a:r>
            <a:endParaRPr lang="en-US" sz="3000" dirty="0"/>
          </a:p>
        </p:txBody>
      </p:sp>
      <p:sp>
        <p:nvSpPr>
          <p:cNvPr id="8" name="Text 5"/>
          <p:cNvSpPr txBox="1"/>
          <p:nvPr/>
        </p:nvSpPr>
        <p:spPr>
          <a:xfrm>
            <a:off x="804672" y="2423160"/>
            <a:ext cx="3108960" cy="274320"/>
          </a:xfrm>
          <a:prstGeom prst="rect">
            <a:avLst/>
          </a:prstGeom>
          <a:noFill/>
          <a:ln/>
        </p:spPr>
        <p:txBody>
          <a:bodyPr wrap="square" lIns="0" tIns="0" rIns="0" bIns="0" rtlCol="0" anchor="t"/>
          <a:lstStyle/>
          <a:p>
            <a:pPr marL="0" indent="0">
              <a:buNone/>
            </a:pPr>
            <a:r>
              <a:rPr lang="en-US" sz="1250" b="1" dirty="0">
                <a:solidFill>
                  <a:schemeClr val="tx2"/>
                </a:solidFill>
              </a:rPr>
              <a:t>missing in ‘result’ only (94.69%)</a:t>
            </a:r>
            <a:endParaRPr lang="en-US" sz="1250" dirty="0"/>
          </a:p>
        </p:txBody>
      </p:sp>
      <p:sp>
        <p:nvSpPr>
          <p:cNvPr id="9" name="Text 6"/>
          <p:cNvSpPr txBox="1"/>
          <p:nvPr/>
        </p:nvSpPr>
        <p:spPr>
          <a:xfrm>
            <a:off x="804672" y="2743200"/>
            <a:ext cx="3108960" cy="868680"/>
          </a:xfrm>
          <a:prstGeom prst="rect">
            <a:avLst/>
          </a:prstGeom>
          <a:noFill/>
          <a:ln/>
        </p:spPr>
        <p:txBody>
          <a:bodyPr wrap="square" lIns="0" tIns="0" rIns="0" bIns="0" rtlCol="0" anchor="t"/>
          <a:lstStyle/>
          <a:p>
            <a:pPr marL="0" indent="0">
              <a:buNone/>
            </a:pPr>
            <a:r>
              <a:rPr lang="en-US" sz="1300" dirty="0">
                <a:solidFill>
                  <a:schemeClr val="tx2"/>
                </a:solidFill>
              </a:rPr>
              <a:t>Filled with “Unknown”. The other 12 columns have 0 missing.</a:t>
            </a:r>
            <a:endParaRPr lang="en-US" sz="1300" dirty="0"/>
          </a:p>
        </p:txBody>
      </p:sp>
      <p:sp>
        <p:nvSpPr>
          <p:cNvPr id="10" name="Card"/>
          <p:cNvSpPr/>
          <p:nvPr/>
        </p:nvSpPr>
        <p:spPr>
          <a:xfrm>
            <a:off x="4312768" y="1371600"/>
            <a:ext cx="3566160" cy="2286000"/>
          </a:xfrm>
          <a:prstGeom prst="roundRect">
            <a:avLst>
              <a:gd name="adj" fmla="val 48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1" name="Text 8"/>
          <p:cNvSpPr txBox="1"/>
          <p:nvPr/>
        </p:nvSpPr>
        <p:spPr>
          <a:xfrm>
            <a:off x="4568800" y="1554480"/>
            <a:ext cx="3108960" cy="320040"/>
          </a:xfrm>
          <a:prstGeom prst="rect">
            <a:avLst/>
          </a:prstGeom>
          <a:noFill/>
          <a:ln/>
        </p:spPr>
        <p:txBody>
          <a:bodyPr wrap="square" lIns="0" tIns="0" rIns="0" bIns="0" rtlCol="0" anchor="t"/>
          <a:lstStyle/>
          <a:p>
            <a:pPr marL="0" indent="0">
              <a:buNone/>
            </a:pPr>
            <a:r>
              <a:rPr lang="en-US" sz="1700" b="1" dirty="0">
                <a:solidFill>
                  <a:schemeClr val="tx1"/>
                </a:solidFill>
                <a:latin typeface="Cambria" pitchFamily="34" charset="0"/>
                <a:ea typeface="Cambria" pitchFamily="34" charset="-122"/>
                <a:cs typeface="Cambria" pitchFamily="34" charset="-120"/>
              </a:rPr>
              <a:t>Duplicate records</a:t>
            </a:r>
            <a:endParaRPr lang="en-US" sz="1700" dirty="0"/>
          </a:p>
        </p:txBody>
      </p:sp>
      <p:sp>
        <p:nvSpPr>
          <p:cNvPr id="12" name="Text 9"/>
          <p:cNvSpPr txBox="1"/>
          <p:nvPr/>
        </p:nvSpPr>
        <p:spPr>
          <a:xfrm>
            <a:off x="4568800" y="1920240"/>
            <a:ext cx="3108960" cy="50292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0</a:t>
            </a:r>
            <a:endParaRPr lang="en-US" sz="3000" dirty="0"/>
          </a:p>
        </p:txBody>
      </p:sp>
      <p:sp>
        <p:nvSpPr>
          <p:cNvPr id="13" name="Text 10"/>
          <p:cNvSpPr txBox="1"/>
          <p:nvPr/>
        </p:nvSpPr>
        <p:spPr>
          <a:xfrm>
            <a:off x="4568800" y="2423160"/>
            <a:ext cx="3108960" cy="274320"/>
          </a:xfrm>
          <a:prstGeom prst="rect">
            <a:avLst/>
          </a:prstGeom>
          <a:noFill/>
          <a:ln/>
        </p:spPr>
        <p:txBody>
          <a:bodyPr wrap="square" lIns="0" tIns="0" rIns="0" bIns="0" rtlCol="0" anchor="t"/>
          <a:lstStyle/>
          <a:p>
            <a:pPr marL="0" indent="0">
              <a:buNone/>
            </a:pPr>
            <a:r>
              <a:rPr lang="en-US" sz="1250" b="1" dirty="0">
                <a:solidFill>
                  <a:schemeClr val="tx2"/>
                </a:solidFill>
              </a:rPr>
              <a:t>duplicates found</a:t>
            </a:r>
            <a:endParaRPr lang="en-US" sz="1250" dirty="0"/>
          </a:p>
        </p:txBody>
      </p:sp>
      <p:sp>
        <p:nvSpPr>
          <p:cNvPr id="14" name="Text 11"/>
          <p:cNvSpPr txBox="1"/>
          <p:nvPr/>
        </p:nvSpPr>
        <p:spPr>
          <a:xfrm>
            <a:off x="4568800" y="2743200"/>
            <a:ext cx="3108960" cy="868680"/>
          </a:xfrm>
          <a:prstGeom prst="rect">
            <a:avLst/>
          </a:prstGeom>
          <a:noFill/>
          <a:ln/>
        </p:spPr>
        <p:txBody>
          <a:bodyPr wrap="square" lIns="0" tIns="0" rIns="0" bIns="0" rtlCol="0" anchor="t"/>
          <a:lstStyle/>
          <a:p>
            <a:pPr marL="0" indent="0">
              <a:buNone/>
            </a:pPr>
            <a:r>
              <a:rPr lang="en-US" sz="1300" dirty="0">
                <a:solidFill>
                  <a:schemeClr val="tx2"/>
                </a:solidFill>
              </a:rPr>
              <a:t>8,247 rows before and after drop_duplicates().</a:t>
            </a:r>
            <a:endParaRPr lang="en-US" sz="1300" dirty="0"/>
          </a:p>
        </p:txBody>
      </p:sp>
      <p:sp>
        <p:nvSpPr>
          <p:cNvPr id="15" name="Card"/>
          <p:cNvSpPr/>
          <p:nvPr/>
        </p:nvSpPr>
        <p:spPr>
          <a:xfrm>
            <a:off x="8076895" y="1371600"/>
            <a:ext cx="3566160" cy="2286000"/>
          </a:xfrm>
          <a:prstGeom prst="roundRect">
            <a:avLst>
              <a:gd name="adj" fmla="val 48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6" name="Text 13"/>
          <p:cNvSpPr txBox="1"/>
          <p:nvPr/>
        </p:nvSpPr>
        <p:spPr>
          <a:xfrm>
            <a:off x="8332927" y="1554480"/>
            <a:ext cx="3108960" cy="320040"/>
          </a:xfrm>
          <a:prstGeom prst="rect">
            <a:avLst/>
          </a:prstGeom>
          <a:noFill/>
          <a:ln/>
        </p:spPr>
        <p:txBody>
          <a:bodyPr wrap="square" lIns="0" tIns="0" rIns="0" bIns="0" rtlCol="0" anchor="t"/>
          <a:lstStyle/>
          <a:p>
            <a:pPr marL="0" indent="0">
              <a:buNone/>
            </a:pPr>
            <a:r>
              <a:rPr lang="en-US" sz="1700" b="1" dirty="0">
                <a:solidFill>
                  <a:schemeClr val="tx1"/>
                </a:solidFill>
                <a:latin typeface="Cambria" pitchFamily="34" charset="0"/>
                <a:ea typeface="Cambria" pitchFamily="34" charset="-122"/>
                <a:cs typeface="Cambria" pitchFamily="34" charset="-120"/>
              </a:rPr>
              <a:t>Incorrect data</a:t>
            </a:r>
            <a:endParaRPr lang="en-US" sz="1700" dirty="0"/>
          </a:p>
        </p:txBody>
      </p:sp>
      <p:sp>
        <p:nvSpPr>
          <p:cNvPr id="17" name="Text 14"/>
          <p:cNvSpPr txBox="1"/>
          <p:nvPr/>
        </p:nvSpPr>
        <p:spPr>
          <a:xfrm>
            <a:off x="8332927" y="1920240"/>
            <a:ext cx="3108960" cy="50292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0</a:t>
            </a:r>
            <a:endParaRPr lang="en-US" sz="3000" dirty="0"/>
          </a:p>
        </p:txBody>
      </p:sp>
      <p:sp>
        <p:nvSpPr>
          <p:cNvPr id="18" name="Text 15"/>
          <p:cNvSpPr txBox="1"/>
          <p:nvPr/>
        </p:nvSpPr>
        <p:spPr>
          <a:xfrm>
            <a:off x="8332927" y="2423160"/>
            <a:ext cx="3108960" cy="274320"/>
          </a:xfrm>
          <a:prstGeom prst="rect">
            <a:avLst/>
          </a:prstGeom>
          <a:noFill/>
          <a:ln/>
        </p:spPr>
        <p:txBody>
          <a:bodyPr wrap="square" lIns="0" tIns="0" rIns="0" bIns="0" rtlCol="0" anchor="t"/>
          <a:lstStyle/>
          <a:p>
            <a:pPr marL="0" indent="0">
              <a:buNone/>
            </a:pPr>
            <a:r>
              <a:rPr lang="en-US" sz="1250" b="1" dirty="0">
                <a:solidFill>
                  <a:schemeClr val="tx2"/>
                </a:solidFill>
              </a:rPr>
              <a:t>negative runs or wickets</a:t>
            </a:r>
            <a:endParaRPr lang="en-US" sz="1250" dirty="0"/>
          </a:p>
        </p:txBody>
      </p:sp>
      <p:sp>
        <p:nvSpPr>
          <p:cNvPr id="19" name="Text 16"/>
          <p:cNvSpPr txBox="1"/>
          <p:nvPr/>
        </p:nvSpPr>
        <p:spPr>
          <a:xfrm>
            <a:off x="8332927" y="2743200"/>
            <a:ext cx="3108960" cy="868680"/>
          </a:xfrm>
          <a:prstGeom prst="rect">
            <a:avLst/>
          </a:prstGeom>
          <a:noFill/>
          <a:ln/>
        </p:spPr>
        <p:txBody>
          <a:bodyPr wrap="square" lIns="0" tIns="0" rIns="0" bIns="0" rtlCol="0" anchor="t"/>
          <a:lstStyle/>
          <a:p>
            <a:pPr marL="0" indent="0">
              <a:buNone/>
            </a:pPr>
            <a:r>
              <a:rPr lang="en-US" sz="1300" dirty="0">
                <a:solidFill>
                  <a:schemeClr val="tx2"/>
                </a:solidFill>
              </a:rPr>
              <a:t>Checked team1 / team2 runs and wickets.</a:t>
            </a:r>
            <a:endParaRPr lang="en-US" sz="1300" dirty="0"/>
          </a:p>
        </p:txBody>
      </p:sp>
      <p:sp>
        <p:nvSpPr>
          <p:cNvPr id="20" name="Card"/>
          <p:cNvSpPr/>
          <p:nvPr/>
        </p:nvSpPr>
        <p:spPr>
          <a:xfrm>
            <a:off x="548640" y="3840480"/>
            <a:ext cx="3566160" cy="2286000"/>
          </a:xfrm>
          <a:prstGeom prst="roundRect">
            <a:avLst>
              <a:gd name="adj" fmla="val 48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21" name="Text 18"/>
          <p:cNvSpPr txBox="1"/>
          <p:nvPr/>
        </p:nvSpPr>
        <p:spPr>
          <a:xfrm>
            <a:off x="804672" y="4023360"/>
            <a:ext cx="3108960" cy="320040"/>
          </a:xfrm>
          <a:prstGeom prst="rect">
            <a:avLst/>
          </a:prstGeom>
          <a:noFill/>
          <a:ln/>
        </p:spPr>
        <p:txBody>
          <a:bodyPr wrap="square" lIns="0" tIns="0" rIns="0" bIns="0" rtlCol="0" anchor="t"/>
          <a:lstStyle/>
          <a:p>
            <a:pPr marL="0" indent="0">
              <a:buNone/>
            </a:pPr>
            <a:r>
              <a:rPr lang="en-US" sz="1700" b="1" dirty="0">
                <a:solidFill>
                  <a:schemeClr val="tx1"/>
                </a:solidFill>
                <a:latin typeface="Cambria" pitchFamily="34" charset="0"/>
                <a:ea typeface="Cambria" pitchFamily="34" charset="-122"/>
                <a:cs typeface="Cambria" pitchFamily="34" charset="-120"/>
              </a:rPr>
              <a:t>Categorical variables</a:t>
            </a:r>
            <a:endParaRPr lang="en-US" sz="1700" dirty="0"/>
          </a:p>
        </p:txBody>
      </p:sp>
      <p:sp>
        <p:nvSpPr>
          <p:cNvPr id="22" name="Text 19"/>
          <p:cNvSpPr txBox="1"/>
          <p:nvPr/>
        </p:nvSpPr>
        <p:spPr>
          <a:xfrm>
            <a:off x="804672" y="4389120"/>
            <a:ext cx="3108960" cy="50292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9</a:t>
            </a:r>
            <a:endParaRPr lang="en-US" sz="3000" dirty="0"/>
          </a:p>
        </p:txBody>
      </p:sp>
      <p:sp>
        <p:nvSpPr>
          <p:cNvPr id="23" name="Text 20"/>
          <p:cNvSpPr txBox="1"/>
          <p:nvPr/>
        </p:nvSpPr>
        <p:spPr>
          <a:xfrm>
            <a:off x="804672" y="4892040"/>
            <a:ext cx="3108960" cy="274320"/>
          </a:xfrm>
          <a:prstGeom prst="rect">
            <a:avLst/>
          </a:prstGeom>
          <a:noFill/>
          <a:ln/>
        </p:spPr>
        <p:txBody>
          <a:bodyPr wrap="square" lIns="0" tIns="0" rIns="0" bIns="0" rtlCol="0" anchor="t"/>
          <a:lstStyle/>
          <a:p>
            <a:pPr marL="0" indent="0">
              <a:buNone/>
            </a:pPr>
            <a:r>
              <a:rPr lang="en-US" sz="1250" b="1" dirty="0">
                <a:solidFill>
                  <a:schemeClr val="tx2"/>
                </a:solidFill>
              </a:rPr>
              <a:t>text columns</a:t>
            </a:r>
            <a:endParaRPr lang="en-US" sz="1250" dirty="0"/>
          </a:p>
        </p:txBody>
      </p:sp>
      <p:sp>
        <p:nvSpPr>
          <p:cNvPr id="24" name="Text 21"/>
          <p:cNvSpPr txBox="1"/>
          <p:nvPr/>
        </p:nvSpPr>
        <p:spPr>
          <a:xfrm>
            <a:off x="804672" y="5212080"/>
            <a:ext cx="3108960" cy="868680"/>
          </a:xfrm>
          <a:prstGeom prst="rect">
            <a:avLst/>
          </a:prstGeom>
          <a:noFill/>
          <a:ln/>
        </p:spPr>
        <p:txBody>
          <a:bodyPr wrap="square" lIns="0" tIns="0" rIns="0" bIns="0" rtlCol="0" anchor="t"/>
          <a:lstStyle/>
          <a:p>
            <a:pPr marL="0" indent="0">
              <a:buNone/>
            </a:pPr>
            <a:r>
              <a:rPr lang="en-US" sz="1300" dirty="0">
                <a:solidFill>
                  <a:schemeClr val="tx2"/>
                </a:solidFill>
              </a:rPr>
              <a:t>Team, venue and toss become numeric features (Elo, win rates, form), not raw inputs.</a:t>
            </a:r>
            <a:endParaRPr lang="en-US" sz="1300" dirty="0"/>
          </a:p>
        </p:txBody>
      </p:sp>
      <p:sp>
        <p:nvSpPr>
          <p:cNvPr id="25" name="Card"/>
          <p:cNvSpPr/>
          <p:nvPr/>
        </p:nvSpPr>
        <p:spPr>
          <a:xfrm>
            <a:off x="4312768" y="3840480"/>
            <a:ext cx="3566160" cy="2286000"/>
          </a:xfrm>
          <a:prstGeom prst="roundRect">
            <a:avLst>
              <a:gd name="adj" fmla="val 48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26" name="Text 23"/>
          <p:cNvSpPr txBox="1"/>
          <p:nvPr/>
        </p:nvSpPr>
        <p:spPr>
          <a:xfrm>
            <a:off x="4568800" y="4023360"/>
            <a:ext cx="3108960" cy="320040"/>
          </a:xfrm>
          <a:prstGeom prst="rect">
            <a:avLst/>
          </a:prstGeom>
          <a:noFill/>
          <a:ln/>
        </p:spPr>
        <p:txBody>
          <a:bodyPr wrap="square" lIns="0" tIns="0" rIns="0" bIns="0" rtlCol="0" anchor="t"/>
          <a:lstStyle/>
          <a:p>
            <a:pPr marL="0" indent="0">
              <a:buNone/>
            </a:pPr>
            <a:r>
              <a:rPr lang="en-US" sz="1700" b="1" dirty="0">
                <a:solidFill>
                  <a:schemeClr val="tx1"/>
                </a:solidFill>
                <a:latin typeface="Cambria" pitchFamily="34" charset="0"/>
                <a:ea typeface="Cambria" pitchFamily="34" charset="-122"/>
                <a:cs typeface="Cambria" pitchFamily="34" charset="-120"/>
              </a:rPr>
              <a:t>Numerical variables</a:t>
            </a:r>
            <a:endParaRPr lang="en-US" sz="1700" dirty="0"/>
          </a:p>
        </p:txBody>
      </p:sp>
      <p:sp>
        <p:nvSpPr>
          <p:cNvPr id="27" name="Text 24"/>
          <p:cNvSpPr txBox="1"/>
          <p:nvPr/>
        </p:nvSpPr>
        <p:spPr>
          <a:xfrm>
            <a:off x="4568800" y="4389120"/>
            <a:ext cx="3108960" cy="50292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4</a:t>
            </a:r>
            <a:endParaRPr lang="en-US" sz="3000" dirty="0"/>
          </a:p>
        </p:txBody>
      </p:sp>
      <p:sp>
        <p:nvSpPr>
          <p:cNvPr id="28" name="Text 25"/>
          <p:cNvSpPr txBox="1"/>
          <p:nvPr/>
        </p:nvSpPr>
        <p:spPr>
          <a:xfrm>
            <a:off x="4568800" y="4892040"/>
            <a:ext cx="3108960" cy="274320"/>
          </a:xfrm>
          <a:prstGeom prst="rect">
            <a:avLst/>
          </a:prstGeom>
          <a:noFill/>
          <a:ln/>
        </p:spPr>
        <p:txBody>
          <a:bodyPr wrap="square" lIns="0" tIns="0" rIns="0" bIns="0" rtlCol="0" anchor="t"/>
          <a:lstStyle/>
          <a:p>
            <a:pPr marL="0" indent="0">
              <a:buNone/>
            </a:pPr>
            <a:r>
              <a:rPr lang="en-US" sz="1250" b="1" dirty="0">
                <a:solidFill>
                  <a:schemeClr val="tx2"/>
                </a:solidFill>
              </a:rPr>
              <a:t>numeric columns</a:t>
            </a:r>
            <a:endParaRPr lang="en-US" sz="1250" dirty="0"/>
          </a:p>
        </p:txBody>
      </p:sp>
      <p:sp>
        <p:nvSpPr>
          <p:cNvPr id="29" name="Text 26"/>
          <p:cNvSpPr txBox="1"/>
          <p:nvPr/>
        </p:nvSpPr>
        <p:spPr>
          <a:xfrm>
            <a:off x="4568800" y="5212080"/>
            <a:ext cx="3108960" cy="868680"/>
          </a:xfrm>
          <a:prstGeom prst="rect">
            <a:avLst/>
          </a:prstGeom>
          <a:noFill/>
          <a:ln/>
        </p:spPr>
        <p:txBody>
          <a:bodyPr wrap="square" lIns="0" tIns="0" rIns="0" bIns="0" rtlCol="0" anchor="t"/>
          <a:lstStyle/>
          <a:p>
            <a:pPr marL="0" indent="0">
              <a:buNone/>
            </a:pPr>
            <a:r>
              <a:rPr lang="en-US" sz="1300" dirty="0">
                <a:solidFill>
                  <a:schemeClr val="tx2"/>
                </a:solidFill>
              </a:rPr>
              <a:t>StandardScaler is used only for Logistic Regression (TEST). Random Forest needs no scaling.</a:t>
            </a:r>
            <a:endParaRPr lang="en-US" sz="1300" dirty="0"/>
          </a:p>
        </p:txBody>
      </p:sp>
      <p:sp>
        <p:nvSpPr>
          <p:cNvPr id="30" name="Card"/>
          <p:cNvSpPr/>
          <p:nvPr/>
        </p:nvSpPr>
        <p:spPr>
          <a:xfrm>
            <a:off x="8076895" y="3840480"/>
            <a:ext cx="3566160" cy="2286000"/>
          </a:xfrm>
          <a:prstGeom prst="roundRect">
            <a:avLst>
              <a:gd name="adj" fmla="val 48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31" name="Text 28"/>
          <p:cNvSpPr txBox="1"/>
          <p:nvPr/>
        </p:nvSpPr>
        <p:spPr>
          <a:xfrm>
            <a:off x="8332927" y="4023360"/>
            <a:ext cx="3108960" cy="320040"/>
          </a:xfrm>
          <a:prstGeom prst="rect">
            <a:avLst/>
          </a:prstGeom>
          <a:noFill/>
          <a:ln/>
        </p:spPr>
        <p:txBody>
          <a:bodyPr wrap="square" lIns="0" tIns="0" rIns="0" bIns="0" rtlCol="0" anchor="t"/>
          <a:lstStyle/>
          <a:p>
            <a:pPr marL="0" indent="0">
              <a:buNone/>
            </a:pPr>
            <a:r>
              <a:rPr lang="en-US" sz="1700" b="1" dirty="0">
                <a:solidFill>
                  <a:schemeClr val="tx1"/>
                </a:solidFill>
                <a:latin typeface="Cambria" pitchFamily="34" charset="0"/>
                <a:ea typeface="Cambria" pitchFamily="34" charset="-122"/>
                <a:cs typeface="Cambria" pitchFamily="34" charset="-120"/>
              </a:rPr>
              <a:t>Outliers (IQR rule)</a:t>
            </a:r>
            <a:endParaRPr lang="en-US" sz="1700" dirty="0"/>
          </a:p>
        </p:txBody>
      </p:sp>
      <p:sp>
        <p:nvSpPr>
          <p:cNvPr id="32" name="Text 29"/>
          <p:cNvSpPr txBox="1"/>
          <p:nvPr/>
        </p:nvSpPr>
        <p:spPr>
          <a:xfrm>
            <a:off x="8332927" y="4389120"/>
            <a:ext cx="3108960" cy="50292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1.5×IQR</a:t>
            </a:r>
            <a:endParaRPr lang="en-US" sz="3000" dirty="0"/>
          </a:p>
        </p:txBody>
      </p:sp>
      <p:sp>
        <p:nvSpPr>
          <p:cNvPr id="33" name="Text 30"/>
          <p:cNvSpPr txBox="1"/>
          <p:nvPr/>
        </p:nvSpPr>
        <p:spPr>
          <a:xfrm>
            <a:off x="8332927" y="4892040"/>
            <a:ext cx="3108960" cy="274320"/>
          </a:xfrm>
          <a:prstGeom prst="rect">
            <a:avLst/>
          </a:prstGeom>
          <a:noFill/>
          <a:ln/>
        </p:spPr>
        <p:txBody>
          <a:bodyPr wrap="square" lIns="0" tIns="0" rIns="0" bIns="0" rtlCol="0" anchor="t"/>
          <a:lstStyle/>
          <a:p>
            <a:pPr marL="0" indent="0">
              <a:buNone/>
            </a:pPr>
            <a:r>
              <a:rPr lang="en-US" sz="1250" b="1" dirty="0">
                <a:solidFill>
                  <a:schemeClr val="tx2"/>
                </a:solidFill>
              </a:rPr>
              <a:t>beyond Q1 − / Q3 + 1.5×IQR</a:t>
            </a:r>
            <a:endParaRPr lang="en-US" sz="1250" dirty="0"/>
          </a:p>
        </p:txBody>
      </p:sp>
      <p:sp>
        <p:nvSpPr>
          <p:cNvPr id="34" name="Text 31"/>
          <p:cNvSpPr txBox="1"/>
          <p:nvPr/>
        </p:nvSpPr>
        <p:spPr>
          <a:xfrm>
            <a:off x="8332927" y="5212080"/>
            <a:ext cx="3108960" cy="868680"/>
          </a:xfrm>
          <a:prstGeom prst="rect">
            <a:avLst/>
          </a:prstGeom>
          <a:noFill/>
          <a:ln/>
        </p:spPr>
        <p:txBody>
          <a:bodyPr wrap="square" lIns="0" tIns="0" rIns="0" bIns="0" rtlCol="0" anchor="t"/>
          <a:lstStyle/>
          <a:p>
            <a:pPr marL="0" indent="0">
              <a:buNone/>
            </a:pPr>
            <a:r>
              <a:rPr lang="en-US" sz="1300" dirty="0">
                <a:solidFill>
                  <a:schemeClr val="tx2"/>
                </a:solidFill>
              </a:rPr>
              <a:t>Flagged: team1_runs 731, team2_runs 713, team1_wickets 488, team2_wickets 420. Kept — big totals and collapses are real matches.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0515600" cy="640080"/>
          </a:xfrm>
          <a:prstGeom prst="rect">
            <a:avLst/>
          </a:prstGeom>
          <a:noFill/>
          <a:ln/>
        </p:spPr>
        <p:txBody>
          <a:bodyPr wrap="square" lIns="0" tIns="0" rIns="0" bIns="0" rtlCol="0" anchor="ctr"/>
          <a:lstStyle/>
          <a:p>
            <a:pPr marL="0" indent="0" algn="l">
              <a:buNone/>
            </a:pPr>
            <a:r>
              <a:rPr lang="en-US" sz="3000" b="1" dirty="0">
                <a:solidFill>
                  <a:schemeClr val="tx1"/>
                </a:solidFill>
              </a:rPr>
              <a:t>Exploratory Data Analysis</a:t>
            </a:r>
            <a:endParaRPr lang="en-US" sz="3000" dirty="0"/>
          </a:p>
        </p:txBody>
      </p:sp>
      <p:sp>
        <p:nvSpPr>
          <p:cNvPr id="3" name="Text 1"/>
          <p:cNvSpPr txBox="1"/>
          <p:nvPr/>
        </p:nvSpPr>
        <p:spPr>
          <a:xfrm>
            <a:off x="10545775" y="640080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06 / 12</a:t>
            </a:r>
            <a:endParaRPr lang="en-US" sz="1000" dirty="0"/>
          </a:p>
        </p:txBody>
      </p:sp>
      <p:sp>
        <p:nvSpPr>
          <p:cNvPr id="5" name="Card"/>
          <p:cNvSpPr/>
          <p:nvPr/>
        </p:nvSpPr>
        <p:spPr>
          <a:xfrm>
            <a:off x="548640" y="1371600"/>
            <a:ext cx="5440680" cy="4846320"/>
          </a:xfrm>
          <a:prstGeom prst="roundRect">
            <a:avLst>
              <a:gd name="adj" fmla="val 2264"/>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6" name="Text 3"/>
          <p:cNvSpPr txBox="1"/>
          <p:nvPr/>
        </p:nvSpPr>
        <p:spPr>
          <a:xfrm>
            <a:off x="822960" y="1536192"/>
            <a:ext cx="4846320" cy="320040"/>
          </a:xfrm>
          <a:prstGeom prst="rect">
            <a:avLst/>
          </a:prstGeom>
          <a:noFill/>
          <a:ln/>
        </p:spPr>
        <p:txBody>
          <a:bodyPr wrap="square" lIns="0" tIns="0" rIns="0" bIns="0" rtlCol="0" anchor="t"/>
          <a:lstStyle/>
          <a:p>
            <a:pPr marL="0" indent="0">
              <a:buNone/>
            </a:pPr>
            <a:r>
              <a:rPr lang="en-US" sz="1700" b="1" dirty="0">
                <a:solidFill>
                  <a:schemeClr val="tx1"/>
                </a:solidFill>
              </a:rPr>
              <a:t>Number of matches by format</a:t>
            </a:r>
            <a:endParaRPr lang="en-US" sz="1700" dirty="0"/>
          </a:p>
        </p:txBody>
      </p:sp>
      <p:pic>
        <p:nvPicPr>
          <p:cNvPr id="7" name="Image 0" descr="Number of matches by format chart"/>
          <p:cNvPicPr>
            <a:picLocks noChangeAspect="1"/>
          </p:cNvPicPr>
          <p:nvPr/>
        </p:nvPicPr>
        <p:blipFill>
          <a:blip r:embed="rId3"/>
          <a:stretch>
            <a:fillRect/>
          </a:stretch>
        </p:blipFill>
        <p:spPr>
          <a:xfrm>
            <a:off x="937260" y="2009472"/>
            <a:ext cx="4663440" cy="3113376"/>
          </a:xfrm>
          <a:prstGeom prst="rect">
            <a:avLst/>
          </a:prstGeom>
        </p:spPr>
      </p:pic>
      <p:sp>
        <p:nvSpPr>
          <p:cNvPr id="8" name="Shape 4"/>
          <p:cNvSpPr/>
          <p:nvPr/>
        </p:nvSpPr>
        <p:spPr>
          <a:xfrm>
            <a:off x="822960" y="5303520"/>
            <a:ext cx="4892040" cy="18288"/>
          </a:xfrm>
          <a:prstGeom prst="rect">
            <a:avLst/>
          </a:prstGeom>
          <a:solidFill>
            <a:schemeClr val="accent4"/>
          </a:solidFill>
          <a:ln w="12700">
            <a:solidFill>
              <a:schemeClr val="accent4"/>
            </a:solidFill>
            <a:prstDash val="solid"/>
          </a:ln>
        </p:spPr>
      </p:sp>
      <p:sp>
        <p:nvSpPr>
          <p:cNvPr id="9" name="Text 5"/>
          <p:cNvSpPr txBox="1"/>
          <p:nvPr/>
        </p:nvSpPr>
        <p:spPr>
          <a:xfrm>
            <a:off x="822960" y="5440680"/>
            <a:ext cx="4892040" cy="640080"/>
          </a:xfrm>
          <a:prstGeom prst="rect">
            <a:avLst/>
          </a:prstGeom>
          <a:noFill/>
          <a:ln/>
        </p:spPr>
        <p:txBody>
          <a:bodyPr wrap="square" lIns="0" tIns="0" rIns="0" bIns="0" rtlCol="0" anchor="t"/>
          <a:lstStyle/>
          <a:p>
            <a:pPr marL="0" indent="0">
              <a:buNone/>
            </a:pPr>
            <a:r>
              <a:rPr lang="en-US" sz="1600" dirty="0">
                <a:solidFill>
                  <a:schemeClr val="tx1"/>
                </a:solidFill>
              </a:rPr>
              <a:t>T20 has the most matches (3,539); TEST has the fewest (894).</a:t>
            </a:r>
            <a:endParaRPr lang="en-US" sz="1600" dirty="0"/>
          </a:p>
        </p:txBody>
      </p:sp>
      <p:sp>
        <p:nvSpPr>
          <p:cNvPr id="10" name="Card"/>
          <p:cNvSpPr/>
          <p:nvPr/>
        </p:nvSpPr>
        <p:spPr>
          <a:xfrm>
            <a:off x="6199632" y="1371600"/>
            <a:ext cx="5440680" cy="4846320"/>
          </a:xfrm>
          <a:prstGeom prst="roundRect">
            <a:avLst>
              <a:gd name="adj" fmla="val 2264"/>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11" name="Text 7"/>
          <p:cNvSpPr txBox="1"/>
          <p:nvPr/>
        </p:nvSpPr>
        <p:spPr>
          <a:xfrm>
            <a:off x="6473952" y="1536192"/>
            <a:ext cx="4846320" cy="320040"/>
          </a:xfrm>
          <a:prstGeom prst="rect">
            <a:avLst/>
          </a:prstGeom>
          <a:noFill/>
          <a:ln/>
        </p:spPr>
        <p:txBody>
          <a:bodyPr wrap="square" lIns="0" tIns="0" rIns="0" bIns="0" rtlCol="0" anchor="t"/>
          <a:lstStyle/>
          <a:p>
            <a:pPr marL="0" indent="0">
              <a:buNone/>
            </a:pPr>
            <a:r>
              <a:rPr lang="en-US" sz="1700" b="1" dirty="0">
                <a:solidFill>
                  <a:schemeClr val="tx1"/>
                </a:solidFill>
              </a:rPr>
              <a:t>Top teams by match wins</a:t>
            </a:r>
            <a:endParaRPr lang="en-US" sz="1700" dirty="0"/>
          </a:p>
        </p:txBody>
      </p:sp>
      <p:pic>
        <p:nvPicPr>
          <p:cNvPr id="12" name="Image 1" descr="Top teams by match wins chart"/>
          <p:cNvPicPr>
            <a:picLocks noChangeAspect="1"/>
          </p:cNvPicPr>
          <p:nvPr/>
        </p:nvPicPr>
        <p:blipFill>
          <a:blip r:embed="rId4"/>
          <a:stretch>
            <a:fillRect/>
          </a:stretch>
        </p:blipFill>
        <p:spPr>
          <a:xfrm>
            <a:off x="6336792" y="2112457"/>
            <a:ext cx="5166360" cy="2907406"/>
          </a:xfrm>
          <a:prstGeom prst="rect">
            <a:avLst/>
          </a:prstGeom>
        </p:spPr>
      </p:pic>
      <p:sp>
        <p:nvSpPr>
          <p:cNvPr id="13" name="Shape 8"/>
          <p:cNvSpPr/>
          <p:nvPr/>
        </p:nvSpPr>
        <p:spPr>
          <a:xfrm>
            <a:off x="6473952" y="5303520"/>
            <a:ext cx="4892040" cy="18288"/>
          </a:xfrm>
          <a:prstGeom prst="rect">
            <a:avLst/>
          </a:prstGeom>
          <a:solidFill>
            <a:schemeClr val="accent4"/>
          </a:solidFill>
          <a:ln w="12700">
            <a:solidFill>
              <a:schemeClr val="accent4"/>
            </a:solidFill>
            <a:prstDash val="solid"/>
          </a:ln>
        </p:spPr>
      </p:sp>
      <p:sp>
        <p:nvSpPr>
          <p:cNvPr id="14" name="Text 9"/>
          <p:cNvSpPr txBox="1"/>
          <p:nvPr/>
        </p:nvSpPr>
        <p:spPr>
          <a:xfrm>
            <a:off x="6473952" y="5440680"/>
            <a:ext cx="4892040" cy="640080"/>
          </a:xfrm>
          <a:prstGeom prst="rect">
            <a:avLst/>
          </a:prstGeom>
          <a:noFill/>
          <a:ln/>
        </p:spPr>
        <p:txBody>
          <a:bodyPr wrap="square" lIns="0" tIns="0" rIns="0" bIns="0" rtlCol="0" anchor="t"/>
          <a:lstStyle/>
          <a:p>
            <a:pPr marL="0" indent="0">
              <a:buNone/>
            </a:pPr>
            <a:r>
              <a:rPr lang="en-US" sz="1600" dirty="0">
                <a:solidFill>
                  <a:schemeClr val="tx1"/>
                </a:solidFill>
              </a:rPr>
              <a:t>India has the most wins in the data: 601 (all formats combined).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0515600" cy="640080"/>
          </a:xfrm>
          <a:prstGeom prst="rect">
            <a:avLst/>
          </a:prstGeom>
          <a:noFill/>
          <a:ln/>
        </p:spPr>
        <p:txBody>
          <a:bodyPr wrap="square" lIns="0" tIns="0" rIns="0" bIns="0" rtlCol="0" anchor="ctr"/>
          <a:lstStyle/>
          <a:p>
            <a:pPr marL="0" indent="0" algn="l">
              <a:buNone/>
            </a:pPr>
            <a:r>
              <a:rPr lang="en-US" sz="3000" b="1" dirty="0">
                <a:solidFill>
                  <a:schemeClr val="tx1"/>
                </a:solidFill>
              </a:rPr>
              <a:t>Feature Engineering</a:t>
            </a:r>
            <a:endParaRPr lang="en-US" sz="3000" dirty="0"/>
          </a:p>
        </p:txBody>
      </p:sp>
      <p:sp>
        <p:nvSpPr>
          <p:cNvPr id="3" name="Text 1"/>
          <p:cNvSpPr txBox="1"/>
          <p:nvPr/>
        </p:nvSpPr>
        <p:spPr>
          <a:xfrm>
            <a:off x="10545775" y="640080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07 / 12</a:t>
            </a:r>
            <a:endParaRPr lang="en-US" sz="1000" dirty="0"/>
          </a:p>
        </p:txBody>
      </p:sp>
      <p:sp>
        <p:nvSpPr>
          <p:cNvPr id="5" name="Card"/>
          <p:cNvSpPr/>
          <p:nvPr/>
        </p:nvSpPr>
        <p:spPr>
          <a:xfrm>
            <a:off x="548640" y="1371600"/>
            <a:ext cx="2651760" cy="3520440"/>
          </a:xfrm>
          <a:prstGeom prst="roundRect">
            <a:avLst>
              <a:gd name="adj" fmla="val 4138"/>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6" name="Text 3"/>
          <p:cNvSpPr txBox="1"/>
          <p:nvPr/>
        </p:nvSpPr>
        <p:spPr>
          <a:xfrm>
            <a:off x="731520" y="1481328"/>
            <a:ext cx="2377440" cy="228600"/>
          </a:xfrm>
          <a:prstGeom prst="rect">
            <a:avLst/>
          </a:prstGeom>
          <a:noFill/>
          <a:ln/>
        </p:spPr>
        <p:txBody>
          <a:bodyPr wrap="square" lIns="0" tIns="0" rIns="0" bIns="0" rtlCol="0" anchor="t"/>
          <a:lstStyle/>
          <a:p>
            <a:pPr marL="0" indent="0">
              <a:buNone/>
            </a:pPr>
            <a:r>
              <a:rPr lang="en-US" sz="1100" b="1" kern="0" spc="100" dirty="0">
                <a:solidFill>
                  <a:schemeClr val="accent1"/>
                </a:solidFill>
              </a:rPr>
              <a:t>RAW DATA  ·  13 columns</a:t>
            </a:r>
            <a:endParaRPr lang="en-US" sz="1100" dirty="0"/>
          </a:p>
        </p:txBody>
      </p:sp>
      <p:sp>
        <p:nvSpPr>
          <p:cNvPr id="7" name="Text 4"/>
          <p:cNvSpPr txBox="1"/>
          <p:nvPr/>
        </p:nvSpPr>
        <p:spPr>
          <a:xfrm>
            <a:off x="731520" y="1810512"/>
            <a:ext cx="2377440" cy="1783080"/>
          </a:xfrm>
          <a:prstGeom prst="rect">
            <a:avLst/>
          </a:prstGeom>
          <a:noFill/>
          <a:ln/>
        </p:spPr>
        <p:txBody>
          <a:bodyPr wrap="square" lIns="0" tIns="0" rIns="0" bIns="0" rtlCol="0" anchor="t"/>
          <a:lstStyle/>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format</a:t>
            </a:r>
            <a:endParaRPr lang="en-US" sz="14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date</a:t>
            </a:r>
            <a:endParaRPr lang="en-US" sz="14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team1 / team2</a:t>
            </a:r>
            <a:endParaRPr lang="en-US" sz="14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venue</a:t>
            </a:r>
            <a:endParaRPr lang="en-US" sz="14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toss_winner</a:t>
            </a:r>
            <a:endParaRPr lang="en-US" sz="14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toss_decision</a:t>
            </a:r>
            <a:endParaRPr lang="en-US" sz="14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winner</a:t>
            </a:r>
            <a:endParaRPr lang="en-US" sz="14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result</a:t>
            </a:r>
            <a:endParaRPr lang="en-US" sz="1400" dirty="0"/>
          </a:p>
        </p:txBody>
      </p:sp>
      <p:sp>
        <p:nvSpPr>
          <p:cNvPr id="8" name="Text 5"/>
          <p:cNvSpPr txBox="1"/>
          <p:nvPr/>
        </p:nvSpPr>
        <p:spPr>
          <a:xfrm>
            <a:off x="731520" y="3611880"/>
            <a:ext cx="2377440" cy="914400"/>
          </a:xfrm>
          <a:prstGeom prst="rect">
            <a:avLst/>
          </a:prstGeom>
          <a:noFill/>
          <a:ln/>
        </p:spPr>
        <p:txBody>
          <a:bodyPr wrap="square" lIns="0" tIns="0" rIns="0" bIns="0" rtlCol="0" anchor="t"/>
          <a:lstStyle/>
          <a:p>
            <a:pPr marL="0" indent="0">
              <a:spcAft>
                <a:spcPts val="200"/>
              </a:spcAft>
              <a:buNone/>
            </a:pPr>
            <a:r>
              <a:rPr lang="en-US" sz="1200" dirty="0">
                <a:solidFill>
                  <a:srgbClr val="B42318"/>
                </a:solidFill>
                <a:latin typeface="Courier New" pitchFamily="34" charset="0"/>
                <a:ea typeface="Courier New" pitchFamily="34" charset="-122"/>
                <a:cs typeface="Courier New" pitchFamily="34" charset="-120"/>
              </a:rPr>
              <a:t>✕ team1_runs</a:t>
            </a:r>
            <a:endParaRPr lang="en-US" sz="1400" dirty="0"/>
          </a:p>
          <a:p>
            <a:pPr marL="0" indent="0">
              <a:spcAft>
                <a:spcPts val="200"/>
              </a:spcAft>
              <a:buNone/>
            </a:pPr>
            <a:r>
              <a:rPr lang="en-US" sz="1200" dirty="0">
                <a:solidFill>
                  <a:srgbClr val="B42318"/>
                </a:solidFill>
                <a:latin typeface="Courier New" pitchFamily="34" charset="0"/>
                <a:ea typeface="Courier New" pitchFamily="34" charset="-122"/>
                <a:cs typeface="Courier New" pitchFamily="34" charset="-120"/>
              </a:rPr>
              <a:t>✕ team2_runs</a:t>
            </a:r>
            <a:endParaRPr lang="en-US" sz="1400" dirty="0"/>
          </a:p>
          <a:p>
            <a:pPr marL="0" indent="0">
              <a:spcAft>
                <a:spcPts val="200"/>
              </a:spcAft>
              <a:buNone/>
            </a:pPr>
            <a:r>
              <a:rPr lang="en-US" sz="1200" dirty="0">
                <a:solidFill>
                  <a:srgbClr val="B42318"/>
                </a:solidFill>
                <a:latin typeface="Courier New" pitchFamily="34" charset="0"/>
                <a:ea typeface="Courier New" pitchFamily="34" charset="-122"/>
                <a:cs typeface="Courier New" pitchFamily="34" charset="-120"/>
              </a:rPr>
              <a:t>✕ team1_wickets</a:t>
            </a:r>
            <a:endParaRPr lang="en-US" sz="1400" dirty="0"/>
          </a:p>
          <a:p>
            <a:pPr marL="0" indent="0">
              <a:spcAft>
                <a:spcPts val="200"/>
              </a:spcAft>
              <a:buNone/>
            </a:pPr>
            <a:r>
              <a:rPr lang="en-US" sz="1200" dirty="0">
                <a:solidFill>
                  <a:srgbClr val="B42318"/>
                </a:solidFill>
                <a:latin typeface="Courier New" pitchFamily="34" charset="0"/>
                <a:ea typeface="Courier New" pitchFamily="34" charset="-122"/>
                <a:cs typeface="Courier New" pitchFamily="34" charset="-120"/>
              </a:rPr>
              <a:t>✕ team2_wickets</a:t>
            </a:r>
            <a:endParaRPr lang="en-US" sz="1400" dirty="0"/>
          </a:p>
        </p:txBody>
      </p:sp>
      <p:sp>
        <p:nvSpPr>
          <p:cNvPr id="9" name="Text 6"/>
          <p:cNvSpPr txBox="1"/>
          <p:nvPr/>
        </p:nvSpPr>
        <p:spPr>
          <a:xfrm>
            <a:off x="731520" y="4572000"/>
            <a:ext cx="2377440" cy="228600"/>
          </a:xfrm>
          <a:prstGeom prst="rect">
            <a:avLst/>
          </a:prstGeom>
          <a:noFill/>
          <a:ln/>
        </p:spPr>
        <p:txBody>
          <a:bodyPr wrap="square" lIns="0" tIns="0" rIns="0" bIns="0" rtlCol="0" anchor="t"/>
          <a:lstStyle/>
          <a:p>
            <a:pPr marL="0" indent="0">
              <a:buNone/>
            </a:pPr>
            <a:r>
              <a:rPr lang="en-US" sz="1050" dirty="0">
                <a:solidFill>
                  <a:srgbClr val="B42318"/>
                </a:solidFill>
              </a:rPr>
              <a:t>✕ known only after the match</a:t>
            </a:r>
            <a:endParaRPr lang="en-US" sz="1050" dirty="0"/>
          </a:p>
        </p:txBody>
      </p:sp>
      <p:sp>
        <p:nvSpPr>
          <p:cNvPr id="10" name="Shape 7"/>
          <p:cNvSpPr/>
          <p:nvPr/>
        </p:nvSpPr>
        <p:spPr>
          <a:xfrm>
            <a:off x="3291840" y="2880360"/>
            <a:ext cx="365760" cy="365760"/>
          </a:xfrm>
          <a:prstGeom prst="rightArrow">
            <a:avLst/>
          </a:prstGeom>
          <a:solidFill>
            <a:schemeClr val="accent2"/>
          </a:solidFill>
          <a:ln w="12700">
            <a:solidFill>
              <a:schemeClr val="accent2"/>
            </a:solidFill>
            <a:prstDash val="solid"/>
          </a:ln>
        </p:spPr>
      </p:sp>
      <p:sp>
        <p:nvSpPr>
          <p:cNvPr id="11" name="Card"/>
          <p:cNvSpPr/>
          <p:nvPr/>
        </p:nvSpPr>
        <p:spPr>
          <a:xfrm>
            <a:off x="3749040" y="1371600"/>
            <a:ext cx="2377440" cy="3520440"/>
          </a:xfrm>
          <a:prstGeom prst="roundRect">
            <a:avLst>
              <a:gd name="adj" fmla="val 4615"/>
            </a:avLst>
          </a:prstGeom>
          <a:solidFill>
            <a:schemeClr val="accent1"/>
          </a:solidFill>
          <a:ln w="12700">
            <a:solidFill>
              <a:schemeClr val="accent4"/>
            </a:solidFill>
            <a:prstDash val="solid"/>
          </a:ln>
          <a:effectLst>
            <a:outerShdw blurRad="101600" dist="25400" dir="5400000" algn="bl" rotWithShape="0">
              <a:srgbClr val="0B2545">
                <a:alpha val="10000"/>
              </a:srgbClr>
            </a:outerShdw>
          </a:effectLst>
        </p:spPr>
      </p:sp>
      <p:sp>
        <p:nvSpPr>
          <p:cNvPr id="12" name="Text 9"/>
          <p:cNvSpPr txBox="1"/>
          <p:nvPr/>
        </p:nvSpPr>
        <p:spPr>
          <a:xfrm>
            <a:off x="3931920" y="1481328"/>
            <a:ext cx="2103120" cy="228600"/>
          </a:xfrm>
          <a:prstGeom prst="rect">
            <a:avLst/>
          </a:prstGeom>
          <a:noFill/>
          <a:ln/>
        </p:spPr>
        <p:txBody>
          <a:bodyPr wrap="square" lIns="0" tIns="0" rIns="0" bIns="0" rtlCol="0" anchor="t"/>
          <a:lstStyle/>
          <a:p>
            <a:pPr marL="0" indent="0">
              <a:buNone/>
            </a:pPr>
            <a:r>
              <a:rPr lang="en-US" sz="1100" b="1" kern="0" spc="100" dirty="0">
                <a:solidFill>
                  <a:schemeClr val="bg1"/>
                </a:solidFill>
              </a:rPr>
              <a:t>FEATURE ENGINEERING</a:t>
            </a:r>
            <a:endParaRPr lang="en-US" sz="1100" dirty="0"/>
          </a:p>
        </p:txBody>
      </p:sp>
      <p:sp>
        <p:nvSpPr>
          <p:cNvPr id="13" name="Text 10"/>
          <p:cNvSpPr txBox="1"/>
          <p:nvPr/>
        </p:nvSpPr>
        <p:spPr>
          <a:xfrm>
            <a:off x="3931920" y="1874520"/>
            <a:ext cx="2057400" cy="29260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bg1"/>
                </a:solidFill>
              </a:rPr>
              <a:t>Go through matches in date order</a:t>
            </a:r>
            <a:endParaRPr lang="en-US" sz="1400" dirty="0"/>
          </a:p>
          <a:p>
            <a:pPr marL="342900" indent="-342900">
              <a:spcAft>
                <a:spcPts val="900"/>
              </a:spcAft>
              <a:buSzPct val="100000"/>
              <a:buChar char="•"/>
            </a:pPr>
            <a:r>
              <a:rPr lang="en-US" sz="1400" dirty="0">
                <a:solidFill>
                  <a:schemeClr val="bg1"/>
                </a:solidFill>
              </a:rPr>
              <a:t>Update each team’s history after the match</a:t>
            </a:r>
            <a:endParaRPr lang="en-US" sz="1400" dirty="0"/>
          </a:p>
          <a:p>
            <a:pPr marL="342900" indent="-342900">
              <a:spcAft>
                <a:spcPts val="900"/>
              </a:spcAft>
              <a:buSzPct val="100000"/>
              <a:buChar char="•"/>
            </a:pPr>
            <a:r>
              <a:rPr lang="en-US" sz="1400" dirty="0">
                <a:solidFill>
                  <a:schemeClr val="bg1"/>
                </a:solidFill>
              </a:rPr>
              <a:t>Compare Team 1 with Team 2</a:t>
            </a:r>
            <a:endParaRPr lang="en-US" sz="1400" dirty="0"/>
          </a:p>
          <a:p>
            <a:pPr marL="342900" indent="-342900">
              <a:spcAft>
                <a:spcPts val="900"/>
              </a:spcAft>
              <a:buSzPct val="100000"/>
              <a:buChar char="•"/>
            </a:pPr>
            <a:r>
              <a:rPr lang="en-US" sz="1400" dirty="0">
                <a:solidFill>
                  <a:schemeClr val="bg1"/>
                </a:solidFill>
              </a:rPr>
              <a:t>Elo, win rate, form, head-to-head, venue, toss</a:t>
            </a:r>
            <a:endParaRPr lang="en-US" sz="1400" dirty="0"/>
          </a:p>
        </p:txBody>
      </p:sp>
      <p:sp>
        <p:nvSpPr>
          <p:cNvPr id="14" name="Shape 11"/>
          <p:cNvSpPr/>
          <p:nvPr/>
        </p:nvSpPr>
        <p:spPr>
          <a:xfrm>
            <a:off x="6217920" y="2880360"/>
            <a:ext cx="365760" cy="365760"/>
          </a:xfrm>
          <a:prstGeom prst="rightArrow">
            <a:avLst/>
          </a:prstGeom>
          <a:solidFill>
            <a:schemeClr val="accent2"/>
          </a:solidFill>
          <a:ln w="12700">
            <a:solidFill>
              <a:schemeClr val="accent2"/>
            </a:solidFill>
            <a:prstDash val="solid"/>
          </a:ln>
        </p:spPr>
      </p:sp>
      <p:sp>
        <p:nvSpPr>
          <p:cNvPr id="15" name="Text 12"/>
          <p:cNvSpPr txBox="1"/>
          <p:nvPr/>
        </p:nvSpPr>
        <p:spPr>
          <a:xfrm>
            <a:off x="6675120" y="1481328"/>
            <a:ext cx="4937760" cy="228600"/>
          </a:xfrm>
          <a:prstGeom prst="rect">
            <a:avLst/>
          </a:prstGeom>
          <a:noFill/>
          <a:ln/>
        </p:spPr>
        <p:txBody>
          <a:bodyPr wrap="square" lIns="0" tIns="0" rIns="0" bIns="0" rtlCol="0" anchor="t"/>
          <a:lstStyle/>
          <a:p>
            <a:pPr marL="0" indent="0">
              <a:buNone/>
            </a:pPr>
            <a:r>
              <a:rPr lang="en-US" sz="1100" b="1" kern="0" spc="100" dirty="0">
                <a:solidFill>
                  <a:schemeClr val="accent1"/>
                </a:solidFill>
              </a:rPr>
              <a:t>ML FEATURES  ·  10 engineered, pre-match</a:t>
            </a:r>
            <a:endParaRPr lang="en-US" sz="1100" dirty="0"/>
          </a:p>
        </p:txBody>
      </p:sp>
      <p:sp>
        <p:nvSpPr>
          <p:cNvPr id="16" name="Shape 13"/>
          <p:cNvSpPr/>
          <p:nvPr/>
        </p:nvSpPr>
        <p:spPr>
          <a:xfrm>
            <a:off x="6675120" y="1810512"/>
            <a:ext cx="2414016" cy="566928"/>
          </a:xfrm>
          <a:prstGeom prst="roundRect">
            <a:avLst>
              <a:gd name="adj" fmla="val 12903"/>
            </a:avLst>
          </a:prstGeom>
          <a:solidFill>
            <a:schemeClr val="bg2"/>
          </a:solidFill>
          <a:ln w="12700">
            <a:solidFill>
              <a:schemeClr val="accent4"/>
            </a:solidFill>
            <a:prstDash val="solid"/>
          </a:ln>
        </p:spPr>
      </p:sp>
      <p:sp>
        <p:nvSpPr>
          <p:cNvPr id="17" name="Text 14"/>
          <p:cNvSpPr txBox="1"/>
          <p:nvPr/>
        </p:nvSpPr>
        <p:spPr>
          <a:xfrm>
            <a:off x="6766560" y="1865376"/>
            <a:ext cx="2240280" cy="228600"/>
          </a:xfrm>
          <a:prstGeom prst="rect">
            <a:avLst/>
          </a:prstGeom>
          <a:noFill/>
          <a:ln/>
        </p:spPr>
        <p:txBody>
          <a:bodyPr wrap="square" lIns="0" tIns="0" rIns="0" bIns="0" rtlCol="0" anchor="t"/>
          <a:lstStyle/>
          <a:p>
            <a:pPr marL="0" indent="0">
              <a:buNone/>
            </a:pPr>
            <a:r>
              <a:rPr lang="en-US" sz="1100" b="1" dirty="0">
                <a:solidFill>
                  <a:schemeClr val="accent1"/>
                </a:solidFill>
                <a:latin typeface="Courier New" pitchFamily="34" charset="0"/>
                <a:ea typeface="Courier New" pitchFamily="34" charset="-122"/>
                <a:cs typeface="Courier New" pitchFamily="34" charset="-120"/>
              </a:rPr>
              <a:t>elo_diff</a:t>
            </a:r>
            <a:endParaRPr lang="en-US" sz="1100" dirty="0"/>
          </a:p>
        </p:txBody>
      </p:sp>
      <p:sp>
        <p:nvSpPr>
          <p:cNvPr id="18" name="Text 15"/>
          <p:cNvSpPr txBox="1"/>
          <p:nvPr/>
        </p:nvSpPr>
        <p:spPr>
          <a:xfrm>
            <a:off x="6766560" y="2112264"/>
            <a:ext cx="2240280" cy="228600"/>
          </a:xfrm>
          <a:prstGeom prst="rect">
            <a:avLst/>
          </a:prstGeom>
          <a:noFill/>
          <a:ln/>
        </p:spPr>
        <p:txBody>
          <a:bodyPr wrap="square" lIns="0" tIns="0" rIns="0" bIns="0" rtlCol="0" anchor="t"/>
          <a:lstStyle/>
          <a:p>
            <a:pPr marL="0" indent="0">
              <a:buNone/>
            </a:pPr>
            <a:r>
              <a:rPr lang="en-US" sz="1150" dirty="0">
                <a:solidFill>
                  <a:schemeClr val="tx1"/>
                </a:solidFill>
              </a:rPr>
              <a:t>Gap in team strength rating</a:t>
            </a:r>
            <a:endParaRPr lang="en-US" sz="1150" dirty="0"/>
          </a:p>
        </p:txBody>
      </p:sp>
      <p:sp>
        <p:nvSpPr>
          <p:cNvPr id="19" name="Shape 16"/>
          <p:cNvSpPr/>
          <p:nvPr/>
        </p:nvSpPr>
        <p:spPr>
          <a:xfrm>
            <a:off x="9198864" y="1810512"/>
            <a:ext cx="2414016" cy="566928"/>
          </a:xfrm>
          <a:prstGeom prst="roundRect">
            <a:avLst>
              <a:gd name="adj" fmla="val 12903"/>
            </a:avLst>
          </a:prstGeom>
          <a:solidFill>
            <a:schemeClr val="bg2"/>
          </a:solidFill>
          <a:ln w="12700">
            <a:solidFill>
              <a:schemeClr val="accent4"/>
            </a:solidFill>
            <a:prstDash val="solid"/>
          </a:ln>
        </p:spPr>
      </p:sp>
      <p:sp>
        <p:nvSpPr>
          <p:cNvPr id="20" name="Text 17"/>
          <p:cNvSpPr txBox="1"/>
          <p:nvPr/>
        </p:nvSpPr>
        <p:spPr>
          <a:xfrm>
            <a:off x="9290304" y="1865376"/>
            <a:ext cx="2240280" cy="228600"/>
          </a:xfrm>
          <a:prstGeom prst="rect">
            <a:avLst/>
          </a:prstGeom>
          <a:noFill/>
          <a:ln/>
        </p:spPr>
        <p:txBody>
          <a:bodyPr wrap="square" lIns="0" tIns="0" rIns="0" bIns="0" rtlCol="0" anchor="t"/>
          <a:lstStyle/>
          <a:p>
            <a:pPr marL="0" indent="0">
              <a:buNone/>
            </a:pPr>
            <a:r>
              <a:rPr lang="en-US" sz="1100" b="1" dirty="0">
                <a:solidFill>
                  <a:schemeClr val="accent1"/>
                </a:solidFill>
                <a:latin typeface="Courier New" pitchFamily="34" charset="0"/>
                <a:ea typeface="Courier New" pitchFamily="34" charset="-122"/>
                <a:cs typeface="Courier New" pitchFamily="34" charset="-120"/>
              </a:rPr>
              <a:t>win_rate_diff</a:t>
            </a:r>
            <a:endParaRPr lang="en-US" sz="1100" dirty="0"/>
          </a:p>
        </p:txBody>
      </p:sp>
      <p:sp>
        <p:nvSpPr>
          <p:cNvPr id="21" name="Text 18"/>
          <p:cNvSpPr txBox="1"/>
          <p:nvPr/>
        </p:nvSpPr>
        <p:spPr>
          <a:xfrm>
            <a:off x="9290304" y="2112264"/>
            <a:ext cx="2240280" cy="228600"/>
          </a:xfrm>
          <a:prstGeom prst="rect">
            <a:avLst/>
          </a:prstGeom>
          <a:noFill/>
          <a:ln/>
        </p:spPr>
        <p:txBody>
          <a:bodyPr wrap="square" lIns="0" tIns="0" rIns="0" bIns="0" rtlCol="0" anchor="t"/>
          <a:lstStyle/>
          <a:p>
            <a:pPr marL="0" indent="0">
              <a:buNone/>
            </a:pPr>
            <a:r>
              <a:rPr lang="en-US" sz="1150" dirty="0">
                <a:solidFill>
                  <a:schemeClr val="tx1"/>
                </a:solidFill>
              </a:rPr>
              <a:t>Gap in past winning %</a:t>
            </a:r>
            <a:endParaRPr lang="en-US" sz="1150" dirty="0"/>
          </a:p>
        </p:txBody>
      </p:sp>
      <p:sp>
        <p:nvSpPr>
          <p:cNvPr id="22" name="Shape 19"/>
          <p:cNvSpPr/>
          <p:nvPr/>
        </p:nvSpPr>
        <p:spPr>
          <a:xfrm>
            <a:off x="6675120" y="2432304"/>
            <a:ext cx="2414016" cy="566928"/>
          </a:xfrm>
          <a:prstGeom prst="roundRect">
            <a:avLst>
              <a:gd name="adj" fmla="val 12903"/>
            </a:avLst>
          </a:prstGeom>
          <a:solidFill>
            <a:schemeClr val="bg2"/>
          </a:solidFill>
          <a:ln w="12700">
            <a:solidFill>
              <a:schemeClr val="accent4"/>
            </a:solidFill>
            <a:prstDash val="solid"/>
          </a:ln>
        </p:spPr>
      </p:sp>
      <p:sp>
        <p:nvSpPr>
          <p:cNvPr id="23" name="Text 20"/>
          <p:cNvSpPr txBox="1"/>
          <p:nvPr/>
        </p:nvSpPr>
        <p:spPr>
          <a:xfrm>
            <a:off x="6766560" y="2487168"/>
            <a:ext cx="2240280" cy="228600"/>
          </a:xfrm>
          <a:prstGeom prst="rect">
            <a:avLst/>
          </a:prstGeom>
          <a:noFill/>
          <a:ln/>
        </p:spPr>
        <p:txBody>
          <a:bodyPr wrap="square" lIns="0" tIns="0" rIns="0" bIns="0" rtlCol="0" anchor="t"/>
          <a:lstStyle/>
          <a:p>
            <a:pPr marL="0" indent="0">
              <a:buNone/>
            </a:pPr>
            <a:r>
              <a:rPr lang="en-US" sz="1100" b="1" dirty="0">
                <a:solidFill>
                  <a:schemeClr val="accent1"/>
                </a:solidFill>
                <a:latin typeface="Courier New" pitchFamily="34" charset="0"/>
                <a:ea typeface="Courier New" pitchFamily="34" charset="-122"/>
                <a:cs typeface="Courier New" pitchFamily="34" charset="-120"/>
              </a:rPr>
              <a:t>recent_form_diff</a:t>
            </a:r>
            <a:endParaRPr lang="en-US" sz="1100" dirty="0"/>
          </a:p>
        </p:txBody>
      </p:sp>
      <p:sp>
        <p:nvSpPr>
          <p:cNvPr id="24" name="Text 21"/>
          <p:cNvSpPr txBox="1"/>
          <p:nvPr/>
        </p:nvSpPr>
        <p:spPr>
          <a:xfrm>
            <a:off x="6766560" y="2734056"/>
            <a:ext cx="2240280" cy="228600"/>
          </a:xfrm>
          <a:prstGeom prst="rect">
            <a:avLst/>
          </a:prstGeom>
          <a:noFill/>
          <a:ln/>
        </p:spPr>
        <p:txBody>
          <a:bodyPr wrap="square" lIns="0" tIns="0" rIns="0" bIns="0" rtlCol="0" anchor="t"/>
          <a:lstStyle/>
          <a:p>
            <a:pPr marL="0" indent="0">
              <a:buNone/>
            </a:pPr>
            <a:r>
              <a:rPr lang="en-US" sz="1150" dirty="0">
                <a:solidFill>
                  <a:schemeClr val="tx1"/>
                </a:solidFill>
              </a:rPr>
              <a:t>Gap in last-5-match form</a:t>
            </a:r>
            <a:endParaRPr lang="en-US" sz="1150" dirty="0"/>
          </a:p>
        </p:txBody>
      </p:sp>
      <p:sp>
        <p:nvSpPr>
          <p:cNvPr id="25" name="Shape 22"/>
          <p:cNvSpPr/>
          <p:nvPr/>
        </p:nvSpPr>
        <p:spPr>
          <a:xfrm>
            <a:off x="9198864" y="2432304"/>
            <a:ext cx="2414016" cy="566928"/>
          </a:xfrm>
          <a:prstGeom prst="roundRect">
            <a:avLst>
              <a:gd name="adj" fmla="val 12903"/>
            </a:avLst>
          </a:prstGeom>
          <a:solidFill>
            <a:schemeClr val="bg2"/>
          </a:solidFill>
          <a:ln w="12700">
            <a:solidFill>
              <a:schemeClr val="accent4"/>
            </a:solidFill>
            <a:prstDash val="solid"/>
          </a:ln>
        </p:spPr>
      </p:sp>
      <p:sp>
        <p:nvSpPr>
          <p:cNvPr id="26" name="Text 23"/>
          <p:cNvSpPr txBox="1"/>
          <p:nvPr/>
        </p:nvSpPr>
        <p:spPr>
          <a:xfrm>
            <a:off x="9290304" y="2487168"/>
            <a:ext cx="2240280" cy="228600"/>
          </a:xfrm>
          <a:prstGeom prst="rect">
            <a:avLst/>
          </a:prstGeom>
          <a:noFill/>
          <a:ln/>
        </p:spPr>
        <p:txBody>
          <a:bodyPr wrap="square" lIns="0" tIns="0" rIns="0" bIns="0" rtlCol="0" anchor="t"/>
          <a:lstStyle/>
          <a:p>
            <a:pPr marL="0" indent="0">
              <a:buNone/>
            </a:pPr>
            <a:r>
              <a:rPr lang="en-US" sz="1100" b="1" dirty="0">
                <a:solidFill>
                  <a:schemeClr val="accent1"/>
                </a:solidFill>
                <a:latin typeface="Courier New" pitchFamily="34" charset="0"/>
                <a:ea typeface="Courier New" pitchFamily="34" charset="-122"/>
                <a:cs typeface="Courier New" pitchFamily="34" charset="-120"/>
              </a:rPr>
              <a:t>avg_runs_diff</a:t>
            </a:r>
            <a:endParaRPr lang="en-US" sz="1100" dirty="0"/>
          </a:p>
        </p:txBody>
      </p:sp>
      <p:sp>
        <p:nvSpPr>
          <p:cNvPr id="27" name="Text 24"/>
          <p:cNvSpPr txBox="1"/>
          <p:nvPr/>
        </p:nvSpPr>
        <p:spPr>
          <a:xfrm>
            <a:off x="9290304" y="2734056"/>
            <a:ext cx="2240280" cy="228600"/>
          </a:xfrm>
          <a:prstGeom prst="rect">
            <a:avLst/>
          </a:prstGeom>
          <a:noFill/>
          <a:ln/>
        </p:spPr>
        <p:txBody>
          <a:bodyPr wrap="square" lIns="0" tIns="0" rIns="0" bIns="0" rtlCol="0" anchor="t"/>
          <a:lstStyle/>
          <a:p>
            <a:pPr marL="0" indent="0">
              <a:buNone/>
            </a:pPr>
            <a:r>
              <a:rPr lang="en-US" sz="1150" dirty="0">
                <a:solidFill>
                  <a:schemeClr val="tx1"/>
                </a:solidFill>
              </a:rPr>
              <a:t>Gap in average runs scored</a:t>
            </a:r>
            <a:endParaRPr lang="en-US" sz="1150" dirty="0"/>
          </a:p>
        </p:txBody>
      </p:sp>
      <p:sp>
        <p:nvSpPr>
          <p:cNvPr id="28" name="Shape 25"/>
          <p:cNvSpPr/>
          <p:nvPr/>
        </p:nvSpPr>
        <p:spPr>
          <a:xfrm>
            <a:off x="6675120" y="3054096"/>
            <a:ext cx="2414016" cy="566928"/>
          </a:xfrm>
          <a:prstGeom prst="roundRect">
            <a:avLst>
              <a:gd name="adj" fmla="val 12903"/>
            </a:avLst>
          </a:prstGeom>
          <a:solidFill>
            <a:schemeClr val="bg2"/>
          </a:solidFill>
          <a:ln w="12700">
            <a:solidFill>
              <a:schemeClr val="accent4"/>
            </a:solidFill>
            <a:prstDash val="solid"/>
          </a:ln>
        </p:spPr>
      </p:sp>
      <p:sp>
        <p:nvSpPr>
          <p:cNvPr id="29" name="Text 26"/>
          <p:cNvSpPr txBox="1"/>
          <p:nvPr/>
        </p:nvSpPr>
        <p:spPr>
          <a:xfrm>
            <a:off x="6766560" y="3108960"/>
            <a:ext cx="2240280" cy="228600"/>
          </a:xfrm>
          <a:prstGeom prst="rect">
            <a:avLst/>
          </a:prstGeom>
          <a:noFill/>
          <a:ln/>
        </p:spPr>
        <p:txBody>
          <a:bodyPr wrap="square" lIns="0" tIns="0" rIns="0" bIns="0" rtlCol="0" anchor="t"/>
          <a:lstStyle/>
          <a:p>
            <a:pPr marL="0" indent="0">
              <a:buNone/>
            </a:pPr>
            <a:r>
              <a:rPr lang="en-US" sz="1100" b="1" dirty="0">
                <a:solidFill>
                  <a:schemeClr val="accent1"/>
                </a:solidFill>
                <a:latin typeface="Courier New" pitchFamily="34" charset="0"/>
                <a:ea typeface="Courier New" pitchFamily="34" charset="-122"/>
                <a:cs typeface="Courier New" pitchFamily="34" charset="-120"/>
              </a:rPr>
              <a:t>avg_wickets_diff</a:t>
            </a:r>
            <a:endParaRPr lang="en-US" sz="1100" dirty="0"/>
          </a:p>
        </p:txBody>
      </p:sp>
      <p:sp>
        <p:nvSpPr>
          <p:cNvPr id="30" name="Text 27"/>
          <p:cNvSpPr txBox="1"/>
          <p:nvPr/>
        </p:nvSpPr>
        <p:spPr>
          <a:xfrm>
            <a:off x="6766560" y="3355848"/>
            <a:ext cx="2240280" cy="228600"/>
          </a:xfrm>
          <a:prstGeom prst="rect">
            <a:avLst/>
          </a:prstGeom>
          <a:noFill/>
          <a:ln/>
        </p:spPr>
        <p:txBody>
          <a:bodyPr wrap="square" lIns="0" tIns="0" rIns="0" bIns="0" rtlCol="0" anchor="t"/>
          <a:lstStyle/>
          <a:p>
            <a:pPr marL="0" indent="0">
              <a:buNone/>
            </a:pPr>
            <a:r>
              <a:rPr lang="en-US" sz="1150" dirty="0">
                <a:solidFill>
                  <a:schemeClr val="tx1"/>
                </a:solidFill>
              </a:rPr>
              <a:t>Gap in average wickets lost</a:t>
            </a:r>
            <a:endParaRPr lang="en-US" sz="1150" dirty="0"/>
          </a:p>
        </p:txBody>
      </p:sp>
      <p:sp>
        <p:nvSpPr>
          <p:cNvPr id="31" name="Shape 28"/>
          <p:cNvSpPr/>
          <p:nvPr/>
        </p:nvSpPr>
        <p:spPr>
          <a:xfrm>
            <a:off x="9198864" y="3054096"/>
            <a:ext cx="2414016" cy="566928"/>
          </a:xfrm>
          <a:prstGeom prst="roundRect">
            <a:avLst>
              <a:gd name="adj" fmla="val 12903"/>
            </a:avLst>
          </a:prstGeom>
          <a:solidFill>
            <a:schemeClr val="bg2"/>
          </a:solidFill>
          <a:ln w="12700">
            <a:solidFill>
              <a:schemeClr val="accent4"/>
            </a:solidFill>
            <a:prstDash val="solid"/>
          </a:ln>
        </p:spPr>
      </p:sp>
      <p:sp>
        <p:nvSpPr>
          <p:cNvPr id="32" name="Text 29"/>
          <p:cNvSpPr txBox="1"/>
          <p:nvPr/>
        </p:nvSpPr>
        <p:spPr>
          <a:xfrm>
            <a:off x="9290304" y="3108960"/>
            <a:ext cx="2240280" cy="228600"/>
          </a:xfrm>
          <a:prstGeom prst="rect">
            <a:avLst/>
          </a:prstGeom>
          <a:noFill/>
          <a:ln/>
        </p:spPr>
        <p:txBody>
          <a:bodyPr wrap="square" lIns="0" tIns="0" rIns="0" bIns="0" rtlCol="0" anchor="t"/>
          <a:lstStyle/>
          <a:p>
            <a:pPr marL="0" indent="0">
              <a:buNone/>
            </a:pPr>
            <a:r>
              <a:rPr lang="en-US" sz="1100" b="1" dirty="0">
                <a:solidFill>
                  <a:schemeClr val="accent1"/>
                </a:solidFill>
                <a:latin typeface="Courier New" pitchFamily="34" charset="0"/>
                <a:ea typeface="Courier New" pitchFamily="34" charset="-122"/>
                <a:cs typeface="Courier New" pitchFamily="34" charset="-120"/>
              </a:rPr>
              <a:t>run_rate_diff</a:t>
            </a:r>
            <a:endParaRPr lang="en-US" sz="1100" dirty="0"/>
          </a:p>
        </p:txBody>
      </p:sp>
      <p:sp>
        <p:nvSpPr>
          <p:cNvPr id="33" name="Text 30"/>
          <p:cNvSpPr txBox="1"/>
          <p:nvPr/>
        </p:nvSpPr>
        <p:spPr>
          <a:xfrm>
            <a:off x="9290304" y="3355848"/>
            <a:ext cx="2240280" cy="228600"/>
          </a:xfrm>
          <a:prstGeom prst="rect">
            <a:avLst/>
          </a:prstGeom>
          <a:noFill/>
          <a:ln/>
        </p:spPr>
        <p:txBody>
          <a:bodyPr wrap="square" lIns="0" tIns="0" rIns="0" bIns="0" rtlCol="0" anchor="t"/>
          <a:lstStyle/>
          <a:p>
            <a:pPr marL="0" indent="0">
              <a:buNone/>
            </a:pPr>
            <a:r>
              <a:rPr lang="en-US" sz="1150" dirty="0">
                <a:solidFill>
                  <a:schemeClr val="tx1"/>
                </a:solidFill>
              </a:rPr>
              <a:t>Gap in average run rate</a:t>
            </a:r>
            <a:endParaRPr lang="en-US" sz="1150" dirty="0"/>
          </a:p>
        </p:txBody>
      </p:sp>
      <p:sp>
        <p:nvSpPr>
          <p:cNvPr id="34" name="Shape 31"/>
          <p:cNvSpPr/>
          <p:nvPr/>
        </p:nvSpPr>
        <p:spPr>
          <a:xfrm>
            <a:off x="6675120" y="3675888"/>
            <a:ext cx="2414016" cy="566928"/>
          </a:xfrm>
          <a:prstGeom prst="roundRect">
            <a:avLst>
              <a:gd name="adj" fmla="val 12903"/>
            </a:avLst>
          </a:prstGeom>
          <a:solidFill>
            <a:schemeClr val="bg2"/>
          </a:solidFill>
          <a:ln w="12700">
            <a:solidFill>
              <a:schemeClr val="accent4"/>
            </a:solidFill>
            <a:prstDash val="solid"/>
          </a:ln>
        </p:spPr>
      </p:sp>
      <p:sp>
        <p:nvSpPr>
          <p:cNvPr id="35" name="Text 32"/>
          <p:cNvSpPr txBox="1"/>
          <p:nvPr/>
        </p:nvSpPr>
        <p:spPr>
          <a:xfrm>
            <a:off x="6766560" y="3730752"/>
            <a:ext cx="2240280" cy="228600"/>
          </a:xfrm>
          <a:prstGeom prst="rect">
            <a:avLst/>
          </a:prstGeom>
          <a:noFill/>
          <a:ln/>
        </p:spPr>
        <p:txBody>
          <a:bodyPr wrap="square" lIns="0" tIns="0" rIns="0" bIns="0" rtlCol="0" anchor="t"/>
          <a:lstStyle/>
          <a:p>
            <a:pPr marL="0" indent="0">
              <a:buNone/>
            </a:pPr>
            <a:r>
              <a:rPr lang="en-US" sz="1100" b="1" dirty="0">
                <a:solidFill>
                  <a:schemeClr val="accent1"/>
                </a:solidFill>
                <a:latin typeface="Courier New" pitchFamily="34" charset="0"/>
                <a:ea typeface="Courier New" pitchFamily="34" charset="-122"/>
                <a:cs typeface="Courier New" pitchFamily="34" charset="-120"/>
              </a:rPr>
              <a:t>team_1_h2h_win_rate</a:t>
            </a:r>
            <a:endParaRPr lang="en-US" sz="1100" dirty="0"/>
          </a:p>
        </p:txBody>
      </p:sp>
      <p:sp>
        <p:nvSpPr>
          <p:cNvPr id="36" name="Text 33"/>
          <p:cNvSpPr txBox="1"/>
          <p:nvPr/>
        </p:nvSpPr>
        <p:spPr>
          <a:xfrm>
            <a:off x="6766560" y="3977640"/>
            <a:ext cx="2240280" cy="228600"/>
          </a:xfrm>
          <a:prstGeom prst="rect">
            <a:avLst/>
          </a:prstGeom>
          <a:noFill/>
          <a:ln/>
        </p:spPr>
        <p:txBody>
          <a:bodyPr wrap="square" lIns="0" tIns="0" rIns="0" bIns="0" rtlCol="0" anchor="t"/>
          <a:lstStyle/>
          <a:p>
            <a:pPr marL="0" indent="0">
              <a:buNone/>
            </a:pPr>
            <a:r>
              <a:rPr lang="en-US" sz="1150" dirty="0">
                <a:solidFill>
                  <a:schemeClr val="tx1"/>
                </a:solidFill>
              </a:rPr>
              <a:t>Team 1’s record vs this rival</a:t>
            </a:r>
            <a:endParaRPr lang="en-US" sz="1150" dirty="0"/>
          </a:p>
        </p:txBody>
      </p:sp>
      <p:sp>
        <p:nvSpPr>
          <p:cNvPr id="37" name="Shape 34"/>
          <p:cNvSpPr/>
          <p:nvPr/>
        </p:nvSpPr>
        <p:spPr>
          <a:xfrm>
            <a:off x="9198864" y="3675888"/>
            <a:ext cx="2414016" cy="566928"/>
          </a:xfrm>
          <a:prstGeom prst="roundRect">
            <a:avLst>
              <a:gd name="adj" fmla="val 12903"/>
            </a:avLst>
          </a:prstGeom>
          <a:solidFill>
            <a:schemeClr val="bg2"/>
          </a:solidFill>
          <a:ln w="12700">
            <a:solidFill>
              <a:schemeClr val="accent4"/>
            </a:solidFill>
            <a:prstDash val="solid"/>
          </a:ln>
        </p:spPr>
      </p:sp>
      <p:sp>
        <p:nvSpPr>
          <p:cNvPr id="38" name="Text 35"/>
          <p:cNvSpPr txBox="1"/>
          <p:nvPr/>
        </p:nvSpPr>
        <p:spPr>
          <a:xfrm>
            <a:off x="9290304" y="3730752"/>
            <a:ext cx="2240280" cy="228600"/>
          </a:xfrm>
          <a:prstGeom prst="rect">
            <a:avLst/>
          </a:prstGeom>
          <a:noFill/>
          <a:ln/>
        </p:spPr>
        <p:txBody>
          <a:bodyPr wrap="square" lIns="0" tIns="0" rIns="0" bIns="0" rtlCol="0" anchor="t"/>
          <a:lstStyle/>
          <a:p>
            <a:pPr marL="0" indent="0">
              <a:buNone/>
            </a:pPr>
            <a:r>
              <a:rPr lang="en-US" sz="1100" b="1" dirty="0">
                <a:solidFill>
                  <a:schemeClr val="accent1"/>
                </a:solidFill>
                <a:latin typeface="Courier New" pitchFamily="34" charset="0"/>
                <a:ea typeface="Courier New" pitchFamily="34" charset="-122"/>
                <a:cs typeface="Courier New" pitchFamily="34" charset="-120"/>
              </a:rPr>
              <a:t>venue_win_rate_diff</a:t>
            </a:r>
            <a:endParaRPr lang="en-US" sz="1100" dirty="0"/>
          </a:p>
        </p:txBody>
      </p:sp>
      <p:sp>
        <p:nvSpPr>
          <p:cNvPr id="39" name="Text 36"/>
          <p:cNvSpPr txBox="1"/>
          <p:nvPr/>
        </p:nvSpPr>
        <p:spPr>
          <a:xfrm>
            <a:off x="9290304" y="3977640"/>
            <a:ext cx="2240280" cy="228600"/>
          </a:xfrm>
          <a:prstGeom prst="rect">
            <a:avLst/>
          </a:prstGeom>
          <a:noFill/>
          <a:ln/>
        </p:spPr>
        <p:txBody>
          <a:bodyPr wrap="square" lIns="0" tIns="0" rIns="0" bIns="0" rtlCol="0" anchor="t"/>
          <a:lstStyle/>
          <a:p>
            <a:pPr marL="0" indent="0">
              <a:buNone/>
            </a:pPr>
            <a:r>
              <a:rPr lang="en-US" sz="1150" dirty="0">
                <a:solidFill>
                  <a:schemeClr val="tx1"/>
                </a:solidFill>
              </a:rPr>
              <a:t>Gap in record at this venue</a:t>
            </a:r>
            <a:endParaRPr lang="en-US" sz="1150" dirty="0"/>
          </a:p>
        </p:txBody>
      </p:sp>
      <p:sp>
        <p:nvSpPr>
          <p:cNvPr id="40" name="Shape 37"/>
          <p:cNvSpPr/>
          <p:nvPr/>
        </p:nvSpPr>
        <p:spPr>
          <a:xfrm>
            <a:off x="6675120" y="4297680"/>
            <a:ext cx="2414016" cy="566928"/>
          </a:xfrm>
          <a:prstGeom prst="roundRect">
            <a:avLst>
              <a:gd name="adj" fmla="val 12903"/>
            </a:avLst>
          </a:prstGeom>
          <a:solidFill>
            <a:schemeClr val="bg2"/>
          </a:solidFill>
          <a:ln w="12700">
            <a:solidFill>
              <a:schemeClr val="accent4"/>
            </a:solidFill>
            <a:prstDash val="solid"/>
          </a:ln>
        </p:spPr>
      </p:sp>
      <p:sp>
        <p:nvSpPr>
          <p:cNvPr id="41" name="Text 38"/>
          <p:cNvSpPr txBox="1"/>
          <p:nvPr/>
        </p:nvSpPr>
        <p:spPr>
          <a:xfrm>
            <a:off x="6766560" y="4352544"/>
            <a:ext cx="2240280" cy="228600"/>
          </a:xfrm>
          <a:prstGeom prst="rect">
            <a:avLst/>
          </a:prstGeom>
          <a:noFill/>
          <a:ln/>
        </p:spPr>
        <p:txBody>
          <a:bodyPr wrap="square" lIns="0" tIns="0" rIns="0" bIns="0" rtlCol="0" anchor="t"/>
          <a:lstStyle/>
          <a:p>
            <a:pPr marL="0" indent="0">
              <a:buNone/>
            </a:pPr>
            <a:r>
              <a:rPr lang="en-US" sz="1100" b="1" dirty="0">
                <a:solidFill>
                  <a:schemeClr val="accent1"/>
                </a:solidFill>
                <a:latin typeface="Courier New" pitchFamily="34" charset="0"/>
                <a:ea typeface="Courier New" pitchFamily="34" charset="-122"/>
                <a:cs typeface="Courier New" pitchFamily="34" charset="-120"/>
              </a:rPr>
              <a:t>toss_winner_diff</a:t>
            </a:r>
            <a:endParaRPr lang="en-US" sz="1100" dirty="0"/>
          </a:p>
        </p:txBody>
      </p:sp>
      <p:sp>
        <p:nvSpPr>
          <p:cNvPr id="42" name="Text 39"/>
          <p:cNvSpPr txBox="1"/>
          <p:nvPr/>
        </p:nvSpPr>
        <p:spPr>
          <a:xfrm>
            <a:off x="6766560" y="4599432"/>
            <a:ext cx="2240280" cy="228600"/>
          </a:xfrm>
          <a:prstGeom prst="rect">
            <a:avLst/>
          </a:prstGeom>
          <a:noFill/>
          <a:ln/>
        </p:spPr>
        <p:txBody>
          <a:bodyPr wrap="square" lIns="0" tIns="0" rIns="0" bIns="0" rtlCol="0" anchor="t"/>
          <a:lstStyle/>
          <a:p>
            <a:pPr marL="0" indent="0">
              <a:buNone/>
            </a:pPr>
            <a:r>
              <a:rPr lang="en-US" sz="1150" dirty="0">
                <a:solidFill>
                  <a:schemeClr val="tx1"/>
                </a:solidFill>
              </a:rPr>
              <a:t>Which team won the toss</a:t>
            </a:r>
            <a:endParaRPr lang="en-US" sz="1150" dirty="0"/>
          </a:p>
        </p:txBody>
      </p:sp>
      <p:sp>
        <p:nvSpPr>
          <p:cNvPr id="43" name="Shape 40"/>
          <p:cNvSpPr/>
          <p:nvPr/>
        </p:nvSpPr>
        <p:spPr>
          <a:xfrm>
            <a:off x="9198864" y="4297680"/>
            <a:ext cx="2414016" cy="566928"/>
          </a:xfrm>
          <a:prstGeom prst="roundRect">
            <a:avLst>
              <a:gd name="adj" fmla="val 12903"/>
            </a:avLst>
          </a:prstGeom>
          <a:solidFill>
            <a:schemeClr val="bg2"/>
          </a:solidFill>
          <a:ln w="12700">
            <a:solidFill>
              <a:schemeClr val="accent4"/>
            </a:solidFill>
            <a:prstDash val="solid"/>
          </a:ln>
        </p:spPr>
      </p:sp>
      <p:sp>
        <p:nvSpPr>
          <p:cNvPr id="44" name="Text 41"/>
          <p:cNvSpPr txBox="1"/>
          <p:nvPr/>
        </p:nvSpPr>
        <p:spPr>
          <a:xfrm>
            <a:off x="9290304" y="4352544"/>
            <a:ext cx="2240280" cy="228600"/>
          </a:xfrm>
          <a:prstGeom prst="rect">
            <a:avLst/>
          </a:prstGeom>
          <a:noFill/>
          <a:ln/>
        </p:spPr>
        <p:txBody>
          <a:bodyPr wrap="square" lIns="0" tIns="0" rIns="0" bIns="0" rtlCol="0" anchor="t"/>
          <a:lstStyle/>
          <a:p>
            <a:pPr marL="0" indent="0">
              <a:buNone/>
            </a:pPr>
            <a:r>
              <a:rPr lang="en-US" sz="1100" b="1" dirty="0">
                <a:solidFill>
                  <a:schemeClr val="accent1"/>
                </a:solidFill>
                <a:latin typeface="Courier New" pitchFamily="34" charset="0"/>
                <a:ea typeface="Courier New" pitchFamily="34" charset="-122"/>
                <a:cs typeface="Courier New" pitchFamily="34" charset="-120"/>
              </a:rPr>
              <a:t>bat_first_diff</a:t>
            </a:r>
            <a:endParaRPr lang="en-US" sz="1100" dirty="0"/>
          </a:p>
        </p:txBody>
      </p:sp>
      <p:sp>
        <p:nvSpPr>
          <p:cNvPr id="45" name="Text 42"/>
          <p:cNvSpPr txBox="1"/>
          <p:nvPr/>
        </p:nvSpPr>
        <p:spPr>
          <a:xfrm>
            <a:off x="9290304" y="4599432"/>
            <a:ext cx="2240280" cy="228600"/>
          </a:xfrm>
          <a:prstGeom prst="rect">
            <a:avLst/>
          </a:prstGeom>
          <a:noFill/>
          <a:ln/>
        </p:spPr>
        <p:txBody>
          <a:bodyPr wrap="square" lIns="0" tIns="0" rIns="0" bIns="0" rtlCol="0" anchor="t"/>
          <a:lstStyle/>
          <a:p>
            <a:pPr marL="0" indent="0">
              <a:buNone/>
            </a:pPr>
            <a:r>
              <a:rPr lang="en-US" sz="1150" dirty="0">
                <a:solidFill>
                  <a:schemeClr val="tx1"/>
                </a:solidFill>
              </a:rPr>
              <a:t>Which team bats first</a:t>
            </a:r>
            <a:endParaRPr lang="en-US" sz="1150" dirty="0"/>
          </a:p>
        </p:txBody>
      </p:sp>
      <p:sp>
        <p:nvSpPr>
          <p:cNvPr id="46" name="Card"/>
          <p:cNvSpPr/>
          <p:nvPr/>
        </p:nvSpPr>
        <p:spPr>
          <a:xfrm>
            <a:off x="548640" y="5120640"/>
            <a:ext cx="6766560" cy="1143000"/>
          </a:xfrm>
          <a:prstGeom prst="roundRect">
            <a:avLst>
              <a:gd name="adj" fmla="val 9600"/>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47" name="Text 44"/>
          <p:cNvSpPr txBox="1"/>
          <p:nvPr/>
        </p:nvSpPr>
        <p:spPr>
          <a:xfrm>
            <a:off x="777240" y="5212080"/>
            <a:ext cx="6309360" cy="960120"/>
          </a:xfrm>
          <a:prstGeom prst="rect">
            <a:avLst/>
          </a:prstGeom>
          <a:noFill/>
          <a:ln/>
        </p:spPr>
        <p:txBody>
          <a:bodyPr wrap="square" lIns="0" tIns="0" rIns="0" bIns="0" rtlCol="0" anchor="ctr"/>
          <a:lstStyle/>
          <a:p>
            <a:pPr marL="0" indent="0">
              <a:buNone/>
            </a:pPr>
            <a:r>
              <a:rPr lang="en-US" sz="1350" b="1" dirty="0">
                <a:solidFill>
                  <a:schemeClr val="tx1"/>
                </a:solidFill>
              </a:rPr>
              <a:t>Why aren’t team1_runs, team2_runs, team1_wickets, team2_wickets used? </a:t>
            </a:r>
            <a:r>
              <a:rPr lang="en-US" sz="1350" dirty="0">
                <a:solidFill>
                  <a:schemeClr val="tx2"/>
                </a:solidFill>
              </a:rPr>
              <a:t>They are known only after the match ends, so using them would leak the result. Only their past averages are used (avg_runs_diff, avg_wickets_diff).</a:t>
            </a:r>
            <a:endParaRPr lang="en-US" sz="1350" dirty="0"/>
          </a:p>
        </p:txBody>
      </p:sp>
      <p:sp>
        <p:nvSpPr>
          <p:cNvPr id="48" name="Card"/>
          <p:cNvSpPr/>
          <p:nvPr/>
        </p:nvSpPr>
        <p:spPr>
          <a:xfrm>
            <a:off x="7498080" y="5120640"/>
            <a:ext cx="4151376" cy="1143000"/>
          </a:xfrm>
          <a:prstGeom prst="roundRect">
            <a:avLst>
              <a:gd name="adj" fmla="val 9600"/>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49" name="Text 46"/>
          <p:cNvSpPr txBox="1"/>
          <p:nvPr/>
        </p:nvSpPr>
        <p:spPr>
          <a:xfrm>
            <a:off x="7726680" y="5212080"/>
            <a:ext cx="3703320" cy="960120"/>
          </a:xfrm>
          <a:prstGeom prst="rect">
            <a:avLst/>
          </a:prstGeom>
          <a:noFill/>
          <a:ln/>
        </p:spPr>
        <p:txBody>
          <a:bodyPr wrap="square" lIns="0" tIns="0" rIns="0" bIns="0" rtlCol="0" anchor="ctr"/>
          <a:lstStyle/>
          <a:p>
            <a:pPr marL="0" indent="0">
              <a:buNone/>
            </a:pPr>
            <a:r>
              <a:rPr lang="en-US" sz="1350" b="1" dirty="0">
                <a:solidFill>
                  <a:schemeClr val="tx1"/>
                </a:solidFill>
              </a:rPr>
              <a:t>Pitch type </a:t>
            </a:r>
            <a:r>
              <a:rPr lang="en-US" sz="1350" dirty="0">
                <a:solidFill>
                  <a:schemeClr val="tx2"/>
                </a:solidFill>
              </a:rPr>
              <a:t>is a context input in the CricVision app only — it is not a trained model feature.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0515600" cy="640080"/>
          </a:xfrm>
          <a:prstGeom prst="rect">
            <a:avLst/>
          </a:prstGeom>
          <a:noFill/>
          <a:ln/>
        </p:spPr>
        <p:txBody>
          <a:bodyPr wrap="square" lIns="0" tIns="0" rIns="0" bIns="0" rtlCol="0" anchor="ctr"/>
          <a:lstStyle/>
          <a:p>
            <a:pPr marL="0" indent="0" algn="l">
              <a:buNone/>
            </a:pPr>
            <a:r>
              <a:rPr lang="en-US" sz="3000" b="1" dirty="0">
                <a:solidFill>
                  <a:schemeClr val="tx1"/>
                </a:solidFill>
              </a:rPr>
              <a:t>Train-Test Split</a:t>
            </a:r>
            <a:endParaRPr lang="en-US" sz="3000" dirty="0"/>
          </a:p>
        </p:txBody>
      </p:sp>
      <p:sp>
        <p:nvSpPr>
          <p:cNvPr id="3" name="Text 1"/>
          <p:cNvSpPr txBox="1"/>
          <p:nvPr/>
        </p:nvSpPr>
        <p:spPr>
          <a:xfrm>
            <a:off x="10545775" y="640080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08 / 12</a:t>
            </a:r>
            <a:endParaRPr lang="en-US" sz="1000" dirty="0"/>
          </a:p>
        </p:txBody>
      </p:sp>
      <p:sp>
        <p:nvSpPr>
          <p:cNvPr id="5" name="Shape 2"/>
          <p:cNvSpPr/>
          <p:nvPr/>
        </p:nvSpPr>
        <p:spPr>
          <a:xfrm>
            <a:off x="548640" y="1371600"/>
            <a:ext cx="11094415" cy="502920"/>
          </a:xfrm>
          <a:prstGeom prst="roundRect">
            <a:avLst>
              <a:gd name="adj" fmla="val 18182"/>
            </a:avLst>
          </a:prstGeom>
          <a:solidFill>
            <a:schemeClr val="tx1"/>
          </a:solidFill>
          <a:ln w="12700">
            <a:solidFill>
              <a:schemeClr val="tx1"/>
            </a:solidFill>
            <a:prstDash val="solid"/>
          </a:ln>
        </p:spPr>
      </p:sp>
      <p:sp>
        <p:nvSpPr>
          <p:cNvPr id="6" name="Text 3"/>
          <p:cNvSpPr txBox="1"/>
          <p:nvPr/>
        </p:nvSpPr>
        <p:spPr>
          <a:xfrm>
            <a:off x="548640" y="1371600"/>
            <a:ext cx="11094415" cy="502920"/>
          </a:xfrm>
          <a:prstGeom prst="rect">
            <a:avLst/>
          </a:prstGeom>
          <a:noFill/>
          <a:ln/>
        </p:spPr>
        <p:txBody>
          <a:bodyPr wrap="square" lIns="0" tIns="0" rIns="0" bIns="0" rtlCol="0" anchor="ctr"/>
          <a:lstStyle/>
          <a:p>
            <a:pPr marL="0" indent="0" algn="ctr">
              <a:buNone/>
            </a:pPr>
            <a:r>
              <a:rPr lang="en-US" sz="1600" b="1" dirty="0">
                <a:solidFill>
                  <a:schemeClr val="bg1"/>
                </a:solidFill>
              </a:rPr>
              <a:t>100% of matches used for modelling (sorted by date)</a:t>
            </a:r>
            <a:endParaRPr lang="en-US" sz="1600" dirty="0"/>
          </a:p>
        </p:txBody>
      </p:sp>
      <p:sp>
        <p:nvSpPr>
          <p:cNvPr id="7" name="Shape 4"/>
          <p:cNvSpPr/>
          <p:nvPr/>
        </p:nvSpPr>
        <p:spPr>
          <a:xfrm>
            <a:off x="5931256" y="1920240"/>
            <a:ext cx="329184" cy="365760"/>
          </a:xfrm>
          <a:prstGeom prst="downArrow">
            <a:avLst/>
          </a:prstGeom>
          <a:solidFill>
            <a:schemeClr val="accent2"/>
          </a:solidFill>
          <a:ln w="12700">
            <a:solidFill>
              <a:schemeClr val="accent2"/>
            </a:solidFill>
            <a:prstDash val="solid"/>
          </a:ln>
        </p:spPr>
      </p:sp>
      <p:sp>
        <p:nvSpPr>
          <p:cNvPr id="8" name="Shape 5"/>
          <p:cNvSpPr/>
          <p:nvPr/>
        </p:nvSpPr>
        <p:spPr>
          <a:xfrm>
            <a:off x="548640" y="2331720"/>
            <a:ext cx="7766091" cy="594360"/>
          </a:xfrm>
          <a:prstGeom prst="rect">
            <a:avLst/>
          </a:prstGeom>
          <a:solidFill>
            <a:schemeClr val="accent1"/>
          </a:solidFill>
          <a:ln w="25400">
            <a:solidFill>
              <a:schemeClr val="bg1"/>
            </a:solidFill>
            <a:prstDash val="solid"/>
          </a:ln>
        </p:spPr>
      </p:sp>
      <p:sp>
        <p:nvSpPr>
          <p:cNvPr id="9" name="Text 6"/>
          <p:cNvSpPr txBox="1"/>
          <p:nvPr/>
        </p:nvSpPr>
        <p:spPr>
          <a:xfrm>
            <a:off x="548640" y="2331720"/>
            <a:ext cx="7766091" cy="594360"/>
          </a:xfrm>
          <a:prstGeom prst="rect">
            <a:avLst/>
          </a:prstGeom>
          <a:noFill/>
          <a:ln/>
        </p:spPr>
        <p:txBody>
          <a:bodyPr wrap="square" lIns="0" tIns="0" rIns="0" bIns="0" rtlCol="0" anchor="ctr"/>
          <a:lstStyle/>
          <a:p>
            <a:pPr marL="0" indent="0" algn="ctr">
              <a:buNone/>
            </a:pPr>
            <a:r>
              <a:rPr lang="en-US" sz="1700" b="1" dirty="0">
                <a:solidFill>
                  <a:schemeClr val="bg1"/>
                </a:solidFill>
              </a:rPr>
              <a:t>TRAIN  70%</a:t>
            </a:r>
            <a:endParaRPr lang="en-US" sz="1700" dirty="0"/>
          </a:p>
        </p:txBody>
      </p:sp>
      <p:sp>
        <p:nvSpPr>
          <p:cNvPr id="10" name="Shape 7"/>
          <p:cNvSpPr/>
          <p:nvPr/>
        </p:nvSpPr>
        <p:spPr>
          <a:xfrm>
            <a:off x="8314731" y="2331720"/>
            <a:ext cx="1664162" cy="594360"/>
          </a:xfrm>
          <a:prstGeom prst="rect">
            <a:avLst/>
          </a:prstGeom>
          <a:solidFill>
            <a:schemeClr val="accent2"/>
          </a:solidFill>
          <a:ln w="25400">
            <a:solidFill>
              <a:schemeClr val="bg1"/>
            </a:solidFill>
            <a:prstDash val="solid"/>
          </a:ln>
        </p:spPr>
      </p:sp>
      <p:sp>
        <p:nvSpPr>
          <p:cNvPr id="11" name="Text 8"/>
          <p:cNvSpPr txBox="1"/>
          <p:nvPr/>
        </p:nvSpPr>
        <p:spPr>
          <a:xfrm>
            <a:off x="8314731" y="2331720"/>
            <a:ext cx="1664162" cy="594360"/>
          </a:xfrm>
          <a:prstGeom prst="rect">
            <a:avLst/>
          </a:prstGeom>
          <a:noFill/>
          <a:ln/>
        </p:spPr>
        <p:txBody>
          <a:bodyPr wrap="square" lIns="0" tIns="0" rIns="0" bIns="0" rtlCol="0" anchor="ctr"/>
          <a:lstStyle/>
          <a:p>
            <a:pPr marL="0" indent="0" algn="ctr">
              <a:buNone/>
            </a:pPr>
            <a:r>
              <a:rPr lang="en-US" sz="1250" b="1" dirty="0">
                <a:solidFill>
                  <a:schemeClr val="tx1"/>
                </a:solidFill>
              </a:rPr>
              <a:t>VALIDATION  15%</a:t>
            </a:r>
            <a:endParaRPr lang="en-US" sz="1250" dirty="0"/>
          </a:p>
        </p:txBody>
      </p:sp>
      <p:sp>
        <p:nvSpPr>
          <p:cNvPr id="12" name="Shape 9"/>
          <p:cNvSpPr/>
          <p:nvPr/>
        </p:nvSpPr>
        <p:spPr>
          <a:xfrm>
            <a:off x="9978893" y="2331720"/>
            <a:ext cx="1664162" cy="594360"/>
          </a:xfrm>
          <a:prstGeom prst="rect">
            <a:avLst/>
          </a:prstGeom>
          <a:solidFill>
            <a:schemeClr val="accent3"/>
          </a:solidFill>
          <a:ln w="25400">
            <a:solidFill>
              <a:schemeClr val="bg1"/>
            </a:solidFill>
            <a:prstDash val="solid"/>
          </a:ln>
        </p:spPr>
      </p:sp>
      <p:sp>
        <p:nvSpPr>
          <p:cNvPr id="13" name="Text 10"/>
          <p:cNvSpPr txBox="1"/>
          <p:nvPr/>
        </p:nvSpPr>
        <p:spPr>
          <a:xfrm>
            <a:off x="9978893" y="2331720"/>
            <a:ext cx="1664162" cy="594360"/>
          </a:xfrm>
          <a:prstGeom prst="rect">
            <a:avLst/>
          </a:prstGeom>
          <a:noFill/>
          <a:ln/>
        </p:spPr>
        <p:txBody>
          <a:bodyPr wrap="square" lIns="0" tIns="0" rIns="0" bIns="0" rtlCol="0" anchor="ctr"/>
          <a:lstStyle/>
          <a:p>
            <a:pPr marL="0" indent="0" algn="ctr">
              <a:buNone/>
            </a:pPr>
            <a:r>
              <a:rPr lang="en-US" sz="1250" b="1" dirty="0">
                <a:solidFill>
                  <a:schemeClr val="bg1"/>
                </a:solidFill>
              </a:rPr>
              <a:t>TEST  15%</a:t>
            </a:r>
            <a:endParaRPr lang="en-US" sz="1250" dirty="0"/>
          </a:p>
        </p:txBody>
      </p:sp>
      <p:sp>
        <p:nvSpPr>
          <p:cNvPr id="14" name="Card"/>
          <p:cNvSpPr/>
          <p:nvPr/>
        </p:nvSpPr>
        <p:spPr>
          <a:xfrm>
            <a:off x="548640" y="3154680"/>
            <a:ext cx="3566160" cy="1097280"/>
          </a:xfrm>
          <a:prstGeom prst="roundRect">
            <a:avLst>
              <a:gd name="adj" fmla="val 10000"/>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15" name="Shape 12"/>
          <p:cNvSpPr/>
          <p:nvPr/>
        </p:nvSpPr>
        <p:spPr>
          <a:xfrm>
            <a:off x="749808" y="3337560"/>
            <a:ext cx="182880" cy="182880"/>
          </a:xfrm>
          <a:prstGeom prst="ellipse">
            <a:avLst/>
          </a:prstGeom>
          <a:solidFill>
            <a:schemeClr val="accent1"/>
          </a:solidFill>
          <a:ln w="12700">
            <a:solidFill>
              <a:schemeClr val="accent1"/>
            </a:solidFill>
            <a:prstDash val="solid"/>
          </a:ln>
        </p:spPr>
      </p:sp>
      <p:sp>
        <p:nvSpPr>
          <p:cNvPr id="16" name="Text 13"/>
          <p:cNvSpPr txBox="1"/>
          <p:nvPr/>
        </p:nvSpPr>
        <p:spPr>
          <a:xfrm>
            <a:off x="1051560" y="3291840"/>
            <a:ext cx="292608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Training data</a:t>
            </a:r>
            <a:endParaRPr lang="en-US" sz="1600" dirty="0"/>
          </a:p>
        </p:txBody>
      </p:sp>
      <p:sp>
        <p:nvSpPr>
          <p:cNvPr id="17" name="Text 14"/>
          <p:cNvSpPr txBox="1"/>
          <p:nvPr/>
        </p:nvSpPr>
        <p:spPr>
          <a:xfrm>
            <a:off x="749808" y="3657600"/>
            <a:ext cx="3154680" cy="548640"/>
          </a:xfrm>
          <a:prstGeom prst="rect">
            <a:avLst/>
          </a:prstGeom>
          <a:noFill/>
          <a:ln/>
        </p:spPr>
        <p:txBody>
          <a:bodyPr wrap="square" lIns="0" tIns="0" rIns="0" bIns="0" rtlCol="0" anchor="t"/>
          <a:lstStyle/>
          <a:p>
            <a:pPr marL="0" indent="0">
              <a:buNone/>
            </a:pPr>
            <a:r>
              <a:rPr lang="en-US" sz="1300" dirty="0">
                <a:solidFill>
                  <a:schemeClr val="tx2"/>
                </a:solidFill>
              </a:rPr>
              <a:t>Used to train the machine learning model.</a:t>
            </a:r>
            <a:endParaRPr lang="en-US" sz="1300" dirty="0"/>
          </a:p>
        </p:txBody>
      </p:sp>
      <p:sp>
        <p:nvSpPr>
          <p:cNvPr id="18" name="Card"/>
          <p:cNvSpPr/>
          <p:nvPr/>
        </p:nvSpPr>
        <p:spPr>
          <a:xfrm>
            <a:off x="4312768" y="3154680"/>
            <a:ext cx="3566160" cy="1097280"/>
          </a:xfrm>
          <a:prstGeom prst="roundRect">
            <a:avLst>
              <a:gd name="adj" fmla="val 10000"/>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19" name="Shape 16"/>
          <p:cNvSpPr/>
          <p:nvPr/>
        </p:nvSpPr>
        <p:spPr>
          <a:xfrm>
            <a:off x="4513936" y="3337560"/>
            <a:ext cx="182880" cy="182880"/>
          </a:xfrm>
          <a:prstGeom prst="ellipse">
            <a:avLst/>
          </a:prstGeom>
          <a:solidFill>
            <a:schemeClr val="accent2"/>
          </a:solidFill>
          <a:ln w="12700">
            <a:solidFill>
              <a:schemeClr val="accent2"/>
            </a:solidFill>
            <a:prstDash val="solid"/>
          </a:ln>
        </p:spPr>
      </p:sp>
      <p:sp>
        <p:nvSpPr>
          <p:cNvPr id="20" name="Text 17"/>
          <p:cNvSpPr txBox="1"/>
          <p:nvPr/>
        </p:nvSpPr>
        <p:spPr>
          <a:xfrm>
            <a:off x="4815688" y="3291840"/>
            <a:ext cx="292608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Validation data</a:t>
            </a:r>
            <a:endParaRPr lang="en-US" sz="1600" dirty="0"/>
          </a:p>
        </p:txBody>
      </p:sp>
      <p:sp>
        <p:nvSpPr>
          <p:cNvPr id="21" name="Text 18"/>
          <p:cNvSpPr txBox="1"/>
          <p:nvPr/>
        </p:nvSpPr>
        <p:spPr>
          <a:xfrm>
            <a:off x="4513936" y="3657600"/>
            <a:ext cx="3154680" cy="548640"/>
          </a:xfrm>
          <a:prstGeom prst="rect">
            <a:avLst/>
          </a:prstGeom>
          <a:noFill/>
          <a:ln/>
        </p:spPr>
        <p:txBody>
          <a:bodyPr wrap="square" lIns="0" tIns="0" rIns="0" bIns="0" rtlCol="0" anchor="t"/>
          <a:lstStyle/>
          <a:p>
            <a:pPr marL="0" indent="0">
              <a:buNone/>
            </a:pPr>
            <a:r>
              <a:rPr lang="en-US" sz="1300" dirty="0">
                <a:solidFill>
                  <a:schemeClr val="tx2"/>
                </a:solidFill>
              </a:rPr>
              <a:t>Used to tune settings, such as the decision threshold.</a:t>
            </a:r>
            <a:endParaRPr lang="en-US" sz="1300" dirty="0"/>
          </a:p>
        </p:txBody>
      </p:sp>
      <p:sp>
        <p:nvSpPr>
          <p:cNvPr id="22" name="Card"/>
          <p:cNvSpPr/>
          <p:nvPr/>
        </p:nvSpPr>
        <p:spPr>
          <a:xfrm>
            <a:off x="8076895" y="3154680"/>
            <a:ext cx="3566160" cy="1097280"/>
          </a:xfrm>
          <a:prstGeom prst="roundRect">
            <a:avLst>
              <a:gd name="adj" fmla="val 10000"/>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23" name="Shape 20"/>
          <p:cNvSpPr/>
          <p:nvPr/>
        </p:nvSpPr>
        <p:spPr>
          <a:xfrm>
            <a:off x="8278063" y="3337560"/>
            <a:ext cx="182880" cy="182880"/>
          </a:xfrm>
          <a:prstGeom prst="ellipse">
            <a:avLst/>
          </a:prstGeom>
          <a:solidFill>
            <a:schemeClr val="accent3"/>
          </a:solidFill>
          <a:ln w="12700">
            <a:solidFill>
              <a:schemeClr val="accent3"/>
            </a:solidFill>
            <a:prstDash val="solid"/>
          </a:ln>
        </p:spPr>
      </p:sp>
      <p:sp>
        <p:nvSpPr>
          <p:cNvPr id="24" name="Text 21"/>
          <p:cNvSpPr txBox="1"/>
          <p:nvPr/>
        </p:nvSpPr>
        <p:spPr>
          <a:xfrm>
            <a:off x="8579815" y="3291840"/>
            <a:ext cx="292608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Testing data</a:t>
            </a:r>
            <a:endParaRPr lang="en-US" sz="1600" dirty="0"/>
          </a:p>
        </p:txBody>
      </p:sp>
      <p:sp>
        <p:nvSpPr>
          <p:cNvPr id="25" name="Text 22"/>
          <p:cNvSpPr txBox="1"/>
          <p:nvPr/>
        </p:nvSpPr>
        <p:spPr>
          <a:xfrm>
            <a:off x="8278063" y="3657600"/>
            <a:ext cx="3154680" cy="548640"/>
          </a:xfrm>
          <a:prstGeom prst="rect">
            <a:avLst/>
          </a:prstGeom>
          <a:noFill/>
          <a:ln/>
        </p:spPr>
        <p:txBody>
          <a:bodyPr wrap="square" lIns="0" tIns="0" rIns="0" bIns="0" rtlCol="0" anchor="t"/>
          <a:lstStyle/>
          <a:p>
            <a:pPr marL="0" indent="0">
              <a:buNone/>
            </a:pPr>
            <a:r>
              <a:rPr lang="en-US" sz="1300" dirty="0">
                <a:solidFill>
                  <a:schemeClr val="tx2"/>
                </a:solidFill>
              </a:rPr>
              <a:t>Newest, unseen matches — kept separate so the model is evaluated fairly.</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4480560"/>
          <a:ext cx="11094415" cy="1737360"/>
        </p:xfrm>
        <a:graphic>
          <a:graphicData uri="http://schemas.openxmlformats.org/drawingml/2006/table">
            <a:tbl>
              <a:tblPr/>
              <a:tblGrid>
                <a:gridCol w="2218883">
                  <a:extLst>
                    <a:ext uri="{9D8B030D-6E8A-4147-A177-3AD203B41FA5}">
                      <a16:colId xmlns:a16="http://schemas.microsoft.com/office/drawing/2014/main" val="20000"/>
                    </a:ext>
                  </a:extLst>
                </a:gridCol>
                <a:gridCol w="2218883">
                  <a:extLst>
                    <a:ext uri="{9D8B030D-6E8A-4147-A177-3AD203B41FA5}">
                      <a16:colId xmlns:a16="http://schemas.microsoft.com/office/drawing/2014/main" val="20001"/>
                    </a:ext>
                  </a:extLst>
                </a:gridCol>
                <a:gridCol w="2218883">
                  <a:extLst>
                    <a:ext uri="{9D8B030D-6E8A-4147-A177-3AD203B41FA5}">
                      <a16:colId xmlns:a16="http://schemas.microsoft.com/office/drawing/2014/main" val="20002"/>
                    </a:ext>
                  </a:extLst>
                </a:gridCol>
                <a:gridCol w="2218883">
                  <a:extLst>
                    <a:ext uri="{9D8B030D-6E8A-4147-A177-3AD203B41FA5}">
                      <a16:colId xmlns:a16="http://schemas.microsoft.com/office/drawing/2014/main" val="20003"/>
                    </a:ext>
                  </a:extLst>
                </a:gridCol>
                <a:gridCol w="2218883">
                  <a:extLst>
                    <a:ext uri="{9D8B030D-6E8A-4147-A177-3AD203B41FA5}">
                      <a16:colId xmlns:a16="http://schemas.microsoft.com/office/drawing/2014/main" val="20004"/>
                    </a:ext>
                  </a:extLst>
                </a:gridCol>
              </a:tblGrid>
              <a:tr h="347472">
                <a:tc>
                  <a:txBody>
                    <a:bodyPr/>
                    <a:lstStyle/>
                    <a:p>
                      <a:pPr marL="0" indent="0" algn="ctr">
                        <a:buNone/>
                      </a:pPr>
                      <a:r>
                        <a:rPr lang="en-US" sz="1300" b="1" dirty="0">
                          <a:solidFill>
                            <a:srgbClr val="FFFFFF"/>
                          </a:solidFill>
                        </a:rPr>
                        <a:t>Format</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0E7490"/>
                    </a:solidFill>
                  </a:tcPr>
                </a:tc>
                <a:tc>
                  <a:txBody>
                    <a:bodyPr/>
                    <a:lstStyle/>
                    <a:p>
                      <a:pPr marL="0" indent="0" algn="ctr">
                        <a:buNone/>
                      </a:pPr>
                      <a:r>
                        <a:rPr lang="en-US" sz="1300" b="1" dirty="0">
                          <a:solidFill>
                            <a:srgbClr val="FFFFFF"/>
                          </a:solidFill>
                        </a:rPr>
                        <a:t>Matches used</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0E7490"/>
                    </a:solidFill>
                  </a:tcPr>
                </a:tc>
                <a:tc>
                  <a:txBody>
                    <a:bodyPr/>
                    <a:lstStyle/>
                    <a:p>
                      <a:pPr marL="0" indent="0" algn="ctr">
                        <a:buNone/>
                      </a:pPr>
                      <a:r>
                        <a:rPr lang="en-US" sz="1300" b="1" dirty="0">
                          <a:solidFill>
                            <a:srgbClr val="FFFFFF"/>
                          </a:solidFill>
                        </a:rPr>
                        <a:t>Train</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0E7490"/>
                    </a:solidFill>
                  </a:tcPr>
                </a:tc>
                <a:tc>
                  <a:txBody>
                    <a:bodyPr/>
                    <a:lstStyle/>
                    <a:p>
                      <a:pPr marL="0" indent="0" algn="ctr">
                        <a:buNone/>
                      </a:pPr>
                      <a:r>
                        <a:rPr lang="en-US" sz="1300" b="1" dirty="0">
                          <a:solidFill>
                            <a:srgbClr val="FFFFFF"/>
                          </a:solidFill>
                        </a:rPr>
                        <a:t>Validation</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0E7490"/>
                    </a:solidFill>
                  </a:tcPr>
                </a:tc>
                <a:tc>
                  <a:txBody>
                    <a:bodyPr/>
                    <a:lstStyle/>
                    <a:p>
                      <a:pPr marL="0" indent="0" algn="ctr">
                        <a:buNone/>
                      </a:pPr>
                      <a:r>
                        <a:rPr lang="en-US" sz="1300" b="1" dirty="0">
                          <a:solidFill>
                            <a:srgbClr val="FFFFFF"/>
                          </a:solidFill>
                        </a:rPr>
                        <a:t>Test</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0E7490"/>
                    </a:solidFill>
                  </a:tcPr>
                </a:tc>
                <a:extLst>
                  <a:ext uri="{0D108BD9-81ED-4DB2-BD59-A6C34878D82A}">
                    <a16:rowId xmlns:a16="http://schemas.microsoft.com/office/drawing/2014/main" val="10000"/>
                  </a:ext>
                </a:extLst>
              </a:tr>
              <a:tr h="347472">
                <a:tc>
                  <a:txBody>
                    <a:bodyPr/>
                    <a:lstStyle/>
                    <a:p>
                      <a:pPr marL="0" indent="0" algn="ctr">
                        <a:buNone/>
                      </a:pPr>
                      <a:r>
                        <a:rPr lang="en-US" sz="1300" b="1" dirty="0">
                          <a:solidFill>
                            <a:srgbClr val="0B2545"/>
                          </a:solidFill>
                        </a:rPr>
                        <a:t>TEST</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B2545"/>
                          </a:solidFill>
                        </a:rPr>
                        <a:t>894</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B2545"/>
                          </a:solidFill>
                        </a:rPr>
                        <a:t>625</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B2545"/>
                          </a:solidFill>
                        </a:rPr>
                        <a:t>134</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B2545"/>
                          </a:solidFill>
                        </a:rPr>
                        <a:t>135</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ctr">
                        <a:buNone/>
                      </a:pPr>
                      <a:r>
                        <a:rPr lang="en-US" sz="1300" b="1" dirty="0">
                          <a:solidFill>
                            <a:srgbClr val="0B2545"/>
                          </a:solidFill>
                        </a:rPr>
                        <a:t>ODI</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tc>
                  <a:txBody>
                    <a:bodyPr/>
                    <a:lstStyle/>
                    <a:p>
                      <a:pPr marL="0" indent="0" algn="ctr">
                        <a:buNone/>
                      </a:pPr>
                      <a:r>
                        <a:rPr lang="en-US" sz="1300" dirty="0">
                          <a:solidFill>
                            <a:srgbClr val="0B2545"/>
                          </a:solidFill>
                        </a:rPr>
                        <a:t>2,442</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tc>
                  <a:txBody>
                    <a:bodyPr/>
                    <a:lstStyle/>
                    <a:p>
                      <a:pPr marL="0" indent="0" algn="ctr">
                        <a:buNone/>
                      </a:pPr>
                      <a:r>
                        <a:rPr lang="en-US" sz="1300" dirty="0">
                          <a:solidFill>
                            <a:srgbClr val="0B2545"/>
                          </a:solidFill>
                        </a:rPr>
                        <a:t>1,709</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tc>
                  <a:txBody>
                    <a:bodyPr/>
                    <a:lstStyle/>
                    <a:p>
                      <a:pPr marL="0" indent="0" algn="ctr">
                        <a:buNone/>
                      </a:pPr>
                      <a:r>
                        <a:rPr lang="en-US" sz="1300" dirty="0">
                          <a:solidFill>
                            <a:srgbClr val="0B2545"/>
                          </a:solidFill>
                        </a:rPr>
                        <a:t>366</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tc>
                  <a:txBody>
                    <a:bodyPr/>
                    <a:lstStyle/>
                    <a:p>
                      <a:pPr marL="0" indent="0" algn="ctr">
                        <a:buNone/>
                      </a:pPr>
                      <a:r>
                        <a:rPr lang="en-US" sz="1300" dirty="0">
                          <a:solidFill>
                            <a:srgbClr val="0B2545"/>
                          </a:solidFill>
                        </a:rPr>
                        <a:t>367</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extLst>
                  <a:ext uri="{0D108BD9-81ED-4DB2-BD59-A6C34878D82A}">
                    <a16:rowId xmlns:a16="http://schemas.microsoft.com/office/drawing/2014/main" val="10002"/>
                  </a:ext>
                </a:extLst>
              </a:tr>
              <a:tr h="347472">
                <a:tc>
                  <a:txBody>
                    <a:bodyPr/>
                    <a:lstStyle/>
                    <a:p>
                      <a:pPr marL="0" indent="0" algn="ctr">
                        <a:buNone/>
                      </a:pPr>
                      <a:r>
                        <a:rPr lang="en-US" sz="1300" b="1" dirty="0">
                          <a:solidFill>
                            <a:srgbClr val="0B2545"/>
                          </a:solidFill>
                        </a:rPr>
                        <a:t>T20</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B2545"/>
                          </a:solidFill>
                        </a:rPr>
                        <a:t>3,423</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B2545"/>
                          </a:solidFill>
                        </a:rPr>
                        <a:t>2,396</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B2545"/>
                          </a:solidFill>
                        </a:rPr>
                        <a:t>513</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B2545"/>
                          </a:solidFill>
                        </a:rPr>
                        <a:t>514</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ctr">
                        <a:buNone/>
                      </a:pPr>
                      <a:r>
                        <a:rPr lang="en-US" sz="1300" b="1" dirty="0">
                          <a:solidFill>
                            <a:srgbClr val="0B2545"/>
                          </a:solidFill>
                        </a:rPr>
                        <a:t>IPL</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tc>
                  <a:txBody>
                    <a:bodyPr/>
                    <a:lstStyle/>
                    <a:p>
                      <a:pPr marL="0" indent="0" algn="ctr">
                        <a:buNone/>
                      </a:pPr>
                      <a:r>
                        <a:rPr lang="en-US" sz="1300" dirty="0">
                          <a:solidFill>
                            <a:srgbClr val="0B2545"/>
                          </a:solidFill>
                        </a:rPr>
                        <a:t>1,218</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tc>
                  <a:txBody>
                    <a:bodyPr/>
                    <a:lstStyle/>
                    <a:p>
                      <a:pPr marL="0" indent="0" algn="ctr">
                        <a:buNone/>
                      </a:pPr>
                      <a:r>
                        <a:rPr lang="en-US" sz="1300" dirty="0">
                          <a:solidFill>
                            <a:srgbClr val="0B2545"/>
                          </a:solidFill>
                        </a:rPr>
                        <a:t>852</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tc>
                  <a:txBody>
                    <a:bodyPr/>
                    <a:lstStyle/>
                    <a:p>
                      <a:pPr marL="0" indent="0" algn="ctr">
                        <a:buNone/>
                      </a:pPr>
                      <a:r>
                        <a:rPr lang="en-US" sz="1300" dirty="0">
                          <a:solidFill>
                            <a:srgbClr val="0B2545"/>
                          </a:solidFill>
                        </a:rPr>
                        <a:t>183</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tc>
                  <a:txBody>
                    <a:bodyPr/>
                    <a:lstStyle/>
                    <a:p>
                      <a:pPr marL="0" indent="0" algn="ctr">
                        <a:buNone/>
                      </a:pPr>
                      <a:r>
                        <a:rPr lang="en-US" sz="1300" dirty="0">
                          <a:solidFill>
                            <a:srgbClr val="0B2545"/>
                          </a:solidFill>
                        </a:rPr>
                        <a:t>183</a:t>
                      </a:r>
                      <a:endParaRPr lang="en-US" sz="13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0515600" cy="640080"/>
          </a:xfrm>
          <a:prstGeom prst="rect">
            <a:avLst/>
          </a:prstGeom>
          <a:noFill/>
          <a:ln/>
        </p:spPr>
        <p:txBody>
          <a:bodyPr wrap="square" lIns="0" tIns="0" rIns="0" bIns="0" rtlCol="0" anchor="ctr"/>
          <a:lstStyle/>
          <a:p>
            <a:pPr marL="0" indent="0" algn="l">
              <a:buNone/>
            </a:pPr>
            <a:r>
              <a:rPr lang="en-US" sz="3000" b="1" dirty="0">
                <a:solidFill>
                  <a:schemeClr val="tx1"/>
                </a:solidFill>
              </a:rPr>
              <a:t>Machine Learning Models</a:t>
            </a:r>
            <a:endParaRPr lang="en-US" sz="3000" dirty="0"/>
          </a:p>
        </p:txBody>
      </p:sp>
      <p:sp>
        <p:nvSpPr>
          <p:cNvPr id="3" name="Text 1"/>
          <p:cNvSpPr txBox="1"/>
          <p:nvPr/>
        </p:nvSpPr>
        <p:spPr>
          <a:xfrm>
            <a:off x="10545775" y="640080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09 / 12</a:t>
            </a:r>
            <a:endParaRPr lang="en-US" sz="1000" dirty="0"/>
          </a:p>
        </p:txBody>
      </p:sp>
      <p:sp>
        <p:nvSpPr>
          <p:cNvPr id="5" name="Card"/>
          <p:cNvSpPr/>
          <p:nvPr/>
        </p:nvSpPr>
        <p:spPr>
          <a:xfrm>
            <a:off x="548640" y="1371600"/>
            <a:ext cx="5440680" cy="2423160"/>
          </a:xfrm>
          <a:prstGeom prst="roundRect">
            <a:avLst>
              <a:gd name="adj" fmla="val 4528"/>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6" name="Text 3"/>
          <p:cNvSpPr txBox="1"/>
          <p:nvPr/>
        </p:nvSpPr>
        <p:spPr>
          <a:xfrm>
            <a:off x="822960" y="1508760"/>
            <a:ext cx="3291840" cy="411480"/>
          </a:xfrm>
          <a:prstGeom prst="rect">
            <a:avLst/>
          </a:prstGeom>
          <a:noFill/>
          <a:ln/>
        </p:spPr>
        <p:txBody>
          <a:bodyPr wrap="square" lIns="0" tIns="0" rIns="0" bIns="0" rtlCol="0" anchor="ctr"/>
          <a:lstStyle/>
          <a:p>
            <a:pPr marL="0" indent="0">
              <a:buNone/>
            </a:pPr>
            <a:r>
              <a:rPr lang="en-US" sz="2100" b="1" dirty="0">
                <a:solidFill>
                  <a:schemeClr val="tx1"/>
                </a:solidFill>
                <a:latin typeface="Cambria" pitchFamily="34" charset="0"/>
                <a:ea typeface="Cambria" pitchFamily="34" charset="-122"/>
                <a:cs typeface="Cambria" pitchFamily="34" charset="-120"/>
              </a:rPr>
              <a:t>Logistic Regression</a:t>
            </a:r>
            <a:endParaRPr lang="en-US" sz="2100" dirty="0"/>
          </a:p>
        </p:txBody>
      </p:sp>
      <p:sp>
        <p:nvSpPr>
          <p:cNvPr id="7" name="Shape 4"/>
          <p:cNvSpPr/>
          <p:nvPr/>
        </p:nvSpPr>
        <p:spPr>
          <a:xfrm>
            <a:off x="5102352" y="1554480"/>
            <a:ext cx="658368" cy="329184"/>
          </a:xfrm>
          <a:prstGeom prst="roundRect">
            <a:avLst>
              <a:gd name="adj" fmla="val 50000"/>
            </a:avLst>
          </a:prstGeom>
          <a:solidFill>
            <a:schemeClr val="accent1"/>
          </a:solidFill>
          <a:ln w="12700">
            <a:solidFill>
              <a:schemeClr val="accent1"/>
            </a:solidFill>
            <a:prstDash val="solid"/>
          </a:ln>
        </p:spPr>
      </p:sp>
      <p:sp>
        <p:nvSpPr>
          <p:cNvPr id="8" name="Text 5"/>
          <p:cNvSpPr txBox="1"/>
          <p:nvPr/>
        </p:nvSpPr>
        <p:spPr>
          <a:xfrm>
            <a:off x="5102352" y="1554480"/>
            <a:ext cx="658368" cy="329184"/>
          </a:xfrm>
          <a:prstGeom prst="rect">
            <a:avLst/>
          </a:prstGeom>
          <a:noFill/>
          <a:ln/>
        </p:spPr>
        <p:txBody>
          <a:bodyPr wrap="square" lIns="0" tIns="0" rIns="0" bIns="0" rtlCol="0" anchor="ctr"/>
          <a:lstStyle/>
          <a:p>
            <a:pPr marL="0" indent="0" algn="ctr">
              <a:buNone/>
            </a:pPr>
            <a:r>
              <a:rPr lang="en-US" sz="1200" b="1" dirty="0">
                <a:solidFill>
                  <a:schemeClr val="bg1"/>
                </a:solidFill>
              </a:rPr>
              <a:t>TEST</a:t>
            </a:r>
            <a:endParaRPr lang="en-US" sz="1200" dirty="0"/>
          </a:p>
        </p:txBody>
      </p:sp>
      <p:sp>
        <p:nvSpPr>
          <p:cNvPr id="9" name="Text 6"/>
          <p:cNvSpPr txBox="1"/>
          <p:nvPr/>
        </p:nvSpPr>
        <p:spPr>
          <a:xfrm>
            <a:off x="822960" y="2148840"/>
            <a:ext cx="4937760" cy="146304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1"/>
                </a:solidFill>
              </a:rPr>
              <a:t>Simple, interpretable classifier</a:t>
            </a:r>
            <a:endParaRPr lang="en-US" sz="1600" dirty="0"/>
          </a:p>
          <a:p>
            <a:pPr marL="342900" indent="-342900">
              <a:spcAft>
                <a:spcPts val="900"/>
              </a:spcAft>
              <a:buSzPct val="100000"/>
              <a:buChar char="•"/>
            </a:pPr>
            <a:r>
              <a:rPr lang="en-US" sz="1600" dirty="0">
                <a:solidFill>
                  <a:schemeClr val="tx1"/>
                </a:solidFill>
              </a:rPr>
              <a:t>Learns a weight for each feature</a:t>
            </a:r>
            <a:endParaRPr lang="en-US" sz="1600" dirty="0"/>
          </a:p>
          <a:p>
            <a:pPr marL="342900" indent="-342900">
              <a:spcAft>
                <a:spcPts val="900"/>
              </a:spcAft>
              <a:buSzPct val="100000"/>
              <a:buChar char="•"/>
            </a:pPr>
            <a:r>
              <a:rPr lang="en-US" sz="1600" dirty="0">
                <a:solidFill>
                  <a:schemeClr val="tx1"/>
                </a:solidFill>
              </a:rPr>
              <a:t>Predicts Team 1 win, Team 2 win or Draw</a:t>
            </a:r>
            <a:endParaRPr lang="en-US" sz="1600" dirty="0"/>
          </a:p>
        </p:txBody>
      </p:sp>
      <p:sp>
        <p:nvSpPr>
          <p:cNvPr id="10" name="Card"/>
          <p:cNvSpPr/>
          <p:nvPr/>
        </p:nvSpPr>
        <p:spPr>
          <a:xfrm>
            <a:off x="6199632" y="1371600"/>
            <a:ext cx="5440680" cy="2423160"/>
          </a:xfrm>
          <a:prstGeom prst="roundRect">
            <a:avLst>
              <a:gd name="adj" fmla="val 4528"/>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1" name="Text 8"/>
          <p:cNvSpPr txBox="1"/>
          <p:nvPr/>
        </p:nvSpPr>
        <p:spPr>
          <a:xfrm>
            <a:off x="6473952" y="1508760"/>
            <a:ext cx="3291840" cy="411480"/>
          </a:xfrm>
          <a:prstGeom prst="rect">
            <a:avLst/>
          </a:prstGeom>
          <a:noFill/>
          <a:ln/>
        </p:spPr>
        <p:txBody>
          <a:bodyPr wrap="square" lIns="0" tIns="0" rIns="0" bIns="0" rtlCol="0" anchor="ctr"/>
          <a:lstStyle/>
          <a:p>
            <a:pPr marL="0" indent="0">
              <a:buNone/>
            </a:pPr>
            <a:r>
              <a:rPr lang="en-US" sz="2100" b="1" dirty="0">
                <a:solidFill>
                  <a:schemeClr val="tx1"/>
                </a:solidFill>
                <a:latin typeface="Cambria" pitchFamily="34" charset="0"/>
                <a:ea typeface="Cambria" pitchFamily="34" charset="-122"/>
                <a:cs typeface="Cambria" pitchFamily="34" charset="-120"/>
              </a:rPr>
              <a:t>Random Forest</a:t>
            </a:r>
            <a:endParaRPr lang="en-US" sz="2100" dirty="0"/>
          </a:p>
        </p:txBody>
      </p:sp>
      <p:sp>
        <p:nvSpPr>
          <p:cNvPr id="12" name="Shape 9"/>
          <p:cNvSpPr/>
          <p:nvPr/>
        </p:nvSpPr>
        <p:spPr>
          <a:xfrm>
            <a:off x="9290304" y="1554480"/>
            <a:ext cx="658368" cy="329184"/>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9290304" y="1554480"/>
            <a:ext cx="658368" cy="329184"/>
          </a:xfrm>
          <a:prstGeom prst="rect">
            <a:avLst/>
          </a:prstGeom>
          <a:noFill/>
          <a:ln/>
        </p:spPr>
        <p:txBody>
          <a:bodyPr wrap="square" lIns="0" tIns="0" rIns="0" bIns="0" rtlCol="0" anchor="ctr"/>
          <a:lstStyle/>
          <a:p>
            <a:pPr marL="0" indent="0" algn="ctr">
              <a:buNone/>
            </a:pPr>
            <a:r>
              <a:rPr lang="en-US" sz="1200" b="1" dirty="0">
                <a:solidFill>
                  <a:schemeClr val="bg1"/>
                </a:solidFill>
              </a:rPr>
              <a:t>ODI</a:t>
            </a:r>
            <a:endParaRPr lang="en-US" sz="1200" dirty="0"/>
          </a:p>
        </p:txBody>
      </p:sp>
      <p:sp>
        <p:nvSpPr>
          <p:cNvPr id="14" name="Shape 11"/>
          <p:cNvSpPr/>
          <p:nvPr/>
        </p:nvSpPr>
        <p:spPr>
          <a:xfrm>
            <a:off x="10021824" y="1554480"/>
            <a:ext cx="658368" cy="329184"/>
          </a:xfrm>
          <a:prstGeom prst="roundRect">
            <a:avLst>
              <a:gd name="adj" fmla="val 50000"/>
            </a:avLst>
          </a:prstGeom>
          <a:solidFill>
            <a:schemeClr val="accent1"/>
          </a:solidFill>
          <a:ln w="12700">
            <a:solidFill>
              <a:schemeClr val="accent1"/>
            </a:solidFill>
            <a:prstDash val="solid"/>
          </a:ln>
        </p:spPr>
      </p:sp>
      <p:sp>
        <p:nvSpPr>
          <p:cNvPr id="15" name="Text 12"/>
          <p:cNvSpPr txBox="1"/>
          <p:nvPr/>
        </p:nvSpPr>
        <p:spPr>
          <a:xfrm>
            <a:off x="10021824" y="1554480"/>
            <a:ext cx="658368" cy="329184"/>
          </a:xfrm>
          <a:prstGeom prst="rect">
            <a:avLst/>
          </a:prstGeom>
          <a:noFill/>
          <a:ln/>
        </p:spPr>
        <p:txBody>
          <a:bodyPr wrap="square" lIns="0" tIns="0" rIns="0" bIns="0" rtlCol="0" anchor="ctr"/>
          <a:lstStyle/>
          <a:p>
            <a:pPr marL="0" indent="0" algn="ctr">
              <a:buNone/>
            </a:pPr>
            <a:r>
              <a:rPr lang="en-US" sz="1200" b="1" dirty="0">
                <a:solidFill>
                  <a:schemeClr val="bg1"/>
                </a:solidFill>
              </a:rPr>
              <a:t>T20</a:t>
            </a:r>
            <a:endParaRPr lang="en-US" sz="1200" dirty="0"/>
          </a:p>
        </p:txBody>
      </p:sp>
      <p:sp>
        <p:nvSpPr>
          <p:cNvPr id="16" name="Shape 13"/>
          <p:cNvSpPr/>
          <p:nvPr/>
        </p:nvSpPr>
        <p:spPr>
          <a:xfrm>
            <a:off x="10753344" y="1554480"/>
            <a:ext cx="658368" cy="329184"/>
          </a:xfrm>
          <a:prstGeom prst="roundRect">
            <a:avLst>
              <a:gd name="adj" fmla="val 50000"/>
            </a:avLst>
          </a:prstGeom>
          <a:solidFill>
            <a:schemeClr val="accent1"/>
          </a:solidFill>
          <a:ln w="12700">
            <a:solidFill>
              <a:schemeClr val="accent1"/>
            </a:solidFill>
            <a:prstDash val="solid"/>
          </a:ln>
        </p:spPr>
      </p:sp>
      <p:sp>
        <p:nvSpPr>
          <p:cNvPr id="17" name="Text 14"/>
          <p:cNvSpPr txBox="1"/>
          <p:nvPr/>
        </p:nvSpPr>
        <p:spPr>
          <a:xfrm>
            <a:off x="10753344" y="1554480"/>
            <a:ext cx="658368" cy="329184"/>
          </a:xfrm>
          <a:prstGeom prst="rect">
            <a:avLst/>
          </a:prstGeom>
          <a:noFill/>
          <a:ln/>
        </p:spPr>
        <p:txBody>
          <a:bodyPr wrap="square" lIns="0" tIns="0" rIns="0" bIns="0" rtlCol="0" anchor="ctr"/>
          <a:lstStyle/>
          <a:p>
            <a:pPr marL="0" indent="0" algn="ctr">
              <a:buNone/>
            </a:pPr>
            <a:r>
              <a:rPr lang="en-US" sz="1200" b="1" dirty="0">
                <a:solidFill>
                  <a:schemeClr val="bg1"/>
                </a:solidFill>
              </a:rPr>
              <a:t>IPL</a:t>
            </a:r>
            <a:endParaRPr lang="en-US" sz="1200" dirty="0"/>
          </a:p>
        </p:txBody>
      </p:sp>
      <p:sp>
        <p:nvSpPr>
          <p:cNvPr id="18" name="Text 15"/>
          <p:cNvSpPr txBox="1"/>
          <p:nvPr/>
        </p:nvSpPr>
        <p:spPr>
          <a:xfrm>
            <a:off x="6473952" y="2148840"/>
            <a:ext cx="4937760" cy="146304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1"/>
                </a:solidFill>
              </a:rPr>
              <a:t>Ensemble of many decision trees</a:t>
            </a:r>
            <a:endParaRPr lang="en-US" sz="1600" dirty="0"/>
          </a:p>
          <a:p>
            <a:pPr marL="342900" indent="-342900">
              <a:spcAft>
                <a:spcPts val="900"/>
              </a:spcAft>
              <a:buSzPct val="100000"/>
              <a:buChar char="•"/>
            </a:pPr>
            <a:r>
              <a:rPr lang="en-US" sz="1600" dirty="0">
                <a:solidFill>
                  <a:schemeClr val="tx1"/>
                </a:solidFill>
              </a:rPr>
              <a:t>Captures non-linear relationships</a:t>
            </a:r>
            <a:endParaRPr lang="en-US" sz="1600" dirty="0"/>
          </a:p>
          <a:p>
            <a:pPr marL="342900" indent="-342900">
              <a:spcAft>
                <a:spcPts val="900"/>
              </a:spcAft>
              <a:buSzPct val="100000"/>
              <a:buChar char="•"/>
            </a:pPr>
            <a:r>
              <a:rPr lang="en-US" sz="1600" dirty="0">
                <a:solidFill>
                  <a:schemeClr val="tx1"/>
                </a:solidFill>
              </a:rPr>
              <a:t>Trees vote together on the winner</a:t>
            </a:r>
            <a:endParaRPr lang="en-US" sz="1600" dirty="0"/>
          </a:p>
        </p:txBody>
      </p:sp>
      <p:sp>
        <p:nvSpPr>
          <p:cNvPr id="19" name="Code panel"/>
          <p:cNvSpPr/>
          <p:nvPr/>
        </p:nvSpPr>
        <p:spPr>
          <a:xfrm>
            <a:off x="548640" y="3977640"/>
            <a:ext cx="5440680" cy="2240280"/>
          </a:xfrm>
          <a:prstGeom prst="roundRect">
            <a:avLst>
              <a:gd name="adj" fmla="val 4082"/>
            </a:avLst>
          </a:prstGeom>
          <a:solidFill>
            <a:schemeClr val="accent5"/>
          </a:solidFill>
          <a:ln w="12700">
            <a:solidFill>
              <a:schemeClr val="accent5"/>
            </a:solidFill>
            <a:prstDash val="solid"/>
          </a:ln>
          <a:effectLst>
            <a:outerShdw blurRad="101600" dist="25400" dir="5400000" algn="bl" rotWithShape="0">
              <a:srgbClr val="0B2545">
                <a:alpha val="10000"/>
              </a:srgbClr>
            </a:outerShdw>
          </a:effectLst>
        </p:spPr>
      </p:sp>
      <p:sp>
        <p:nvSpPr>
          <p:cNvPr id="20" name="Shape 17"/>
          <p:cNvSpPr/>
          <p:nvPr/>
        </p:nvSpPr>
        <p:spPr>
          <a:xfrm>
            <a:off x="731520" y="4133088"/>
            <a:ext cx="100584" cy="100584"/>
          </a:xfrm>
          <a:prstGeom prst="ellipse">
            <a:avLst/>
          </a:prstGeom>
          <a:solidFill>
            <a:srgbClr val="F87171"/>
          </a:solidFill>
          <a:ln w="12700">
            <a:solidFill>
              <a:srgbClr val="F87171"/>
            </a:solidFill>
            <a:prstDash val="solid"/>
          </a:ln>
        </p:spPr>
      </p:sp>
      <p:sp>
        <p:nvSpPr>
          <p:cNvPr id="21" name="Shape 18"/>
          <p:cNvSpPr/>
          <p:nvPr/>
        </p:nvSpPr>
        <p:spPr>
          <a:xfrm>
            <a:off x="914400" y="4133088"/>
            <a:ext cx="100584" cy="100584"/>
          </a:xfrm>
          <a:prstGeom prst="ellipse">
            <a:avLst/>
          </a:prstGeom>
          <a:solidFill>
            <a:srgbClr val="FBBF24"/>
          </a:solidFill>
          <a:ln w="12700">
            <a:solidFill>
              <a:srgbClr val="FBBF24"/>
            </a:solidFill>
            <a:prstDash val="solid"/>
          </a:ln>
        </p:spPr>
      </p:sp>
      <p:sp>
        <p:nvSpPr>
          <p:cNvPr id="22" name="Shape 19"/>
          <p:cNvSpPr/>
          <p:nvPr/>
        </p:nvSpPr>
        <p:spPr>
          <a:xfrm>
            <a:off x="1097280" y="4133088"/>
            <a:ext cx="100584" cy="100584"/>
          </a:xfrm>
          <a:prstGeom prst="ellipse">
            <a:avLst/>
          </a:prstGeom>
          <a:solidFill>
            <a:srgbClr val="4ADE80"/>
          </a:solidFill>
          <a:ln w="12700">
            <a:solidFill>
              <a:srgbClr val="4ADE80"/>
            </a:solidFill>
            <a:prstDash val="solid"/>
          </a:ln>
        </p:spPr>
      </p:sp>
      <p:sp>
        <p:nvSpPr>
          <p:cNvPr id="23" name="Text 20"/>
          <p:cNvSpPr txBox="1"/>
          <p:nvPr/>
        </p:nvSpPr>
        <p:spPr>
          <a:xfrm>
            <a:off x="1463040" y="4069080"/>
            <a:ext cx="4343400" cy="256032"/>
          </a:xfrm>
          <a:prstGeom prst="rect">
            <a:avLst/>
          </a:prstGeom>
          <a:noFill/>
          <a:ln/>
        </p:spPr>
        <p:txBody>
          <a:bodyPr wrap="square" lIns="0" tIns="0" rIns="0" bIns="0" rtlCol="0" anchor="t"/>
          <a:lstStyle/>
          <a:p>
            <a:pPr marL="0" indent="0" algn="r">
              <a:buNone/>
            </a:pPr>
            <a:r>
              <a:rPr lang="en-US" sz="1100" b="1" dirty="0">
                <a:solidFill>
                  <a:srgbClr val="7DD3FC"/>
                </a:solidFill>
                <a:latin typeface="Courier New" pitchFamily="34" charset="0"/>
                <a:ea typeface="Courier New" pitchFamily="34" charset="-122"/>
                <a:cs typeface="Courier New" pitchFamily="34" charset="-120"/>
              </a:rPr>
              <a:t>TEST · Logistic Regression</a:t>
            </a:r>
            <a:endParaRPr lang="en-US" sz="1100" dirty="0"/>
          </a:p>
        </p:txBody>
      </p:sp>
      <p:sp>
        <p:nvSpPr>
          <p:cNvPr id="24" name="Text 21"/>
          <p:cNvSpPr txBox="1"/>
          <p:nvPr/>
        </p:nvSpPr>
        <p:spPr>
          <a:xfrm>
            <a:off x="777240" y="4480560"/>
            <a:ext cx="5074920" cy="1645920"/>
          </a:xfrm>
          <a:prstGeom prst="rect">
            <a:avLst/>
          </a:prstGeom>
          <a:noFill/>
          <a:ln/>
        </p:spPr>
        <p:txBody>
          <a:bodyPr wrap="square" lIns="0" tIns="0" rIns="0" bIns="0" rtlCol="0" anchor="t"/>
          <a:lstStyle/>
          <a:p>
            <a:pPr marL="0" indent="0">
              <a:buNone/>
            </a:pPr>
            <a:r>
              <a:rPr lang="en-US" sz="1200" dirty="0">
                <a:solidFill>
                  <a:srgbClr val="E6EEF5"/>
                </a:solidFill>
                <a:latin typeface="Courier New" pitchFamily="34" charset="0"/>
                <a:ea typeface="Courier New" pitchFamily="34" charset="-122"/>
                <a:cs typeface="Courier New" pitchFamily="34" charset="-120"/>
              </a:rPr>
              <a:t>Pipeline([</a:t>
            </a:r>
            <a:endParaRPr lang="en-US" sz="1400" dirty="0"/>
          </a:p>
          <a:p>
            <a:pPr marL="0" indent="0">
              <a:buNone/>
            </a:pPr>
            <a:r>
              <a:rPr lang="en-US" sz="1200" dirty="0">
                <a:solidFill>
                  <a:srgbClr val="E6EEF5"/>
                </a:solidFill>
                <a:latin typeface="Courier New" pitchFamily="34" charset="0"/>
                <a:ea typeface="Courier New" pitchFamily="34" charset="-122"/>
                <a:cs typeface="Courier New" pitchFamily="34" charset="-120"/>
              </a:rPr>
              <a:t>  ("scaler", StandardScaler()),</a:t>
            </a:r>
            <a:endParaRPr lang="en-US" sz="1400" dirty="0"/>
          </a:p>
          <a:p>
            <a:pPr marL="0" indent="0">
              <a:buNone/>
            </a:pPr>
            <a:r>
              <a:rPr lang="en-US" sz="1200" dirty="0">
                <a:solidFill>
                  <a:srgbClr val="E6EEF5"/>
                </a:solidFill>
                <a:latin typeface="Courier New" pitchFamily="34" charset="0"/>
                <a:ea typeface="Courier New" pitchFamily="34" charset="-122"/>
                <a:cs typeface="Courier New" pitchFamily="34" charset="-120"/>
              </a:rPr>
              <a:t>  ("model", LogisticRegression(</a:t>
            </a:r>
            <a:endParaRPr lang="en-US" sz="1400" dirty="0"/>
          </a:p>
          <a:p>
            <a:pPr marL="0" indent="0">
              <a:buNone/>
            </a:pPr>
            <a:r>
              <a:rPr lang="en-US" sz="1200" dirty="0">
                <a:solidFill>
                  <a:srgbClr val="E6EEF5"/>
                </a:solidFill>
                <a:latin typeface="Courier New" pitchFamily="34" charset="0"/>
                <a:ea typeface="Courier New" pitchFamily="34" charset="-122"/>
                <a:cs typeface="Courier New" pitchFamily="34" charset="-120"/>
              </a:rPr>
              <a:t>      max_iter=3000,</a:t>
            </a:r>
            <a:endParaRPr lang="en-US" sz="1400" dirty="0"/>
          </a:p>
          <a:p>
            <a:pPr marL="0" indent="0">
              <a:buNone/>
            </a:pPr>
            <a:r>
              <a:rPr lang="en-US" sz="1200" dirty="0">
                <a:solidFill>
                  <a:srgbClr val="E6EEF5"/>
                </a:solidFill>
                <a:latin typeface="Courier New" pitchFamily="34" charset="0"/>
                <a:ea typeface="Courier New" pitchFamily="34" charset="-122"/>
                <a:cs typeface="Courier New" pitchFamily="34" charset="-120"/>
              </a:rPr>
              <a:t>      random_state=42))</a:t>
            </a:r>
            <a:endParaRPr lang="en-US" sz="1400" dirty="0"/>
          </a:p>
          <a:p>
            <a:pPr marL="0" indent="0">
              <a:buNone/>
            </a:pPr>
            <a:r>
              <a:rPr lang="en-US" sz="1200" dirty="0">
                <a:solidFill>
                  <a:srgbClr val="E6EEF5"/>
                </a:solidFill>
                <a:latin typeface="Courier New" pitchFamily="34" charset="0"/>
                <a:ea typeface="Courier New" pitchFamily="34" charset="-122"/>
                <a:cs typeface="Courier New" pitchFamily="34" charset="-120"/>
              </a:rPr>
              <a:t>])</a:t>
            </a:r>
            <a:endParaRPr lang="en-US" sz="1400" dirty="0"/>
          </a:p>
        </p:txBody>
      </p:sp>
      <p:sp>
        <p:nvSpPr>
          <p:cNvPr id="25" name="Code panel"/>
          <p:cNvSpPr/>
          <p:nvPr/>
        </p:nvSpPr>
        <p:spPr>
          <a:xfrm>
            <a:off x="6199632" y="3977640"/>
            <a:ext cx="5440680" cy="2240280"/>
          </a:xfrm>
          <a:prstGeom prst="roundRect">
            <a:avLst>
              <a:gd name="adj" fmla="val 4082"/>
            </a:avLst>
          </a:prstGeom>
          <a:solidFill>
            <a:schemeClr val="accent5"/>
          </a:solidFill>
          <a:ln w="12700">
            <a:solidFill>
              <a:schemeClr val="accent5"/>
            </a:solidFill>
            <a:prstDash val="solid"/>
          </a:ln>
          <a:effectLst>
            <a:outerShdw blurRad="101600" dist="25400" dir="5400000" algn="bl" rotWithShape="0">
              <a:srgbClr val="0B2545">
                <a:alpha val="10000"/>
              </a:srgbClr>
            </a:outerShdw>
          </a:effectLst>
        </p:spPr>
      </p:sp>
      <p:sp>
        <p:nvSpPr>
          <p:cNvPr id="26" name="Shape 23"/>
          <p:cNvSpPr/>
          <p:nvPr/>
        </p:nvSpPr>
        <p:spPr>
          <a:xfrm>
            <a:off x="6382512" y="4133088"/>
            <a:ext cx="100584" cy="100584"/>
          </a:xfrm>
          <a:prstGeom prst="ellipse">
            <a:avLst/>
          </a:prstGeom>
          <a:solidFill>
            <a:srgbClr val="F87171"/>
          </a:solidFill>
          <a:ln w="12700">
            <a:solidFill>
              <a:srgbClr val="F87171"/>
            </a:solidFill>
            <a:prstDash val="solid"/>
          </a:ln>
        </p:spPr>
      </p:sp>
      <p:sp>
        <p:nvSpPr>
          <p:cNvPr id="27" name="Shape 24"/>
          <p:cNvSpPr/>
          <p:nvPr/>
        </p:nvSpPr>
        <p:spPr>
          <a:xfrm>
            <a:off x="6565392" y="4133088"/>
            <a:ext cx="100584" cy="100584"/>
          </a:xfrm>
          <a:prstGeom prst="ellipse">
            <a:avLst/>
          </a:prstGeom>
          <a:solidFill>
            <a:srgbClr val="FBBF24"/>
          </a:solidFill>
          <a:ln w="12700">
            <a:solidFill>
              <a:srgbClr val="FBBF24"/>
            </a:solidFill>
            <a:prstDash val="solid"/>
          </a:ln>
        </p:spPr>
      </p:sp>
      <p:sp>
        <p:nvSpPr>
          <p:cNvPr id="28" name="Shape 25"/>
          <p:cNvSpPr/>
          <p:nvPr/>
        </p:nvSpPr>
        <p:spPr>
          <a:xfrm>
            <a:off x="6748272" y="4133088"/>
            <a:ext cx="100584" cy="100584"/>
          </a:xfrm>
          <a:prstGeom prst="ellipse">
            <a:avLst/>
          </a:prstGeom>
          <a:solidFill>
            <a:srgbClr val="4ADE80"/>
          </a:solidFill>
          <a:ln w="12700">
            <a:solidFill>
              <a:srgbClr val="4ADE80"/>
            </a:solidFill>
            <a:prstDash val="solid"/>
          </a:ln>
        </p:spPr>
      </p:sp>
      <p:sp>
        <p:nvSpPr>
          <p:cNvPr id="29" name="Text 26"/>
          <p:cNvSpPr txBox="1"/>
          <p:nvPr/>
        </p:nvSpPr>
        <p:spPr>
          <a:xfrm>
            <a:off x="7114032" y="4069080"/>
            <a:ext cx="4343400" cy="256032"/>
          </a:xfrm>
          <a:prstGeom prst="rect">
            <a:avLst/>
          </a:prstGeom>
          <a:noFill/>
          <a:ln/>
        </p:spPr>
        <p:txBody>
          <a:bodyPr wrap="square" lIns="0" tIns="0" rIns="0" bIns="0" rtlCol="0" anchor="t"/>
          <a:lstStyle/>
          <a:p>
            <a:pPr marL="0" indent="0" algn="r">
              <a:buNone/>
            </a:pPr>
            <a:r>
              <a:rPr lang="en-US" sz="1100" b="1" dirty="0">
                <a:solidFill>
                  <a:srgbClr val="7DD3FC"/>
                </a:solidFill>
                <a:latin typeface="Courier New" pitchFamily="34" charset="0"/>
                <a:ea typeface="Courier New" pitchFamily="34" charset="-122"/>
                <a:cs typeface="Courier New" pitchFamily="34" charset="-120"/>
              </a:rPr>
              <a:t>T20 / ODI · Random Forest</a:t>
            </a:r>
            <a:endParaRPr lang="en-US" sz="1100" dirty="0"/>
          </a:p>
        </p:txBody>
      </p:sp>
      <p:sp>
        <p:nvSpPr>
          <p:cNvPr id="30" name="Text 27"/>
          <p:cNvSpPr txBox="1"/>
          <p:nvPr/>
        </p:nvSpPr>
        <p:spPr>
          <a:xfrm>
            <a:off x="6428232" y="4480560"/>
            <a:ext cx="5074920" cy="1645920"/>
          </a:xfrm>
          <a:prstGeom prst="rect">
            <a:avLst/>
          </a:prstGeom>
          <a:noFill/>
          <a:ln/>
        </p:spPr>
        <p:txBody>
          <a:bodyPr wrap="square" lIns="0" tIns="0" rIns="0" bIns="0" rtlCol="0" anchor="t"/>
          <a:lstStyle/>
          <a:p>
            <a:pPr marL="0" indent="0">
              <a:buNone/>
            </a:pPr>
            <a:r>
              <a:rPr lang="en-US" sz="1200" dirty="0">
                <a:solidFill>
                  <a:srgbClr val="E6EEF5"/>
                </a:solidFill>
                <a:latin typeface="Courier New" pitchFamily="34" charset="0"/>
                <a:ea typeface="Courier New" pitchFamily="34" charset="-122"/>
                <a:cs typeface="Courier New" pitchFamily="34" charset="-120"/>
              </a:rPr>
              <a:t>RandomForestClassifier(</a:t>
            </a:r>
            <a:endParaRPr lang="en-US" sz="1400" dirty="0"/>
          </a:p>
          <a:p>
            <a:pPr marL="0" indent="0">
              <a:buNone/>
            </a:pPr>
            <a:r>
              <a:rPr lang="en-US" sz="1200" dirty="0">
                <a:solidFill>
                  <a:srgbClr val="E6EEF5"/>
                </a:solidFill>
                <a:latin typeface="Courier New" pitchFamily="34" charset="0"/>
                <a:ea typeface="Courier New" pitchFamily="34" charset="-122"/>
                <a:cs typeface="Courier New" pitchFamily="34" charset="-120"/>
              </a:rPr>
              <a:t>  n_estimators=500,</a:t>
            </a:r>
            <a:endParaRPr lang="en-US" sz="1400" dirty="0"/>
          </a:p>
          <a:p>
            <a:pPr marL="0" indent="0">
              <a:buNone/>
            </a:pPr>
            <a:r>
              <a:rPr lang="en-US" sz="1200" dirty="0">
                <a:solidFill>
                  <a:srgbClr val="E6EEF5"/>
                </a:solidFill>
                <a:latin typeface="Courier New" pitchFamily="34" charset="0"/>
                <a:ea typeface="Courier New" pitchFamily="34" charset="-122"/>
                <a:cs typeface="Courier New" pitchFamily="34" charset="-120"/>
              </a:rPr>
              <a:t>  max_depth=8,</a:t>
            </a:r>
            <a:endParaRPr lang="en-US" sz="1400" dirty="0"/>
          </a:p>
          <a:p>
            <a:pPr marL="0" indent="0">
              <a:buNone/>
            </a:pPr>
            <a:r>
              <a:rPr lang="en-US" sz="1200" dirty="0">
                <a:solidFill>
                  <a:srgbClr val="E6EEF5"/>
                </a:solidFill>
                <a:latin typeface="Courier New" pitchFamily="34" charset="0"/>
                <a:ea typeface="Courier New" pitchFamily="34" charset="-122"/>
                <a:cs typeface="Courier New" pitchFamily="34" charset="-120"/>
              </a:rPr>
              <a:t>  min_samples_leaf=4,</a:t>
            </a:r>
            <a:endParaRPr lang="en-US" sz="1400" dirty="0"/>
          </a:p>
          <a:p>
            <a:pPr marL="0" indent="0">
              <a:buNone/>
            </a:pPr>
            <a:r>
              <a:rPr lang="en-US" sz="1200" dirty="0">
                <a:solidFill>
                  <a:srgbClr val="E6EEF5"/>
                </a:solidFill>
                <a:latin typeface="Courier New" pitchFamily="34" charset="0"/>
                <a:ea typeface="Courier New" pitchFamily="34" charset="-122"/>
                <a:cs typeface="Courier New" pitchFamily="34" charset="-120"/>
              </a:rPr>
              <a:t>  class_weight="balanced",</a:t>
            </a:r>
            <a:endParaRPr lang="en-US" sz="1400" dirty="0"/>
          </a:p>
          <a:p>
            <a:pPr marL="0" indent="0">
              <a:buNone/>
            </a:pPr>
            <a:r>
              <a:rPr lang="en-US" sz="1200" dirty="0">
                <a:solidFill>
                  <a:srgbClr val="E6EEF5"/>
                </a:solidFill>
                <a:latin typeface="Courier New" pitchFamily="34" charset="0"/>
                <a:ea typeface="Courier New" pitchFamily="34" charset="-122"/>
                <a:cs typeface="Courier New" pitchFamily="34" charset="-120"/>
              </a:rPr>
              <a:t>  random_state=42)</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0515600" cy="640080"/>
          </a:xfrm>
          <a:prstGeom prst="rect">
            <a:avLst/>
          </a:prstGeom>
          <a:noFill/>
          <a:ln/>
        </p:spPr>
        <p:txBody>
          <a:bodyPr wrap="square" lIns="0" tIns="0" rIns="0" bIns="0" rtlCol="0" anchor="ctr"/>
          <a:lstStyle/>
          <a:p>
            <a:pPr marL="0" indent="0" algn="l">
              <a:buNone/>
            </a:pPr>
            <a:r>
              <a:rPr lang="en-US" sz="3000" b="1" dirty="0">
                <a:solidFill>
                  <a:schemeClr val="tx1"/>
                </a:solidFill>
              </a:rPr>
              <a:t>Model Evaluation</a:t>
            </a:r>
            <a:endParaRPr lang="en-US" sz="3000" dirty="0"/>
          </a:p>
        </p:txBody>
      </p:sp>
      <p:sp>
        <p:nvSpPr>
          <p:cNvPr id="3" name="Text 1"/>
          <p:cNvSpPr txBox="1"/>
          <p:nvPr/>
        </p:nvSpPr>
        <p:spPr>
          <a:xfrm>
            <a:off x="10545775" y="640080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10 / 12</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132320" cy="2651760"/>
        </p:xfrm>
        <a:graphic>
          <a:graphicData uri="http://schemas.openxmlformats.org/drawingml/2006/table">
            <a:tbl>
              <a:tblPr/>
              <a:tblGrid>
                <a:gridCol w="10058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457200">
                <a:tc>
                  <a:txBody>
                    <a:bodyPr/>
                    <a:lstStyle/>
                    <a:p>
                      <a:pPr marL="0" indent="0" algn="ctr">
                        <a:buNone/>
                      </a:pPr>
                      <a:r>
                        <a:rPr lang="en-US" sz="1400" b="1" dirty="0">
                          <a:solidFill>
                            <a:srgbClr val="FFFFFF"/>
                          </a:solidFill>
                        </a:rPr>
                        <a:t>Format</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0E7490"/>
                    </a:solidFill>
                  </a:tcPr>
                </a:tc>
                <a:tc>
                  <a:txBody>
                    <a:bodyPr/>
                    <a:lstStyle/>
                    <a:p>
                      <a:pPr marL="0" indent="0" algn="ctr">
                        <a:buNone/>
                      </a:pPr>
                      <a:r>
                        <a:rPr lang="en-US" sz="1400" b="1" dirty="0">
                          <a:solidFill>
                            <a:srgbClr val="FFFFFF"/>
                          </a:solidFill>
                        </a:rPr>
                        <a:t>Model</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0E7490"/>
                    </a:solidFill>
                  </a:tcPr>
                </a:tc>
                <a:tc>
                  <a:txBody>
                    <a:bodyPr/>
                    <a:lstStyle/>
                    <a:p>
                      <a:pPr marL="0" indent="0" algn="ctr">
                        <a:buNone/>
                      </a:pPr>
                      <a:r>
                        <a:rPr lang="en-US" sz="1400" b="1" dirty="0">
                          <a:solidFill>
                            <a:srgbClr val="FFFFFF"/>
                          </a:solidFill>
                        </a:rPr>
                        <a:t>Accuracy</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0E7490"/>
                    </a:solidFill>
                  </a:tcPr>
                </a:tc>
                <a:tc>
                  <a:txBody>
                    <a:bodyPr/>
                    <a:lstStyle/>
                    <a:p>
                      <a:pPr marL="0" indent="0" algn="ctr">
                        <a:buNone/>
                      </a:pPr>
                      <a:r>
                        <a:rPr lang="en-US" sz="1400" b="1" dirty="0">
                          <a:solidFill>
                            <a:srgbClr val="FFFFFF"/>
                          </a:solidFill>
                        </a:rPr>
                        <a:t>F1-score</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0E7490"/>
                    </a:solidFill>
                  </a:tcPr>
                </a:tc>
                <a:tc>
                  <a:txBody>
                    <a:bodyPr/>
                    <a:lstStyle/>
                    <a:p>
                      <a:pPr marL="0" indent="0" algn="ctr">
                        <a:buNone/>
                      </a:pPr>
                      <a:r>
                        <a:rPr lang="en-US" sz="1400" b="1" dirty="0">
                          <a:solidFill>
                            <a:srgbClr val="FFFFFF"/>
                          </a:solidFill>
                        </a:rPr>
                        <a:t>ROC-AUC</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0E7490"/>
                    </a:solidFill>
                  </a:tcPr>
                </a:tc>
                <a:extLst>
                  <a:ext uri="{0D108BD9-81ED-4DB2-BD59-A6C34878D82A}">
                    <a16:rowId xmlns:a16="http://schemas.microsoft.com/office/drawing/2014/main" val="10000"/>
                  </a:ext>
                </a:extLst>
              </a:tr>
              <a:tr h="548640">
                <a:tc>
                  <a:txBody>
                    <a:bodyPr/>
                    <a:lstStyle/>
                    <a:p>
                      <a:pPr marL="0" indent="0" algn="ctr">
                        <a:buNone/>
                      </a:pPr>
                      <a:r>
                        <a:rPr lang="en-US" sz="1400" b="1" dirty="0">
                          <a:solidFill>
                            <a:srgbClr val="0B2545"/>
                          </a:solidFill>
                        </a:rPr>
                        <a:t>TEST</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2545"/>
                          </a:solidFill>
                        </a:rPr>
                        <a:t>Logistic Regression</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2545"/>
                          </a:solidFill>
                        </a:rPr>
                        <a:t>57.04%</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2545"/>
                          </a:solidFill>
                        </a:rPr>
                        <a:t>0.3773*</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2545"/>
                          </a:solidFill>
                        </a:rPr>
                        <a:t>0.5923</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lang="en-US" sz="1400" b="1" dirty="0">
                          <a:solidFill>
                            <a:srgbClr val="0B2545"/>
                          </a:solidFill>
                        </a:rPr>
                        <a:t>ODI</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tc>
                  <a:txBody>
                    <a:bodyPr/>
                    <a:lstStyle/>
                    <a:p>
                      <a:pPr marL="0" indent="0" algn="ctr">
                        <a:buNone/>
                      </a:pPr>
                      <a:r>
                        <a:rPr lang="en-US" sz="1400" dirty="0">
                          <a:solidFill>
                            <a:srgbClr val="0B2545"/>
                          </a:solidFill>
                        </a:rPr>
                        <a:t>Random Forest</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tc>
                  <a:txBody>
                    <a:bodyPr/>
                    <a:lstStyle/>
                    <a:p>
                      <a:pPr marL="0" indent="0" algn="ctr">
                        <a:buNone/>
                      </a:pPr>
                      <a:r>
                        <a:rPr lang="en-US" sz="1400" dirty="0">
                          <a:solidFill>
                            <a:srgbClr val="0B2545"/>
                          </a:solidFill>
                        </a:rPr>
                        <a:t>63.49%</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tc>
                  <a:txBody>
                    <a:bodyPr/>
                    <a:lstStyle/>
                    <a:p>
                      <a:pPr marL="0" indent="0" algn="ctr">
                        <a:buNone/>
                      </a:pPr>
                      <a:r>
                        <a:rPr lang="en-US" sz="1400" dirty="0">
                          <a:solidFill>
                            <a:srgbClr val="0B2545"/>
                          </a:solidFill>
                        </a:rPr>
                        <a:t>0.6339*</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tc>
                  <a:txBody>
                    <a:bodyPr/>
                    <a:lstStyle/>
                    <a:p>
                      <a:pPr marL="0" indent="0" algn="ctr">
                        <a:buNone/>
                      </a:pPr>
                      <a:r>
                        <a:rPr lang="en-US" sz="1400" dirty="0">
                          <a:solidFill>
                            <a:srgbClr val="0B2545"/>
                          </a:solidFill>
                        </a:rPr>
                        <a:t>0.6628</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extLst>
                  <a:ext uri="{0D108BD9-81ED-4DB2-BD59-A6C34878D82A}">
                    <a16:rowId xmlns:a16="http://schemas.microsoft.com/office/drawing/2014/main" val="10002"/>
                  </a:ext>
                </a:extLst>
              </a:tr>
              <a:tr h="548640">
                <a:tc>
                  <a:txBody>
                    <a:bodyPr/>
                    <a:lstStyle/>
                    <a:p>
                      <a:pPr marL="0" indent="0" algn="ctr">
                        <a:buNone/>
                      </a:pPr>
                      <a:r>
                        <a:rPr lang="en-US" sz="1400" b="1" dirty="0">
                          <a:solidFill>
                            <a:srgbClr val="0B2545"/>
                          </a:solidFill>
                        </a:rPr>
                        <a:t>T20</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2545"/>
                          </a:solidFill>
                        </a:rPr>
                        <a:t>Random Forest</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2545"/>
                          </a:solidFill>
                        </a:rPr>
                        <a:t>70.82%</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2545"/>
                          </a:solidFill>
                        </a:rPr>
                        <a:t>0.7170</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2545"/>
                          </a:solidFill>
                        </a:rPr>
                        <a:t>0.7927</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lang="en-US" sz="1400" b="1" dirty="0">
                          <a:solidFill>
                            <a:srgbClr val="0B2545"/>
                          </a:solidFill>
                        </a:rPr>
                        <a:t>IPL</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tc>
                  <a:txBody>
                    <a:bodyPr/>
                    <a:lstStyle/>
                    <a:p>
                      <a:pPr marL="0" indent="0" algn="ctr">
                        <a:buNone/>
                      </a:pPr>
                      <a:r>
                        <a:rPr lang="en-US" sz="1400" dirty="0">
                          <a:solidFill>
                            <a:srgbClr val="0B2545"/>
                          </a:solidFill>
                        </a:rPr>
                        <a:t>Random Forest</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tc>
                  <a:txBody>
                    <a:bodyPr/>
                    <a:lstStyle/>
                    <a:p>
                      <a:pPr marL="0" indent="0" algn="ctr">
                        <a:buNone/>
                      </a:pPr>
                      <a:r>
                        <a:rPr lang="en-US" sz="1400" dirty="0">
                          <a:solidFill>
                            <a:srgbClr val="0B2545"/>
                          </a:solidFill>
                        </a:rPr>
                        <a:t>57.92%</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tc>
                  <a:txBody>
                    <a:bodyPr/>
                    <a:lstStyle/>
                    <a:p>
                      <a:pPr marL="0" indent="0" algn="ctr">
                        <a:buNone/>
                      </a:pPr>
                      <a:r>
                        <a:rPr lang="en-US" sz="1400" dirty="0">
                          <a:solidFill>
                            <a:srgbClr val="0B2545"/>
                          </a:solidFill>
                        </a:rPr>
                        <a:t>0.4031</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tc>
                  <a:txBody>
                    <a:bodyPr/>
                    <a:lstStyle/>
                    <a:p>
                      <a:pPr marL="0" indent="0" algn="ctr">
                        <a:buNone/>
                      </a:pPr>
                      <a:r>
                        <a:rPr lang="en-US" sz="1400" dirty="0">
                          <a:solidFill>
                            <a:srgbClr val="0B2545"/>
                          </a:solidFill>
                        </a:rPr>
                        <a:t>0.5529</a:t>
                      </a:r>
                      <a:endParaRPr lang="en-US" sz="1400" dirty="0"/>
                    </a:p>
                  </a:txBody>
                  <a:tcPr anchor="ctr">
                    <a:lnL w="12700" cap="flat" cmpd="sng" algn="ctr">
                      <a:solidFill>
                        <a:srgbClr val="D5E8F0"/>
                      </a:solidFill>
                      <a:prstDash val="solid"/>
                      <a:round/>
                      <a:headEnd type="none" w="med" len="med"/>
                      <a:tailEnd type="none" w="med" len="med"/>
                    </a:lnL>
                    <a:lnR w="12700" cap="flat" cmpd="sng" algn="ctr">
                      <a:solidFill>
                        <a:srgbClr val="D5E8F0"/>
                      </a:solidFill>
                      <a:prstDash val="solid"/>
                      <a:round/>
                      <a:headEnd type="none" w="med" len="med"/>
                      <a:tailEnd type="none" w="med" len="med"/>
                    </a:lnR>
                    <a:lnT w="12700" cap="flat" cmpd="sng" algn="ctr">
                      <a:solidFill>
                        <a:srgbClr val="D5E8F0"/>
                      </a:solidFill>
                      <a:prstDash val="solid"/>
                      <a:round/>
                      <a:headEnd type="none" w="med" len="med"/>
                      <a:tailEnd type="none" w="med" len="med"/>
                    </a:lnT>
                    <a:lnB w="12700" cap="flat" cmpd="sng" algn="ctr">
                      <a:solidFill>
                        <a:srgbClr val="D5E8F0"/>
                      </a:solidFill>
                      <a:prstDash val="solid"/>
                      <a:round/>
                      <a:headEnd type="none" w="med" len="med"/>
                      <a:tailEnd type="none" w="med" len="med"/>
                    </a:lnB>
                    <a:solidFill>
                      <a:srgbClr val="F3F9FC"/>
                    </a:solidFill>
                  </a:tcPr>
                </a:tc>
                <a:extLst>
                  <a:ext uri="{0D108BD9-81ED-4DB2-BD59-A6C34878D82A}">
                    <a16:rowId xmlns:a16="http://schemas.microsoft.com/office/drawing/2014/main" val="10004"/>
                  </a:ext>
                </a:extLst>
              </a:tr>
            </a:tbl>
          </a:graphicData>
        </a:graphic>
      </p:graphicFrame>
      <p:sp>
        <p:nvSpPr>
          <p:cNvPr id="6" name="Text 2"/>
          <p:cNvSpPr txBox="1"/>
          <p:nvPr/>
        </p:nvSpPr>
        <p:spPr>
          <a:xfrm>
            <a:off x="548640" y="4343400"/>
            <a:ext cx="7132320" cy="868680"/>
          </a:xfrm>
          <a:prstGeom prst="rect">
            <a:avLst/>
          </a:prstGeom>
          <a:noFill/>
          <a:ln/>
        </p:spPr>
        <p:txBody>
          <a:bodyPr wrap="square" lIns="0" tIns="0" rIns="0" bIns="0" rtlCol="0" anchor="t"/>
          <a:lstStyle/>
          <a:p>
            <a:pPr marL="0" indent="0">
              <a:spcAft>
                <a:spcPts val="400"/>
              </a:spcAft>
              <a:buNone/>
            </a:pPr>
            <a:r>
              <a:rPr lang="en-US" sz="1200" dirty="0">
                <a:solidFill>
                  <a:schemeClr val="tx2"/>
                </a:solidFill>
              </a:rPr>
              <a:t>* Macro-F1 (TEST is a 3-class problem: Team 1 win, Team 2 win, Draw; ODI reports macro-F1). T20 and IPL: F1 for “Team 1 wins”.</a:t>
            </a:r>
            <a:endParaRPr lang="en-US" sz="1200" dirty="0"/>
          </a:p>
          <a:p>
            <a:pPr marL="0" indent="0">
              <a:spcAft>
                <a:spcPts val="400"/>
              </a:spcAft>
              <a:buNone/>
            </a:pPr>
            <a:r>
              <a:rPr lang="en-US" sz="1200" dirty="0">
                <a:solidFill>
                  <a:schemeClr val="tx2"/>
                </a:solidFill>
              </a:rPr>
              <a:t>Scores are measured on each format’s test set of unseen, newest matches: TEST 135, ODI 367, T20 514, IPL 183.</a:t>
            </a:r>
            <a:endParaRPr lang="en-US" sz="1200" dirty="0"/>
          </a:p>
        </p:txBody>
      </p:sp>
      <p:sp>
        <p:nvSpPr>
          <p:cNvPr id="7" name="Card"/>
          <p:cNvSpPr/>
          <p:nvPr/>
        </p:nvSpPr>
        <p:spPr>
          <a:xfrm>
            <a:off x="8001000" y="1417320"/>
            <a:ext cx="3642055" cy="3794760"/>
          </a:xfrm>
          <a:prstGeom prst="roundRect">
            <a:avLst>
              <a:gd name="adj" fmla="val 3013"/>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8" name="Text 4"/>
          <p:cNvSpPr txBox="1"/>
          <p:nvPr/>
        </p:nvSpPr>
        <p:spPr>
          <a:xfrm>
            <a:off x="8183880" y="1536192"/>
            <a:ext cx="3276295" cy="274320"/>
          </a:xfrm>
          <a:prstGeom prst="rect">
            <a:avLst/>
          </a:prstGeom>
          <a:noFill/>
          <a:ln/>
        </p:spPr>
        <p:txBody>
          <a:bodyPr wrap="square" lIns="0" tIns="0" rIns="0" bIns="0" rtlCol="0" anchor="t"/>
          <a:lstStyle/>
          <a:p>
            <a:pPr marL="0" indent="0">
              <a:buNone/>
            </a:pPr>
            <a:r>
              <a:rPr lang="en-US" sz="1350" b="1" dirty="0">
                <a:solidFill>
                  <a:schemeClr val="tx1"/>
                </a:solidFill>
              </a:rPr>
              <a:t>Confusion matrix · IPL Random Forest</a:t>
            </a:r>
            <a:endParaRPr lang="en-US" sz="1350" dirty="0"/>
          </a:p>
        </p:txBody>
      </p:sp>
      <p:sp>
        <p:nvSpPr>
          <p:cNvPr id="9" name="Text 5"/>
          <p:cNvSpPr txBox="1"/>
          <p:nvPr/>
        </p:nvSpPr>
        <p:spPr>
          <a:xfrm>
            <a:off x="9235440" y="1874520"/>
            <a:ext cx="2194560" cy="201168"/>
          </a:xfrm>
          <a:prstGeom prst="rect">
            <a:avLst/>
          </a:prstGeom>
          <a:noFill/>
          <a:ln/>
        </p:spPr>
        <p:txBody>
          <a:bodyPr wrap="square" lIns="0" tIns="0" rIns="0" bIns="0" rtlCol="0" anchor="t"/>
          <a:lstStyle/>
          <a:p>
            <a:pPr marL="0" indent="0" algn="ctr">
              <a:buNone/>
            </a:pPr>
            <a:r>
              <a:rPr lang="en-US" sz="1100" b="1" dirty="0">
                <a:solidFill>
                  <a:schemeClr val="accent1"/>
                </a:solidFill>
              </a:rPr>
              <a:t>Predicted</a:t>
            </a:r>
            <a:endParaRPr lang="en-US" sz="1100" dirty="0"/>
          </a:p>
        </p:txBody>
      </p:sp>
      <p:sp>
        <p:nvSpPr>
          <p:cNvPr id="10" name="Text 6"/>
          <p:cNvSpPr txBox="1"/>
          <p:nvPr/>
        </p:nvSpPr>
        <p:spPr>
          <a:xfrm>
            <a:off x="9235440" y="2103120"/>
            <a:ext cx="1097280" cy="228600"/>
          </a:xfrm>
          <a:prstGeom prst="rect">
            <a:avLst/>
          </a:prstGeom>
          <a:noFill/>
          <a:ln/>
        </p:spPr>
        <p:txBody>
          <a:bodyPr wrap="square" lIns="0" tIns="0" rIns="0" bIns="0" rtlCol="0" anchor="t"/>
          <a:lstStyle/>
          <a:p>
            <a:pPr marL="0" indent="0" algn="ctr">
              <a:buNone/>
            </a:pPr>
            <a:r>
              <a:rPr lang="en-US" sz="1050" dirty="0">
                <a:solidFill>
                  <a:schemeClr val="tx2"/>
                </a:solidFill>
              </a:rPr>
              <a:t>Team 2 wins</a:t>
            </a:r>
            <a:endParaRPr lang="en-US" sz="1050" dirty="0"/>
          </a:p>
        </p:txBody>
      </p:sp>
      <p:sp>
        <p:nvSpPr>
          <p:cNvPr id="4" name="Text 7"/>
          <p:cNvSpPr txBox="1"/>
          <p:nvPr/>
        </p:nvSpPr>
        <p:spPr>
          <a:xfrm>
            <a:off x="8046720" y="2743200"/>
            <a:ext cx="1143000" cy="457200"/>
          </a:xfrm>
          <a:prstGeom prst="rect">
            <a:avLst/>
          </a:prstGeom>
          <a:noFill/>
          <a:ln/>
        </p:spPr>
        <p:txBody>
          <a:bodyPr wrap="square" lIns="0" tIns="0" rIns="0" bIns="0" rtlCol="0" anchor="ctr"/>
          <a:lstStyle/>
          <a:p>
            <a:pPr marL="0" indent="0" algn="r">
              <a:buNone/>
            </a:pPr>
            <a:r>
              <a:rPr lang="en-US" sz="1050" dirty="0">
                <a:solidFill>
                  <a:schemeClr val="tx2"/>
                </a:solidFill>
              </a:rPr>
              <a:t>Actual: Team 2 wins</a:t>
            </a:r>
            <a:endParaRPr lang="en-US" sz="1050" dirty="0"/>
          </a:p>
        </p:txBody>
      </p:sp>
      <p:sp>
        <p:nvSpPr>
          <p:cNvPr id="12" name="Text 8"/>
          <p:cNvSpPr txBox="1"/>
          <p:nvPr/>
        </p:nvSpPr>
        <p:spPr>
          <a:xfrm>
            <a:off x="10424160" y="2103120"/>
            <a:ext cx="1097280" cy="228600"/>
          </a:xfrm>
          <a:prstGeom prst="rect">
            <a:avLst/>
          </a:prstGeom>
          <a:noFill/>
          <a:ln/>
        </p:spPr>
        <p:txBody>
          <a:bodyPr wrap="square" lIns="0" tIns="0" rIns="0" bIns="0" rtlCol="0" anchor="t"/>
          <a:lstStyle/>
          <a:p>
            <a:pPr marL="0" indent="0" algn="ctr">
              <a:buNone/>
            </a:pPr>
            <a:r>
              <a:rPr lang="en-US" sz="1050" dirty="0">
                <a:solidFill>
                  <a:schemeClr val="tx2"/>
                </a:solidFill>
              </a:rPr>
              <a:t>Team 1 wins</a:t>
            </a:r>
            <a:endParaRPr lang="en-US" sz="1050" dirty="0"/>
          </a:p>
        </p:txBody>
      </p:sp>
      <p:sp>
        <p:nvSpPr>
          <p:cNvPr id="13" name="Text 9"/>
          <p:cNvSpPr txBox="1"/>
          <p:nvPr/>
        </p:nvSpPr>
        <p:spPr>
          <a:xfrm>
            <a:off x="8046720" y="3657600"/>
            <a:ext cx="1143000" cy="457200"/>
          </a:xfrm>
          <a:prstGeom prst="rect">
            <a:avLst/>
          </a:prstGeom>
          <a:noFill/>
          <a:ln/>
        </p:spPr>
        <p:txBody>
          <a:bodyPr wrap="square" lIns="0" tIns="0" rIns="0" bIns="0" rtlCol="0" anchor="ctr"/>
          <a:lstStyle/>
          <a:p>
            <a:pPr marL="0" indent="0" algn="r">
              <a:buNone/>
            </a:pPr>
            <a:r>
              <a:rPr lang="en-US" sz="1050" dirty="0">
                <a:solidFill>
                  <a:schemeClr val="tx2"/>
                </a:solidFill>
              </a:rPr>
              <a:t>Actual: Team 1 wins</a:t>
            </a:r>
            <a:endParaRPr lang="en-US" sz="1050" dirty="0"/>
          </a:p>
        </p:txBody>
      </p:sp>
      <p:sp>
        <p:nvSpPr>
          <p:cNvPr id="14" name="Shape 10"/>
          <p:cNvSpPr/>
          <p:nvPr/>
        </p:nvSpPr>
        <p:spPr>
          <a:xfrm>
            <a:off x="9235440" y="2395728"/>
            <a:ext cx="1097280" cy="841248"/>
          </a:xfrm>
          <a:prstGeom prst="rect">
            <a:avLst/>
          </a:prstGeom>
          <a:solidFill>
            <a:schemeClr val="accent1"/>
          </a:solidFill>
          <a:ln w="25400">
            <a:solidFill>
              <a:schemeClr val="bg1"/>
            </a:solidFill>
            <a:prstDash val="solid"/>
          </a:ln>
        </p:spPr>
      </p:sp>
      <p:sp>
        <p:nvSpPr>
          <p:cNvPr id="15" name="Text 11"/>
          <p:cNvSpPr txBox="1"/>
          <p:nvPr/>
        </p:nvSpPr>
        <p:spPr>
          <a:xfrm>
            <a:off x="9235440" y="2395728"/>
            <a:ext cx="1097280" cy="841248"/>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80</a:t>
            </a:r>
            <a:endParaRPr lang="en-US" sz="2400" dirty="0"/>
          </a:p>
        </p:txBody>
      </p:sp>
      <p:sp>
        <p:nvSpPr>
          <p:cNvPr id="16" name="Shape 12"/>
          <p:cNvSpPr/>
          <p:nvPr/>
        </p:nvSpPr>
        <p:spPr>
          <a:xfrm>
            <a:off x="10424160" y="2395728"/>
            <a:ext cx="1097280" cy="841248"/>
          </a:xfrm>
          <a:prstGeom prst="rect">
            <a:avLst/>
          </a:prstGeom>
          <a:solidFill>
            <a:schemeClr val="accent4"/>
          </a:solidFill>
          <a:ln w="25400">
            <a:solidFill>
              <a:schemeClr val="bg1"/>
            </a:solidFill>
            <a:prstDash val="solid"/>
          </a:ln>
        </p:spPr>
      </p:sp>
      <p:sp>
        <p:nvSpPr>
          <p:cNvPr id="17" name="Text 13"/>
          <p:cNvSpPr txBox="1"/>
          <p:nvPr/>
        </p:nvSpPr>
        <p:spPr>
          <a:xfrm>
            <a:off x="10424160" y="2395728"/>
            <a:ext cx="1097280" cy="841248"/>
          </a:xfrm>
          <a:prstGeom prst="rect">
            <a:avLst/>
          </a:prstGeom>
          <a:noFill/>
          <a:ln/>
        </p:spPr>
        <p:txBody>
          <a:bodyPr wrap="square" lIns="0" tIns="0" rIns="0" bIns="0" rtlCol="0" anchor="ctr"/>
          <a:lstStyle/>
          <a:p>
            <a:pPr marL="0" indent="0" algn="ctr">
              <a:buNone/>
            </a:pPr>
            <a:r>
              <a:rPr lang="en-US" sz="2400" b="1" dirty="0">
                <a:solidFill>
                  <a:schemeClr val="tx1"/>
                </a:solidFill>
                <a:latin typeface="Cambria" pitchFamily="34" charset="0"/>
                <a:ea typeface="Cambria" pitchFamily="34" charset="-122"/>
                <a:cs typeface="Cambria" pitchFamily="34" charset="-120"/>
              </a:rPr>
              <a:t>23</a:t>
            </a:r>
            <a:endParaRPr lang="en-US" sz="2400" dirty="0"/>
          </a:p>
        </p:txBody>
      </p:sp>
      <p:sp>
        <p:nvSpPr>
          <p:cNvPr id="18" name="Shape 14"/>
          <p:cNvSpPr/>
          <p:nvPr/>
        </p:nvSpPr>
        <p:spPr>
          <a:xfrm>
            <a:off x="9235440" y="3310128"/>
            <a:ext cx="1097280" cy="841248"/>
          </a:xfrm>
          <a:prstGeom prst="rect">
            <a:avLst/>
          </a:prstGeom>
          <a:solidFill>
            <a:schemeClr val="accent4"/>
          </a:solidFill>
          <a:ln w="25400">
            <a:solidFill>
              <a:schemeClr val="bg1"/>
            </a:solidFill>
            <a:prstDash val="solid"/>
          </a:ln>
        </p:spPr>
      </p:sp>
      <p:sp>
        <p:nvSpPr>
          <p:cNvPr id="19" name="Text 15"/>
          <p:cNvSpPr txBox="1"/>
          <p:nvPr/>
        </p:nvSpPr>
        <p:spPr>
          <a:xfrm>
            <a:off x="9235440" y="3310128"/>
            <a:ext cx="1097280" cy="841248"/>
          </a:xfrm>
          <a:prstGeom prst="rect">
            <a:avLst/>
          </a:prstGeom>
          <a:noFill/>
          <a:ln/>
        </p:spPr>
        <p:txBody>
          <a:bodyPr wrap="square" lIns="0" tIns="0" rIns="0" bIns="0" rtlCol="0" anchor="ctr"/>
          <a:lstStyle/>
          <a:p>
            <a:pPr marL="0" indent="0" algn="ctr">
              <a:buNone/>
            </a:pPr>
            <a:r>
              <a:rPr lang="en-US" sz="2400" b="1" dirty="0">
                <a:solidFill>
                  <a:schemeClr val="tx1"/>
                </a:solidFill>
                <a:latin typeface="Cambria" pitchFamily="34" charset="0"/>
                <a:ea typeface="Cambria" pitchFamily="34" charset="-122"/>
                <a:cs typeface="Cambria" pitchFamily="34" charset="-120"/>
              </a:rPr>
              <a:t>54</a:t>
            </a:r>
            <a:endParaRPr lang="en-US" sz="2400" dirty="0"/>
          </a:p>
        </p:txBody>
      </p:sp>
      <p:sp>
        <p:nvSpPr>
          <p:cNvPr id="20" name="Shape 16"/>
          <p:cNvSpPr/>
          <p:nvPr/>
        </p:nvSpPr>
        <p:spPr>
          <a:xfrm>
            <a:off x="10424160" y="3310128"/>
            <a:ext cx="1097280" cy="841248"/>
          </a:xfrm>
          <a:prstGeom prst="rect">
            <a:avLst/>
          </a:prstGeom>
          <a:solidFill>
            <a:schemeClr val="accent1"/>
          </a:solidFill>
          <a:ln w="25400">
            <a:solidFill>
              <a:schemeClr val="bg1"/>
            </a:solidFill>
            <a:prstDash val="solid"/>
          </a:ln>
        </p:spPr>
      </p:sp>
      <p:sp>
        <p:nvSpPr>
          <p:cNvPr id="21" name="Text 17"/>
          <p:cNvSpPr txBox="1"/>
          <p:nvPr/>
        </p:nvSpPr>
        <p:spPr>
          <a:xfrm>
            <a:off x="10424160" y="3310128"/>
            <a:ext cx="1097280" cy="841248"/>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26</a:t>
            </a:r>
            <a:endParaRPr lang="en-US" sz="2400" dirty="0"/>
          </a:p>
        </p:txBody>
      </p:sp>
      <p:sp>
        <p:nvSpPr>
          <p:cNvPr id="22" name="Text 18"/>
          <p:cNvSpPr txBox="1"/>
          <p:nvPr/>
        </p:nvSpPr>
        <p:spPr>
          <a:xfrm>
            <a:off x="8183880" y="4370832"/>
            <a:ext cx="3276295" cy="685800"/>
          </a:xfrm>
          <a:prstGeom prst="rect">
            <a:avLst/>
          </a:prstGeom>
          <a:noFill/>
          <a:ln/>
        </p:spPr>
        <p:txBody>
          <a:bodyPr wrap="square" lIns="0" tIns="0" rIns="0" bIns="0" rtlCol="0" anchor="t"/>
          <a:lstStyle/>
          <a:p>
            <a:pPr marL="0" indent="0">
              <a:buNone/>
            </a:pPr>
            <a:r>
              <a:rPr lang="en-US" sz="1250" b="1" dirty="0">
                <a:solidFill>
                  <a:schemeClr val="tx1"/>
                </a:solidFill>
              </a:rPr>
              <a:t>Team 1 wins:  </a:t>
            </a:r>
            <a:r>
              <a:rPr lang="en-US" sz="1250" dirty="0">
                <a:solidFill>
                  <a:schemeClr val="tx2"/>
                </a:solidFill>
              </a:rPr>
              <a:t>precision 0.53 · recall 0.33 (from the matrix)</a:t>
            </a:r>
            <a:endParaRPr lang="en-US" sz="1250" dirty="0"/>
          </a:p>
        </p:txBody>
      </p:sp>
      <p:sp>
        <p:nvSpPr>
          <p:cNvPr id="23" name="Card"/>
          <p:cNvSpPr/>
          <p:nvPr/>
        </p:nvSpPr>
        <p:spPr>
          <a:xfrm>
            <a:off x="548640" y="5440680"/>
            <a:ext cx="11094415" cy="777240"/>
          </a:xfrm>
          <a:prstGeom prst="roundRect">
            <a:avLst>
              <a:gd name="adj" fmla="val 14118"/>
            </a:avLst>
          </a:prstGeom>
          <a:solidFill>
            <a:schemeClr val="accent1"/>
          </a:solidFill>
          <a:ln w="12700">
            <a:solidFill>
              <a:schemeClr val="accent4"/>
            </a:solidFill>
            <a:prstDash val="solid"/>
          </a:ln>
          <a:effectLst>
            <a:outerShdw blurRad="101600" dist="25400" dir="5400000" algn="bl" rotWithShape="0">
              <a:srgbClr val="0B2545">
                <a:alpha val="10000"/>
              </a:srgbClr>
            </a:outerShdw>
          </a:effectLst>
        </p:spPr>
      </p:sp>
      <p:sp>
        <p:nvSpPr>
          <p:cNvPr id="24" name="Text 20"/>
          <p:cNvSpPr txBox="1"/>
          <p:nvPr/>
        </p:nvSpPr>
        <p:spPr>
          <a:xfrm>
            <a:off x="822960" y="5440680"/>
            <a:ext cx="10545775" cy="777240"/>
          </a:xfrm>
          <a:prstGeom prst="rect">
            <a:avLst/>
          </a:prstGeom>
          <a:noFill/>
          <a:ln/>
        </p:spPr>
        <p:txBody>
          <a:bodyPr wrap="square" lIns="0" tIns="0" rIns="0" bIns="0" rtlCol="0" anchor="ctr"/>
          <a:lstStyle/>
          <a:p>
            <a:pPr marL="0" indent="0" algn="ctr">
              <a:buNone/>
            </a:pPr>
            <a:r>
              <a:rPr lang="en-US" sz="1600" b="1" dirty="0">
                <a:solidFill>
                  <a:schemeClr val="bg1"/>
                </a:solidFill>
              </a:rPr>
              <a:t>The models were evaluated using standard classification metrics to measure prediction performance.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0515600" cy="640080"/>
          </a:xfrm>
          <a:prstGeom prst="rect">
            <a:avLst/>
          </a:prstGeom>
          <a:noFill/>
          <a:ln/>
        </p:spPr>
        <p:txBody>
          <a:bodyPr wrap="square" lIns="0" tIns="0" rIns="0" bIns="0" rtlCol="0" anchor="ctr"/>
          <a:lstStyle/>
          <a:p>
            <a:pPr marL="0" indent="0" algn="l">
              <a:buNone/>
            </a:pPr>
            <a:r>
              <a:rPr lang="en-US" sz="3000" b="1" dirty="0">
                <a:solidFill>
                  <a:schemeClr val="tx1"/>
                </a:solidFill>
              </a:rPr>
              <a:t>Save the Final Model</a:t>
            </a:r>
            <a:endParaRPr lang="en-US" sz="3000" dirty="0"/>
          </a:p>
        </p:txBody>
      </p:sp>
      <p:sp>
        <p:nvSpPr>
          <p:cNvPr id="3" name="Text 1"/>
          <p:cNvSpPr txBox="1"/>
          <p:nvPr/>
        </p:nvSpPr>
        <p:spPr>
          <a:xfrm>
            <a:off x="10545775" y="640080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11 / 12</a:t>
            </a:r>
            <a:endParaRPr lang="en-US" sz="1000" dirty="0"/>
          </a:p>
        </p:txBody>
      </p:sp>
      <p:sp>
        <p:nvSpPr>
          <p:cNvPr id="5" name="Shape 2"/>
          <p:cNvSpPr/>
          <p:nvPr/>
        </p:nvSpPr>
        <p:spPr>
          <a:xfrm>
            <a:off x="548640" y="1417320"/>
            <a:ext cx="1417320" cy="868680"/>
          </a:xfrm>
          <a:prstGeom prst="roundRect">
            <a:avLst>
              <a:gd name="adj" fmla="val 10526"/>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6" name="Text 3"/>
          <p:cNvSpPr txBox="1"/>
          <p:nvPr/>
        </p:nvSpPr>
        <p:spPr>
          <a:xfrm>
            <a:off x="594360" y="1417320"/>
            <a:ext cx="1325880" cy="868680"/>
          </a:xfrm>
          <a:prstGeom prst="rect">
            <a:avLst/>
          </a:prstGeom>
          <a:noFill/>
          <a:ln/>
        </p:spPr>
        <p:txBody>
          <a:bodyPr wrap="square" lIns="0" tIns="0" rIns="0" bIns="0" rtlCol="0" anchor="ctr"/>
          <a:lstStyle/>
          <a:p>
            <a:pPr marL="0" indent="0" algn="ctr">
              <a:buNone/>
            </a:pPr>
            <a:r>
              <a:rPr lang="en-US" sz="1300" b="1" dirty="0">
                <a:solidFill>
                  <a:schemeClr val="tx1"/>
                </a:solidFill>
              </a:rPr>
              <a:t>Dataset</a:t>
            </a:r>
            <a:endParaRPr lang="en-US" sz="1300" dirty="0"/>
          </a:p>
        </p:txBody>
      </p:sp>
      <p:sp>
        <p:nvSpPr>
          <p:cNvPr id="7" name="Shape 4"/>
          <p:cNvSpPr/>
          <p:nvPr/>
        </p:nvSpPr>
        <p:spPr>
          <a:xfrm rot="5400000">
            <a:off x="1999717" y="1737360"/>
            <a:ext cx="128016" cy="201168"/>
          </a:xfrm>
          <a:prstGeom prst="triangle">
            <a:avLst/>
          </a:prstGeom>
          <a:solidFill>
            <a:schemeClr val="accent2"/>
          </a:solidFill>
          <a:ln w="12700">
            <a:solidFill>
              <a:schemeClr val="accent2"/>
            </a:solidFill>
            <a:prstDash val="solid"/>
          </a:ln>
        </p:spPr>
      </p:sp>
      <p:sp>
        <p:nvSpPr>
          <p:cNvPr id="8" name="Shape 5"/>
          <p:cNvSpPr/>
          <p:nvPr/>
        </p:nvSpPr>
        <p:spPr>
          <a:xfrm>
            <a:off x="2161489" y="1417320"/>
            <a:ext cx="1417320" cy="868680"/>
          </a:xfrm>
          <a:prstGeom prst="roundRect">
            <a:avLst>
              <a:gd name="adj" fmla="val 10526"/>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9" name="Text 6"/>
          <p:cNvSpPr txBox="1"/>
          <p:nvPr/>
        </p:nvSpPr>
        <p:spPr>
          <a:xfrm>
            <a:off x="2207209" y="1417320"/>
            <a:ext cx="1325880" cy="868680"/>
          </a:xfrm>
          <a:prstGeom prst="rect">
            <a:avLst/>
          </a:prstGeom>
          <a:noFill/>
          <a:ln/>
        </p:spPr>
        <p:txBody>
          <a:bodyPr wrap="square" lIns="0" tIns="0" rIns="0" bIns="0" rtlCol="0" anchor="ctr"/>
          <a:lstStyle/>
          <a:p>
            <a:pPr marL="0" indent="0" algn="ctr">
              <a:buNone/>
            </a:pPr>
            <a:r>
              <a:rPr lang="en-US" sz="1300" b="1" dirty="0">
                <a:solidFill>
                  <a:schemeClr val="tx1"/>
                </a:solidFill>
              </a:rPr>
              <a:t>Preprocessing</a:t>
            </a:r>
            <a:endParaRPr lang="en-US" sz="1300" dirty="0"/>
          </a:p>
        </p:txBody>
      </p:sp>
      <p:sp>
        <p:nvSpPr>
          <p:cNvPr id="10" name="Shape 7"/>
          <p:cNvSpPr/>
          <p:nvPr/>
        </p:nvSpPr>
        <p:spPr>
          <a:xfrm rot="5400000">
            <a:off x="3612566" y="1737360"/>
            <a:ext cx="128016" cy="201168"/>
          </a:xfrm>
          <a:prstGeom prst="triangle">
            <a:avLst/>
          </a:prstGeom>
          <a:solidFill>
            <a:schemeClr val="accent2"/>
          </a:solidFill>
          <a:ln w="12700">
            <a:solidFill>
              <a:schemeClr val="accent2"/>
            </a:solidFill>
            <a:prstDash val="solid"/>
          </a:ln>
        </p:spPr>
      </p:sp>
      <p:sp>
        <p:nvSpPr>
          <p:cNvPr id="11" name="Shape 8"/>
          <p:cNvSpPr/>
          <p:nvPr/>
        </p:nvSpPr>
        <p:spPr>
          <a:xfrm>
            <a:off x="3774338" y="1417320"/>
            <a:ext cx="1417320" cy="868680"/>
          </a:xfrm>
          <a:prstGeom prst="roundRect">
            <a:avLst>
              <a:gd name="adj" fmla="val 10526"/>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2" name="Text 9"/>
          <p:cNvSpPr txBox="1"/>
          <p:nvPr/>
        </p:nvSpPr>
        <p:spPr>
          <a:xfrm>
            <a:off x="3820058" y="1417320"/>
            <a:ext cx="1325880" cy="868680"/>
          </a:xfrm>
          <a:prstGeom prst="rect">
            <a:avLst/>
          </a:prstGeom>
          <a:noFill/>
          <a:ln/>
        </p:spPr>
        <p:txBody>
          <a:bodyPr wrap="square" lIns="0" tIns="0" rIns="0" bIns="0" rtlCol="0" anchor="ctr"/>
          <a:lstStyle/>
          <a:p>
            <a:pPr marL="0" indent="0" algn="ctr">
              <a:buNone/>
            </a:pPr>
            <a:r>
              <a:rPr lang="en-US" sz="1300" b="1" dirty="0">
                <a:solidFill>
                  <a:schemeClr val="tx1"/>
                </a:solidFill>
              </a:rPr>
              <a:t>Feature Engineering</a:t>
            </a:r>
            <a:endParaRPr lang="en-US" sz="1300" dirty="0"/>
          </a:p>
        </p:txBody>
      </p:sp>
      <p:sp>
        <p:nvSpPr>
          <p:cNvPr id="13" name="Shape 10"/>
          <p:cNvSpPr/>
          <p:nvPr/>
        </p:nvSpPr>
        <p:spPr>
          <a:xfrm rot="5400000">
            <a:off x="5225415" y="1737360"/>
            <a:ext cx="128016" cy="201168"/>
          </a:xfrm>
          <a:prstGeom prst="triangle">
            <a:avLst/>
          </a:prstGeom>
          <a:solidFill>
            <a:schemeClr val="accent2"/>
          </a:solidFill>
          <a:ln w="12700">
            <a:solidFill>
              <a:schemeClr val="accent2"/>
            </a:solidFill>
            <a:prstDash val="solid"/>
          </a:ln>
        </p:spPr>
      </p:sp>
      <p:sp>
        <p:nvSpPr>
          <p:cNvPr id="14" name="Shape 11"/>
          <p:cNvSpPr/>
          <p:nvPr/>
        </p:nvSpPr>
        <p:spPr>
          <a:xfrm>
            <a:off x="5387188" y="1417320"/>
            <a:ext cx="1417320" cy="868680"/>
          </a:xfrm>
          <a:prstGeom prst="roundRect">
            <a:avLst>
              <a:gd name="adj" fmla="val 10526"/>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5" name="Text 12"/>
          <p:cNvSpPr txBox="1"/>
          <p:nvPr/>
        </p:nvSpPr>
        <p:spPr>
          <a:xfrm>
            <a:off x="5432908" y="1417320"/>
            <a:ext cx="1325880" cy="868680"/>
          </a:xfrm>
          <a:prstGeom prst="rect">
            <a:avLst/>
          </a:prstGeom>
          <a:noFill/>
          <a:ln/>
        </p:spPr>
        <p:txBody>
          <a:bodyPr wrap="square" lIns="0" tIns="0" rIns="0" bIns="0" rtlCol="0" anchor="ctr"/>
          <a:lstStyle/>
          <a:p>
            <a:pPr marL="0" indent="0" algn="ctr">
              <a:buNone/>
            </a:pPr>
            <a:r>
              <a:rPr lang="en-US" sz="1300" b="1" dirty="0">
                <a:solidFill>
                  <a:schemeClr val="tx1"/>
                </a:solidFill>
              </a:rPr>
              <a:t>Model Training</a:t>
            </a:r>
            <a:endParaRPr lang="en-US" sz="1300" dirty="0"/>
          </a:p>
        </p:txBody>
      </p:sp>
      <p:sp>
        <p:nvSpPr>
          <p:cNvPr id="16" name="Shape 13"/>
          <p:cNvSpPr/>
          <p:nvPr/>
        </p:nvSpPr>
        <p:spPr>
          <a:xfrm rot="5400000">
            <a:off x="6838264" y="1737360"/>
            <a:ext cx="128016" cy="201168"/>
          </a:xfrm>
          <a:prstGeom prst="triangle">
            <a:avLst/>
          </a:prstGeom>
          <a:solidFill>
            <a:schemeClr val="accent2"/>
          </a:solidFill>
          <a:ln w="12700">
            <a:solidFill>
              <a:schemeClr val="accent2"/>
            </a:solidFill>
            <a:prstDash val="solid"/>
          </a:ln>
        </p:spPr>
      </p:sp>
      <p:sp>
        <p:nvSpPr>
          <p:cNvPr id="17" name="Shape 14"/>
          <p:cNvSpPr/>
          <p:nvPr/>
        </p:nvSpPr>
        <p:spPr>
          <a:xfrm>
            <a:off x="7000037" y="1417320"/>
            <a:ext cx="1417320" cy="868680"/>
          </a:xfrm>
          <a:prstGeom prst="roundRect">
            <a:avLst>
              <a:gd name="adj" fmla="val 10526"/>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8" name="Text 15"/>
          <p:cNvSpPr txBox="1"/>
          <p:nvPr/>
        </p:nvSpPr>
        <p:spPr>
          <a:xfrm>
            <a:off x="7045757" y="1417320"/>
            <a:ext cx="1325880" cy="868680"/>
          </a:xfrm>
          <a:prstGeom prst="rect">
            <a:avLst/>
          </a:prstGeom>
          <a:noFill/>
          <a:ln/>
        </p:spPr>
        <p:txBody>
          <a:bodyPr wrap="square" lIns="0" tIns="0" rIns="0" bIns="0" rtlCol="0" anchor="ctr"/>
          <a:lstStyle/>
          <a:p>
            <a:pPr marL="0" indent="0" algn="ctr">
              <a:buNone/>
            </a:pPr>
            <a:r>
              <a:rPr lang="en-US" sz="1300" b="1" dirty="0">
                <a:solidFill>
                  <a:schemeClr val="tx1"/>
                </a:solidFill>
              </a:rPr>
              <a:t>Model Evaluation</a:t>
            </a:r>
            <a:endParaRPr lang="en-US" sz="1300" dirty="0"/>
          </a:p>
        </p:txBody>
      </p:sp>
      <p:sp>
        <p:nvSpPr>
          <p:cNvPr id="19" name="Shape 16"/>
          <p:cNvSpPr/>
          <p:nvPr/>
        </p:nvSpPr>
        <p:spPr>
          <a:xfrm rot="5400000">
            <a:off x="8451113" y="1737360"/>
            <a:ext cx="128016" cy="201168"/>
          </a:xfrm>
          <a:prstGeom prst="triangle">
            <a:avLst/>
          </a:prstGeom>
          <a:solidFill>
            <a:schemeClr val="accent2"/>
          </a:solidFill>
          <a:ln w="12700">
            <a:solidFill>
              <a:schemeClr val="accent2"/>
            </a:solidFill>
            <a:prstDash val="solid"/>
          </a:ln>
        </p:spPr>
      </p:sp>
      <p:sp>
        <p:nvSpPr>
          <p:cNvPr id="20" name="Shape 17"/>
          <p:cNvSpPr/>
          <p:nvPr/>
        </p:nvSpPr>
        <p:spPr>
          <a:xfrm>
            <a:off x="8612886" y="1417320"/>
            <a:ext cx="1417320" cy="868680"/>
          </a:xfrm>
          <a:prstGeom prst="roundRect">
            <a:avLst>
              <a:gd name="adj" fmla="val 10526"/>
            </a:avLst>
          </a:prstGeom>
          <a:solidFill>
            <a:schemeClr val="accent1"/>
          </a:solidFill>
          <a:ln w="12700">
            <a:solidFill>
              <a:schemeClr val="accent4"/>
            </a:solidFill>
            <a:prstDash val="solid"/>
          </a:ln>
          <a:effectLst>
            <a:outerShdw blurRad="101600" dist="25400" dir="5400000" algn="bl" rotWithShape="0">
              <a:srgbClr val="0B2545">
                <a:alpha val="10000"/>
              </a:srgbClr>
            </a:outerShdw>
          </a:effectLst>
        </p:spPr>
      </p:sp>
      <p:sp>
        <p:nvSpPr>
          <p:cNvPr id="21" name="Text 18"/>
          <p:cNvSpPr txBox="1"/>
          <p:nvPr/>
        </p:nvSpPr>
        <p:spPr>
          <a:xfrm>
            <a:off x="8658606" y="1417320"/>
            <a:ext cx="1325880" cy="868680"/>
          </a:xfrm>
          <a:prstGeom prst="rect">
            <a:avLst/>
          </a:prstGeom>
          <a:noFill/>
          <a:ln/>
        </p:spPr>
        <p:txBody>
          <a:bodyPr wrap="square" lIns="0" tIns="0" rIns="0" bIns="0" rtlCol="0" anchor="ctr"/>
          <a:lstStyle/>
          <a:p>
            <a:pPr marL="0" indent="0" algn="ctr">
              <a:buNone/>
            </a:pPr>
            <a:r>
              <a:rPr lang="en-US" sz="1300" b="1" dirty="0">
                <a:solidFill>
                  <a:schemeClr val="bg1"/>
                </a:solidFill>
              </a:rPr>
              <a:t>Saved Model</a:t>
            </a:r>
            <a:endParaRPr lang="en-US" sz="1300" dirty="0"/>
          </a:p>
        </p:txBody>
      </p:sp>
      <p:sp>
        <p:nvSpPr>
          <p:cNvPr id="22" name="Shape 19"/>
          <p:cNvSpPr/>
          <p:nvPr/>
        </p:nvSpPr>
        <p:spPr>
          <a:xfrm rot="5400000">
            <a:off x="10063963" y="1737360"/>
            <a:ext cx="128016" cy="201168"/>
          </a:xfrm>
          <a:prstGeom prst="triangle">
            <a:avLst/>
          </a:prstGeom>
          <a:solidFill>
            <a:schemeClr val="accent2"/>
          </a:solidFill>
          <a:ln w="12700">
            <a:solidFill>
              <a:schemeClr val="accent2"/>
            </a:solidFill>
            <a:prstDash val="solid"/>
          </a:ln>
        </p:spPr>
      </p:sp>
      <p:sp>
        <p:nvSpPr>
          <p:cNvPr id="23" name="Shape 20"/>
          <p:cNvSpPr/>
          <p:nvPr/>
        </p:nvSpPr>
        <p:spPr>
          <a:xfrm>
            <a:off x="10225735" y="1417320"/>
            <a:ext cx="1417320" cy="868680"/>
          </a:xfrm>
          <a:prstGeom prst="roundRect">
            <a:avLst>
              <a:gd name="adj" fmla="val 10526"/>
            </a:avLst>
          </a:prstGeom>
          <a:solidFill>
            <a:schemeClr val="accent1"/>
          </a:solidFill>
          <a:ln w="12700">
            <a:solidFill>
              <a:schemeClr val="accent4"/>
            </a:solidFill>
            <a:prstDash val="solid"/>
          </a:ln>
          <a:effectLst>
            <a:outerShdw blurRad="101600" dist="25400" dir="5400000" algn="bl" rotWithShape="0">
              <a:srgbClr val="0B2545">
                <a:alpha val="10000"/>
              </a:srgbClr>
            </a:outerShdw>
          </a:effectLst>
        </p:spPr>
      </p:sp>
      <p:sp>
        <p:nvSpPr>
          <p:cNvPr id="24" name="Text 21"/>
          <p:cNvSpPr txBox="1"/>
          <p:nvPr/>
        </p:nvSpPr>
        <p:spPr>
          <a:xfrm>
            <a:off x="10271455" y="1417320"/>
            <a:ext cx="1325880" cy="868680"/>
          </a:xfrm>
          <a:prstGeom prst="rect">
            <a:avLst/>
          </a:prstGeom>
          <a:noFill/>
          <a:ln/>
        </p:spPr>
        <p:txBody>
          <a:bodyPr wrap="square" lIns="0" tIns="0" rIns="0" bIns="0" rtlCol="0" anchor="ctr"/>
          <a:lstStyle/>
          <a:p>
            <a:pPr marL="0" indent="0" algn="ctr">
              <a:buNone/>
            </a:pPr>
            <a:r>
              <a:rPr lang="en-US" sz="1300" b="1" dirty="0">
                <a:solidFill>
                  <a:schemeClr val="bg1"/>
                </a:solidFill>
              </a:rPr>
              <a:t>Future Prediction</a:t>
            </a:r>
            <a:endParaRPr lang="en-US" sz="1300" dirty="0"/>
          </a:p>
        </p:txBody>
      </p:sp>
      <p:sp>
        <p:nvSpPr>
          <p:cNvPr id="25" name="Text 22"/>
          <p:cNvSpPr txBox="1"/>
          <p:nvPr/>
        </p:nvSpPr>
        <p:spPr>
          <a:xfrm>
            <a:off x="548640" y="2560320"/>
            <a:ext cx="11094415" cy="228600"/>
          </a:xfrm>
          <a:prstGeom prst="rect">
            <a:avLst/>
          </a:prstGeom>
          <a:noFill/>
          <a:ln/>
        </p:spPr>
        <p:txBody>
          <a:bodyPr wrap="square" lIns="0" tIns="0" rIns="0" bIns="0" rtlCol="0" anchor="t"/>
          <a:lstStyle/>
          <a:p>
            <a:pPr marL="0" indent="0">
              <a:buNone/>
            </a:pPr>
            <a:r>
              <a:rPr lang="en-US" sz="1100" b="1" kern="0" spc="100" dirty="0">
                <a:solidFill>
                  <a:schemeClr val="accent1"/>
                </a:solidFill>
              </a:rPr>
              <a:t>SAVED FILES PER FORMAT   (.pkl = trained model / feature list  ·  .json = model information)</a:t>
            </a:r>
            <a:endParaRPr lang="en-US" sz="1100" dirty="0"/>
          </a:p>
        </p:txBody>
      </p:sp>
      <p:sp>
        <p:nvSpPr>
          <p:cNvPr id="26" name="Card"/>
          <p:cNvSpPr/>
          <p:nvPr/>
        </p:nvSpPr>
        <p:spPr>
          <a:xfrm>
            <a:off x="548640" y="2880360"/>
            <a:ext cx="5440680" cy="1280160"/>
          </a:xfrm>
          <a:prstGeom prst="roundRect">
            <a:avLst>
              <a:gd name="adj" fmla="val 8571"/>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27" name="Text 24"/>
          <p:cNvSpPr txBox="1"/>
          <p:nvPr/>
        </p:nvSpPr>
        <p:spPr>
          <a:xfrm>
            <a:off x="777240" y="2990088"/>
            <a:ext cx="4937760" cy="320040"/>
          </a:xfrm>
          <a:prstGeom prst="rect">
            <a:avLst/>
          </a:prstGeom>
          <a:noFill/>
          <a:ln/>
        </p:spPr>
        <p:txBody>
          <a:bodyPr wrap="square" lIns="0" tIns="0" rIns="0" bIns="0" rtlCol="0" anchor="t"/>
          <a:lstStyle/>
          <a:p>
            <a:pPr marL="0" indent="0">
              <a:buNone/>
            </a:pPr>
            <a:r>
              <a:rPr lang="en-US" sz="1700" b="1" dirty="0">
                <a:solidFill>
                  <a:schemeClr val="accent1"/>
                </a:solidFill>
                <a:latin typeface="Cambria" pitchFamily="34" charset="0"/>
                <a:ea typeface="Cambria" pitchFamily="34" charset="-122"/>
                <a:cs typeface="Cambria" pitchFamily="34" charset="-120"/>
              </a:rPr>
              <a:t>TEST</a:t>
            </a:r>
            <a:r>
              <a:rPr lang="en-US" sz="1300" dirty="0">
                <a:solidFill>
                  <a:schemeClr val="tx2"/>
                </a:solidFill>
              </a:rPr>
              <a:t>   Logistic Regression</a:t>
            </a:r>
            <a:endParaRPr lang="en-US" sz="1400" dirty="0"/>
          </a:p>
        </p:txBody>
      </p:sp>
      <p:sp>
        <p:nvSpPr>
          <p:cNvPr id="28" name="Text 25"/>
          <p:cNvSpPr txBox="1"/>
          <p:nvPr/>
        </p:nvSpPr>
        <p:spPr>
          <a:xfrm>
            <a:off x="777240" y="3383280"/>
            <a:ext cx="5029200" cy="731520"/>
          </a:xfrm>
          <a:prstGeom prst="rect">
            <a:avLst/>
          </a:prstGeom>
          <a:noFill/>
          <a:ln/>
        </p:spPr>
        <p:txBody>
          <a:bodyPr wrap="square" lIns="0" tIns="0" rIns="0" bIns="0" rtlCol="0" anchor="t"/>
          <a:lstStyle/>
          <a:p>
            <a:pPr marL="0" indent="0">
              <a:spcAft>
                <a:spcPts val="200"/>
              </a:spcAft>
              <a:buNone/>
            </a:pPr>
            <a:r>
              <a:rPr lang="en-US" sz="1150" dirty="0">
                <a:solidFill>
                  <a:schemeClr val="tx1"/>
                </a:solidFill>
                <a:latin typeface="Courier New" pitchFamily="34" charset="0"/>
                <a:ea typeface="Courier New" pitchFamily="34" charset="-122"/>
                <a:cs typeface="Courier New" pitchFamily="34" charset="-120"/>
              </a:rPr>
              <a:t>test_match_outcome_model.pkl</a:t>
            </a:r>
            <a:endParaRPr lang="en-US" sz="1400" dirty="0"/>
          </a:p>
          <a:p>
            <a:pPr marL="0" indent="0">
              <a:spcAft>
                <a:spcPts val="200"/>
              </a:spcAft>
              <a:buNone/>
            </a:pPr>
            <a:r>
              <a:rPr lang="en-US" sz="1150" dirty="0">
                <a:solidFill>
                  <a:schemeClr val="tx1"/>
                </a:solidFill>
                <a:latin typeface="Courier New" pitchFamily="34" charset="0"/>
                <a:ea typeface="Courier New" pitchFamily="34" charset="-122"/>
                <a:cs typeface="Courier New" pitchFamily="34" charset="-120"/>
              </a:rPr>
              <a:t>test_model_features.pkl</a:t>
            </a:r>
            <a:endParaRPr lang="en-US" sz="1400" dirty="0"/>
          </a:p>
          <a:p>
            <a:pPr marL="0" indent="0">
              <a:spcAft>
                <a:spcPts val="200"/>
              </a:spcAft>
              <a:buNone/>
            </a:pPr>
            <a:r>
              <a:rPr lang="en-US" sz="1150" dirty="0">
                <a:solidFill>
                  <a:schemeClr val="tx1"/>
                </a:solidFill>
                <a:latin typeface="Courier New" pitchFamily="34" charset="0"/>
                <a:ea typeface="Courier New" pitchFamily="34" charset="-122"/>
                <a:cs typeface="Courier New" pitchFamily="34" charset="-120"/>
              </a:rPr>
              <a:t>test_model_info.json</a:t>
            </a:r>
            <a:endParaRPr lang="en-US" sz="1400" dirty="0"/>
          </a:p>
        </p:txBody>
      </p:sp>
      <p:sp>
        <p:nvSpPr>
          <p:cNvPr id="29" name="Card"/>
          <p:cNvSpPr/>
          <p:nvPr/>
        </p:nvSpPr>
        <p:spPr>
          <a:xfrm>
            <a:off x="6199632" y="2880360"/>
            <a:ext cx="5440680" cy="1280160"/>
          </a:xfrm>
          <a:prstGeom prst="roundRect">
            <a:avLst>
              <a:gd name="adj" fmla="val 8571"/>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30" name="Text 27"/>
          <p:cNvSpPr txBox="1"/>
          <p:nvPr/>
        </p:nvSpPr>
        <p:spPr>
          <a:xfrm>
            <a:off x="6428232" y="2990088"/>
            <a:ext cx="4937760" cy="320040"/>
          </a:xfrm>
          <a:prstGeom prst="rect">
            <a:avLst/>
          </a:prstGeom>
          <a:noFill/>
          <a:ln/>
        </p:spPr>
        <p:txBody>
          <a:bodyPr wrap="square" lIns="0" tIns="0" rIns="0" bIns="0" rtlCol="0" anchor="t"/>
          <a:lstStyle/>
          <a:p>
            <a:pPr marL="0" indent="0">
              <a:buNone/>
            </a:pPr>
            <a:r>
              <a:rPr lang="en-US" sz="1700" b="1" dirty="0">
                <a:solidFill>
                  <a:schemeClr val="accent1"/>
                </a:solidFill>
                <a:latin typeface="Cambria" pitchFamily="34" charset="0"/>
                <a:ea typeface="Cambria" pitchFamily="34" charset="-122"/>
                <a:cs typeface="Cambria" pitchFamily="34" charset="-120"/>
              </a:rPr>
              <a:t>ODI</a:t>
            </a:r>
            <a:r>
              <a:rPr lang="en-US" sz="1300" dirty="0">
                <a:solidFill>
                  <a:schemeClr val="tx2"/>
                </a:solidFill>
              </a:rPr>
              <a:t>   Random Forest</a:t>
            </a:r>
            <a:endParaRPr lang="en-US" sz="1400" dirty="0"/>
          </a:p>
        </p:txBody>
      </p:sp>
      <p:sp>
        <p:nvSpPr>
          <p:cNvPr id="31" name="Text 28"/>
          <p:cNvSpPr txBox="1"/>
          <p:nvPr/>
        </p:nvSpPr>
        <p:spPr>
          <a:xfrm>
            <a:off x="6428232" y="3383280"/>
            <a:ext cx="5029200" cy="731520"/>
          </a:xfrm>
          <a:prstGeom prst="rect">
            <a:avLst/>
          </a:prstGeom>
          <a:noFill/>
          <a:ln/>
        </p:spPr>
        <p:txBody>
          <a:bodyPr wrap="square" lIns="0" tIns="0" rIns="0" bIns="0" rtlCol="0" anchor="t"/>
          <a:lstStyle/>
          <a:p>
            <a:pPr marL="0" indent="0">
              <a:spcAft>
                <a:spcPts val="200"/>
              </a:spcAft>
              <a:buNone/>
            </a:pPr>
            <a:r>
              <a:rPr lang="en-US" sz="1150" dirty="0">
                <a:solidFill>
                  <a:schemeClr val="tx1"/>
                </a:solidFill>
                <a:latin typeface="Courier New" pitchFamily="34" charset="0"/>
                <a:ea typeface="Courier New" pitchFamily="34" charset="-122"/>
                <a:cs typeface="Courier New" pitchFamily="34" charset="-120"/>
              </a:rPr>
              <a:t>odi_match_outcome_model.pkl</a:t>
            </a:r>
            <a:endParaRPr lang="en-US" sz="1400" dirty="0"/>
          </a:p>
          <a:p>
            <a:pPr marL="0" indent="0">
              <a:spcAft>
                <a:spcPts val="200"/>
              </a:spcAft>
              <a:buNone/>
            </a:pPr>
            <a:r>
              <a:rPr lang="en-US" sz="1150" dirty="0">
                <a:solidFill>
                  <a:schemeClr val="tx1"/>
                </a:solidFill>
                <a:latin typeface="Courier New" pitchFamily="34" charset="0"/>
                <a:ea typeface="Courier New" pitchFamily="34" charset="-122"/>
                <a:cs typeface="Courier New" pitchFamily="34" charset="-120"/>
              </a:rPr>
              <a:t>odi_model_features.pkl</a:t>
            </a:r>
            <a:endParaRPr lang="en-US" sz="1400" dirty="0"/>
          </a:p>
          <a:p>
            <a:pPr marL="0" indent="0">
              <a:spcAft>
                <a:spcPts val="200"/>
              </a:spcAft>
              <a:buNone/>
            </a:pPr>
            <a:r>
              <a:rPr lang="en-US" sz="1150" dirty="0">
                <a:solidFill>
                  <a:schemeClr val="tx1"/>
                </a:solidFill>
                <a:latin typeface="Courier New" pitchFamily="34" charset="0"/>
                <a:ea typeface="Courier New" pitchFamily="34" charset="-122"/>
                <a:cs typeface="Courier New" pitchFamily="34" charset="-120"/>
              </a:rPr>
              <a:t>odi_model_info.json</a:t>
            </a:r>
            <a:endParaRPr lang="en-US" sz="1400" dirty="0"/>
          </a:p>
        </p:txBody>
      </p:sp>
      <p:sp>
        <p:nvSpPr>
          <p:cNvPr id="32" name="Card"/>
          <p:cNvSpPr/>
          <p:nvPr/>
        </p:nvSpPr>
        <p:spPr>
          <a:xfrm>
            <a:off x="548640" y="4297680"/>
            <a:ext cx="5440680" cy="1280160"/>
          </a:xfrm>
          <a:prstGeom prst="roundRect">
            <a:avLst>
              <a:gd name="adj" fmla="val 8571"/>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33" name="Text 30"/>
          <p:cNvSpPr txBox="1"/>
          <p:nvPr/>
        </p:nvSpPr>
        <p:spPr>
          <a:xfrm>
            <a:off x="777240" y="4407408"/>
            <a:ext cx="4937760" cy="320040"/>
          </a:xfrm>
          <a:prstGeom prst="rect">
            <a:avLst/>
          </a:prstGeom>
          <a:noFill/>
          <a:ln/>
        </p:spPr>
        <p:txBody>
          <a:bodyPr wrap="square" lIns="0" tIns="0" rIns="0" bIns="0" rtlCol="0" anchor="t"/>
          <a:lstStyle/>
          <a:p>
            <a:pPr marL="0" indent="0">
              <a:buNone/>
            </a:pPr>
            <a:r>
              <a:rPr lang="en-US" sz="1700" b="1" dirty="0">
                <a:solidFill>
                  <a:schemeClr val="accent1"/>
                </a:solidFill>
                <a:latin typeface="Cambria" pitchFamily="34" charset="0"/>
                <a:ea typeface="Cambria" pitchFamily="34" charset="-122"/>
                <a:cs typeface="Cambria" pitchFamily="34" charset="-120"/>
              </a:rPr>
              <a:t>T20</a:t>
            </a:r>
            <a:r>
              <a:rPr lang="en-US" sz="1300" dirty="0">
                <a:solidFill>
                  <a:schemeClr val="tx2"/>
                </a:solidFill>
              </a:rPr>
              <a:t>   Random Forest</a:t>
            </a:r>
            <a:endParaRPr lang="en-US" sz="1400" dirty="0"/>
          </a:p>
        </p:txBody>
      </p:sp>
      <p:sp>
        <p:nvSpPr>
          <p:cNvPr id="34" name="Text 31"/>
          <p:cNvSpPr txBox="1"/>
          <p:nvPr/>
        </p:nvSpPr>
        <p:spPr>
          <a:xfrm>
            <a:off x="777240" y="4800600"/>
            <a:ext cx="5029200" cy="731520"/>
          </a:xfrm>
          <a:prstGeom prst="rect">
            <a:avLst/>
          </a:prstGeom>
          <a:noFill/>
          <a:ln/>
        </p:spPr>
        <p:txBody>
          <a:bodyPr wrap="square" lIns="0" tIns="0" rIns="0" bIns="0" rtlCol="0" anchor="t"/>
          <a:lstStyle/>
          <a:p>
            <a:pPr marL="0" indent="0">
              <a:spcAft>
                <a:spcPts val="200"/>
              </a:spcAft>
              <a:buNone/>
            </a:pPr>
            <a:r>
              <a:rPr lang="en-US" sz="1150" dirty="0">
                <a:solidFill>
                  <a:schemeClr val="tx1"/>
                </a:solidFill>
                <a:latin typeface="Courier New" pitchFamily="34" charset="0"/>
                <a:ea typeface="Courier New" pitchFamily="34" charset="-122"/>
                <a:cs typeface="Courier New" pitchFamily="34" charset="-120"/>
              </a:rPr>
              <a:t>t20_final_match_outcome_model.pkl</a:t>
            </a:r>
            <a:endParaRPr lang="en-US" sz="1400" dirty="0"/>
          </a:p>
          <a:p>
            <a:pPr marL="0" indent="0">
              <a:spcAft>
                <a:spcPts val="200"/>
              </a:spcAft>
              <a:buNone/>
            </a:pPr>
            <a:r>
              <a:rPr lang="en-US" sz="1150" dirty="0">
                <a:solidFill>
                  <a:schemeClr val="tx1"/>
                </a:solidFill>
                <a:latin typeface="Courier New" pitchFamily="34" charset="0"/>
                <a:ea typeface="Courier New" pitchFamily="34" charset="-122"/>
                <a:cs typeface="Courier New" pitchFamily="34" charset="-120"/>
              </a:rPr>
              <a:t>t20_final_model_features.pkl</a:t>
            </a:r>
            <a:endParaRPr lang="en-US" sz="1400" dirty="0"/>
          </a:p>
          <a:p>
            <a:pPr marL="0" indent="0">
              <a:spcAft>
                <a:spcPts val="200"/>
              </a:spcAft>
              <a:buNone/>
            </a:pPr>
            <a:r>
              <a:rPr lang="en-US" sz="1150" dirty="0">
                <a:solidFill>
                  <a:schemeClr val="tx1"/>
                </a:solidFill>
                <a:latin typeface="Courier New" pitchFamily="34" charset="0"/>
                <a:ea typeface="Courier New" pitchFamily="34" charset="-122"/>
                <a:cs typeface="Courier New" pitchFamily="34" charset="-120"/>
              </a:rPr>
              <a:t>t20_final_model_info.json</a:t>
            </a:r>
            <a:endParaRPr lang="en-US" sz="1400" dirty="0"/>
          </a:p>
        </p:txBody>
      </p:sp>
      <p:sp>
        <p:nvSpPr>
          <p:cNvPr id="35" name="Card"/>
          <p:cNvSpPr/>
          <p:nvPr/>
        </p:nvSpPr>
        <p:spPr>
          <a:xfrm>
            <a:off x="6199632" y="4297680"/>
            <a:ext cx="5440680" cy="1280160"/>
          </a:xfrm>
          <a:prstGeom prst="roundRect">
            <a:avLst>
              <a:gd name="adj" fmla="val 8571"/>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36" name="Text 33"/>
          <p:cNvSpPr txBox="1"/>
          <p:nvPr/>
        </p:nvSpPr>
        <p:spPr>
          <a:xfrm>
            <a:off x="6428232" y="4407408"/>
            <a:ext cx="4937760" cy="320040"/>
          </a:xfrm>
          <a:prstGeom prst="rect">
            <a:avLst/>
          </a:prstGeom>
          <a:noFill/>
          <a:ln/>
        </p:spPr>
        <p:txBody>
          <a:bodyPr wrap="square" lIns="0" tIns="0" rIns="0" bIns="0" rtlCol="0" anchor="t"/>
          <a:lstStyle/>
          <a:p>
            <a:pPr marL="0" indent="0">
              <a:buNone/>
            </a:pPr>
            <a:r>
              <a:rPr lang="en-US" sz="1700" b="1" dirty="0">
                <a:solidFill>
                  <a:schemeClr val="accent1"/>
                </a:solidFill>
                <a:latin typeface="Cambria" pitchFamily="34" charset="0"/>
                <a:ea typeface="Cambria" pitchFamily="34" charset="-122"/>
                <a:cs typeface="Cambria" pitchFamily="34" charset="-120"/>
              </a:rPr>
              <a:t>IPL</a:t>
            </a:r>
            <a:r>
              <a:rPr lang="en-US" sz="1300" dirty="0">
                <a:solidFill>
                  <a:schemeClr val="tx2"/>
                </a:solidFill>
              </a:rPr>
              <a:t>   Random Forest</a:t>
            </a:r>
            <a:endParaRPr lang="en-US" sz="1400" dirty="0"/>
          </a:p>
        </p:txBody>
      </p:sp>
      <p:sp>
        <p:nvSpPr>
          <p:cNvPr id="37" name="Text 34"/>
          <p:cNvSpPr txBox="1"/>
          <p:nvPr/>
        </p:nvSpPr>
        <p:spPr>
          <a:xfrm>
            <a:off x="6428232" y="4800600"/>
            <a:ext cx="5029200" cy="731520"/>
          </a:xfrm>
          <a:prstGeom prst="rect">
            <a:avLst/>
          </a:prstGeom>
          <a:noFill/>
          <a:ln/>
        </p:spPr>
        <p:txBody>
          <a:bodyPr wrap="square" lIns="0" tIns="0" rIns="0" bIns="0" rtlCol="0" anchor="t"/>
          <a:lstStyle/>
          <a:p>
            <a:pPr marL="0" indent="0">
              <a:spcAft>
                <a:spcPts val="200"/>
              </a:spcAft>
              <a:buNone/>
            </a:pPr>
            <a:r>
              <a:rPr lang="en-US" sz="1150" dirty="0">
                <a:solidFill>
                  <a:schemeClr val="tx1"/>
                </a:solidFill>
                <a:latin typeface="Courier New" pitchFamily="34" charset="0"/>
                <a:ea typeface="Courier New" pitchFamily="34" charset="-122"/>
                <a:cs typeface="Courier New" pitchFamily="34" charset="-120"/>
              </a:rPr>
              <a:t>ipl_match_outcome_model.pkl</a:t>
            </a:r>
            <a:endParaRPr lang="en-US" sz="1400" dirty="0"/>
          </a:p>
          <a:p>
            <a:pPr marL="0" indent="0">
              <a:spcAft>
                <a:spcPts val="200"/>
              </a:spcAft>
              <a:buNone/>
            </a:pPr>
            <a:r>
              <a:rPr lang="en-US" sz="1150" dirty="0">
                <a:solidFill>
                  <a:schemeClr val="tx1"/>
                </a:solidFill>
                <a:latin typeface="Courier New" pitchFamily="34" charset="0"/>
                <a:ea typeface="Courier New" pitchFamily="34" charset="-122"/>
                <a:cs typeface="Courier New" pitchFamily="34" charset="-120"/>
              </a:rPr>
              <a:t>ipl_model_features.pkl</a:t>
            </a:r>
            <a:endParaRPr lang="en-US" sz="1400" dirty="0"/>
          </a:p>
          <a:p>
            <a:pPr marL="0" indent="0">
              <a:spcAft>
                <a:spcPts val="200"/>
              </a:spcAft>
              <a:buNone/>
            </a:pPr>
            <a:r>
              <a:rPr lang="en-US" sz="1150" dirty="0">
                <a:solidFill>
                  <a:schemeClr val="tx1"/>
                </a:solidFill>
                <a:latin typeface="Courier New" pitchFamily="34" charset="0"/>
                <a:ea typeface="Courier New" pitchFamily="34" charset="-122"/>
                <a:cs typeface="Courier New" pitchFamily="34" charset="-120"/>
              </a:rPr>
              <a:t>ipl_model_info.json</a:t>
            </a:r>
            <a:endParaRPr lang="en-US" sz="1400" dirty="0"/>
          </a:p>
        </p:txBody>
      </p:sp>
      <p:sp>
        <p:nvSpPr>
          <p:cNvPr id="38" name="Card"/>
          <p:cNvSpPr/>
          <p:nvPr/>
        </p:nvSpPr>
        <p:spPr>
          <a:xfrm>
            <a:off x="548640" y="5852160"/>
            <a:ext cx="11094415" cy="457200"/>
          </a:xfrm>
          <a:prstGeom prst="roundRect">
            <a:avLst>
              <a:gd name="adj" fmla="val 24000"/>
            </a:avLst>
          </a:prstGeom>
          <a:solidFill>
            <a:schemeClr val="accent1"/>
          </a:solidFill>
          <a:ln w="12700">
            <a:solidFill>
              <a:schemeClr val="accent4"/>
            </a:solidFill>
            <a:prstDash val="solid"/>
          </a:ln>
          <a:effectLst>
            <a:outerShdw blurRad="101600" dist="25400" dir="5400000" algn="bl" rotWithShape="0">
              <a:srgbClr val="0B2545">
                <a:alpha val="10000"/>
              </a:srgbClr>
            </a:outerShdw>
          </a:effectLst>
        </p:spPr>
      </p:sp>
      <p:sp>
        <p:nvSpPr>
          <p:cNvPr id="39" name="Text 36"/>
          <p:cNvSpPr txBox="1"/>
          <p:nvPr/>
        </p:nvSpPr>
        <p:spPr>
          <a:xfrm>
            <a:off x="822960" y="5852160"/>
            <a:ext cx="10545775" cy="457200"/>
          </a:xfrm>
          <a:prstGeom prst="rect">
            <a:avLst/>
          </a:prstGeom>
          <a:noFill/>
          <a:ln/>
        </p:spPr>
        <p:txBody>
          <a:bodyPr wrap="square" lIns="0" tIns="0" rIns="0" bIns="0" rtlCol="0" anchor="ctr"/>
          <a:lstStyle/>
          <a:p>
            <a:pPr marL="0" indent="0" algn="ctr">
              <a:buNone/>
            </a:pPr>
            <a:r>
              <a:rPr lang="en-US" sz="1500" b="1" dirty="0">
                <a:solidFill>
                  <a:schemeClr val="bg1"/>
                </a:solidFill>
              </a:rPr>
              <a:t>Train once, save the model, and reuse it for every future prediction — no retraining needed.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8595360" y="-1280160"/>
            <a:ext cx="5303520" cy="5303520"/>
          </a:xfrm>
          <a:prstGeom prst="ellipse">
            <a:avLst/>
          </a:prstGeom>
          <a:solidFill>
            <a:schemeClr val="accent2"/>
          </a:solidFill>
          <a:ln w="12700">
            <a:solidFill>
              <a:schemeClr val="accent2"/>
            </a:solidFill>
            <a:prstDash val="solid"/>
          </a:ln>
        </p:spPr>
      </p:sp>
      <p:sp>
        <p:nvSpPr>
          <p:cNvPr id="3" name="Shape 1"/>
          <p:cNvSpPr/>
          <p:nvPr/>
        </p:nvSpPr>
        <p:spPr>
          <a:xfrm>
            <a:off x="10332720" y="2103120"/>
            <a:ext cx="3291840" cy="3291840"/>
          </a:xfrm>
          <a:prstGeom prst="ellipse">
            <a:avLst/>
          </a:prstGeom>
          <a:solidFill>
            <a:schemeClr val="accent1"/>
          </a:solidFill>
          <a:ln w="12700">
            <a:solidFill>
              <a:schemeClr val="accent1"/>
            </a:solidFill>
            <a:prstDash val="solid"/>
          </a:ln>
        </p:spPr>
      </p:sp>
      <p:sp>
        <p:nvSpPr>
          <p:cNvPr id="5" name="Text 2"/>
          <p:cNvSpPr txBox="1"/>
          <p:nvPr/>
        </p:nvSpPr>
        <p:spPr>
          <a:xfrm>
            <a:off x="1786890" y="2880360"/>
            <a:ext cx="7315200" cy="914400"/>
          </a:xfrm>
          <a:prstGeom prst="rect">
            <a:avLst/>
          </a:prstGeom>
          <a:noFill/>
          <a:ln/>
        </p:spPr>
        <p:txBody>
          <a:bodyPr wrap="square" lIns="0" tIns="0" rIns="0" bIns="0" rtlCol="0" anchor="ctr"/>
          <a:lstStyle/>
          <a:p>
            <a:pPr marL="0" indent="0">
              <a:buNone/>
            </a:pPr>
            <a:r>
              <a:rPr lang="en-US" sz="5400" b="1" dirty="0">
                <a:solidFill>
                  <a:schemeClr val="tx1"/>
                </a:solidFill>
                <a:latin typeface="Cambria" pitchFamily="34" charset="0"/>
                <a:ea typeface="Cambria" pitchFamily="34" charset="-122"/>
                <a:cs typeface="Cambria" pitchFamily="34" charset="-120"/>
              </a:rPr>
              <a:t>Thank You</a:t>
            </a:r>
            <a:endParaRPr lang="en-US" sz="5400" dirty="0"/>
          </a:p>
        </p:txBody>
      </p:sp>
      <p:sp>
        <p:nvSpPr>
          <p:cNvPr id="6" name="Shape 3"/>
          <p:cNvSpPr/>
          <p:nvPr/>
        </p:nvSpPr>
        <p:spPr>
          <a:xfrm>
            <a:off x="1786890" y="3886200"/>
            <a:ext cx="640080" cy="45720"/>
          </a:xfrm>
          <a:prstGeom prst="rect">
            <a:avLst/>
          </a:prstGeom>
          <a:solidFill>
            <a:schemeClr val="accent2"/>
          </a:solidFill>
          <a:ln w="12700">
            <a:solidFill>
              <a:schemeClr val="accent2"/>
            </a:solidFill>
            <a:prstDash val="solid"/>
          </a:ln>
        </p:spPr>
      </p:sp>
      <p:sp>
        <p:nvSpPr>
          <p:cNvPr id="7" name="Text 4"/>
          <p:cNvSpPr txBox="1"/>
          <p:nvPr/>
        </p:nvSpPr>
        <p:spPr>
          <a:xfrm>
            <a:off x="1786890" y="4114800"/>
            <a:ext cx="7498080" cy="731520"/>
          </a:xfrm>
          <a:prstGeom prst="rect">
            <a:avLst/>
          </a:prstGeom>
          <a:noFill/>
          <a:ln/>
        </p:spPr>
        <p:txBody>
          <a:bodyPr wrap="square" lIns="0" tIns="0" rIns="0" bIns="0" rtlCol="0" anchor="t"/>
          <a:lstStyle/>
          <a:p>
            <a:pPr marL="0" indent="0">
              <a:buNone/>
            </a:pPr>
            <a:r>
              <a:rPr lang="en-US" sz="2000" dirty="0">
                <a:solidFill>
                  <a:schemeClr val="tx2"/>
                </a:solidFill>
              </a:rPr>
              <a:t>Match Outcome Prediction Using Logistic Regression and Random Forest</a:t>
            </a:r>
            <a:endParaRPr lang="en-US" sz="2000" dirty="0"/>
          </a:p>
        </p:txBody>
      </p:sp>
      <p:pic>
        <p:nvPicPr>
          <p:cNvPr id="16" name="Image 0" descr="KLH University logo">
            <a:extLst>
              <a:ext uri="{FF2B5EF4-FFF2-40B4-BE49-F238E27FC236}">
                <a16:creationId xmlns:a16="http://schemas.microsoft.com/office/drawing/2014/main" id="{3902245B-5490-1379-9A97-7D145F4F5C51}"/>
              </a:ext>
            </a:extLst>
          </p:cNvPr>
          <p:cNvPicPr>
            <a:picLocks noChangeAspect="1"/>
          </p:cNvPicPr>
          <p:nvPr/>
        </p:nvPicPr>
        <p:blipFill>
          <a:blip r:embed="rId3"/>
          <a:stretch>
            <a:fillRect/>
          </a:stretch>
        </p:blipFill>
        <p:spPr>
          <a:xfrm>
            <a:off x="182534" y="-38717"/>
            <a:ext cx="2194906" cy="1631913"/>
          </a:xfrm>
          <a:prstGeom prst="rect">
            <a:avLst/>
          </a:prstGeom>
        </p:spPr>
      </p:pic>
    </p:spTree>
  </p:cSld>
  <p:clrMapOvr>
    <a:masterClrMapping/>
  </p:clrMapOvr>
</p:sld>
</file>

<file path=ppt/theme/theme1.xml><?xml version="1.0" encoding="utf-8"?>
<a:theme xmlns:a="http://schemas.openxmlformats.org/drawingml/2006/main" name="CricVision">
  <a:themeElements>
    <a:clrScheme name="CricVision">
      <a:dk1>
        <a:srgbClr val="0B2545"/>
      </a:dk1>
      <a:lt1>
        <a:srgbClr val="FFFFFF"/>
      </a:lt1>
      <a:dk2>
        <a:srgbClr val="475569"/>
      </a:dk2>
      <a:lt2>
        <a:srgbClr val="F3F9FC"/>
      </a:lt2>
      <a:accent1>
        <a:srgbClr val="0E7490"/>
      </a:accent1>
      <a:accent2>
        <a:srgbClr val="22C3E6"/>
      </a:accent2>
      <a:accent3>
        <a:srgbClr val="2563EB"/>
      </a:accent3>
      <a:accent4>
        <a:srgbClr val="D5E8F0"/>
      </a:accent4>
      <a:accent5>
        <a:srgbClr val="0F2236"/>
      </a:accent5>
      <a:accent6>
        <a:srgbClr val="94A3B8"/>
      </a:accent6>
      <a:hlink>
        <a:srgbClr val="0E7490"/>
      </a:hlink>
      <a:folHlink>
        <a:srgbClr val="475569"/>
      </a:folHlink>
    </a:clrScheme>
    <a:fontScheme name="CricVis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2072</Words>
  <Application>Microsoft Office PowerPoint</Application>
  <PresentationFormat>Widescreen</PresentationFormat>
  <Paragraphs>330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Cambria</vt:lpstr>
      <vt:lpstr>Courier New</vt:lpstr>
      <vt:lpstr>CricVision</vt:lpstr>
      <vt:lpstr>PowerPoint Presentation</vt:lpstr>
      <vt:lpstr>Problem Definition</vt:lpstr>
      <vt:lpstr>Dataset Collection</vt:lpstr>
      <vt:lpstr>Data Understanding</vt:lpstr>
      <vt:lpstr>Data Preprocessing</vt:lpstr>
      <vt:lpstr>Exploratory Data Analysis</vt:lpstr>
      <vt:lpstr>Feature Engineering</vt:lpstr>
      <vt:lpstr>Train-Test Split</vt:lpstr>
      <vt:lpstr>Machine Learning Models</vt:lpstr>
      <vt:lpstr>Model Evaluation</vt:lpstr>
      <vt:lpstr>Save the Final Model</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CricVision - Match Outcome Prediction</dc:title>
  <dc:subject>PptxGenJS Presentation</dc:subject>
  <dc:creator>Venkata Sai Krishna, Ajai Manikanta</dc:creator>
  <cp:lastModifiedBy>Venkat Sai Krishna</cp:lastModifiedBy>
  <cp:revision>8</cp:revision>
  <dcterms:created xsi:type="dcterms:W3CDTF">2026-10-04T11:51:15Z</dcterms:created>
  <dcterms:modified xsi:type="dcterms:W3CDTF">2026-10-04T13:01:21Z</dcterms:modified>
</cp:coreProperties>
</file>